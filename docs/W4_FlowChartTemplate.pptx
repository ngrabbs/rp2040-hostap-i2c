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13"/>
  </p:notesMasterIdLst>
  <p:sldIdLst>
    <p:sldId id="257" r:id="rId2"/>
    <p:sldId id="332" r:id="rId3"/>
    <p:sldId id="263" r:id="rId4"/>
    <p:sldId id="345" r:id="rId5"/>
    <p:sldId id="346" r:id="rId6"/>
    <p:sldId id="334" r:id="rId7"/>
    <p:sldId id="335" r:id="rId8"/>
    <p:sldId id="336" r:id="rId9"/>
    <p:sldId id="344" r:id="rId10"/>
    <p:sldId id="348" r:id="rId11"/>
    <p:sldId id="34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267E"/>
    <a:srgbClr val="E4DFFD"/>
    <a:srgbClr val="795CF1"/>
    <a:srgbClr val="FFB100"/>
    <a:srgbClr val="FFF0D5"/>
    <a:srgbClr val="FAD7E6"/>
    <a:srgbClr val="648FFF"/>
    <a:srgbClr val="648E48"/>
    <a:srgbClr val="FF6100"/>
    <a:srgbClr val="FFE0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16"/>
    <p:restoredTop sz="94674"/>
  </p:normalViewPr>
  <p:slideViewPr>
    <p:cSldViewPr snapToGrid="0">
      <p:cViewPr>
        <p:scale>
          <a:sx n="91" d="100"/>
          <a:sy n="91" d="100"/>
        </p:scale>
        <p:origin x="312"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customXml" Target="../customXml/item1.xml"/><Relationship Id="rId19" Type="http://schemas.openxmlformats.org/officeDocument/2006/relationships/customXml" Target="../customXml/item2.xml"/><Relationship Id="rId2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4AB1A-7F81-7449-8F31-90AC4C3A4331}"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9EA18-149D-4844-B5D9-D400AE847FE7}" type="slidenum">
              <a:rPr lang="en-US" smtClean="0"/>
              <a:t>‹#›</a:t>
            </a:fld>
            <a:endParaRPr lang="en-US"/>
          </a:p>
        </p:txBody>
      </p:sp>
    </p:spTree>
    <p:extLst>
      <p:ext uri="{BB962C8B-B14F-4D97-AF65-F5344CB8AC3E}">
        <p14:creationId xmlns:p14="http://schemas.microsoft.com/office/powerpoint/2010/main" val="1791885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EA18-149D-4844-B5D9-D400AE847FE7}" type="slidenum">
              <a:rPr lang="en-US" smtClean="0"/>
              <a:t>7</a:t>
            </a:fld>
            <a:endParaRPr lang="en-US"/>
          </a:p>
        </p:txBody>
      </p:sp>
    </p:spTree>
    <p:extLst>
      <p:ext uri="{BB962C8B-B14F-4D97-AF65-F5344CB8AC3E}">
        <p14:creationId xmlns:p14="http://schemas.microsoft.com/office/powerpoint/2010/main" val="2494998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69EA18-149D-4844-B5D9-D400AE847FE7}" type="slidenum">
              <a:rPr lang="en-US" smtClean="0"/>
              <a:t>8</a:t>
            </a:fld>
            <a:endParaRPr lang="en-US"/>
          </a:p>
        </p:txBody>
      </p:sp>
    </p:spTree>
    <p:extLst>
      <p:ext uri="{BB962C8B-B14F-4D97-AF65-F5344CB8AC3E}">
        <p14:creationId xmlns:p14="http://schemas.microsoft.com/office/powerpoint/2010/main" val="121613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4129B-AE6D-AC65-5F16-BE2A227E97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FE4670-F8F1-9F70-373F-33C43F92C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B13868-6486-B95E-E064-153444848597}"/>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5" name="Footer Placeholder 4">
            <a:extLst>
              <a:ext uri="{FF2B5EF4-FFF2-40B4-BE49-F238E27FC236}">
                <a16:creationId xmlns:a16="http://schemas.microsoft.com/office/drawing/2014/main" id="{42B0A4A9-D755-DA01-1E10-AD9784EA0A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C5F2DBC-2711-E268-576A-7C9020606AD6}"/>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3553903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1A54F-7EC5-248C-FDA2-F707CF8339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14DF6E-3FFF-7A92-D186-A1E0893FE0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F1E98A-F3B2-065B-48E5-CF435881A470}"/>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5" name="Footer Placeholder 4">
            <a:extLst>
              <a:ext uri="{FF2B5EF4-FFF2-40B4-BE49-F238E27FC236}">
                <a16:creationId xmlns:a16="http://schemas.microsoft.com/office/drawing/2014/main" id="{9704F81B-1EA5-2906-244A-456F69FE471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D80D668-D795-D224-106A-7E79FB0A5CEA}"/>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3182030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85332-18E7-0900-3F25-7D70DF9CB9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242FA4-B16D-EC9A-BFF0-D5716127DC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F473FE-037A-ADCE-10F6-15964E52B985}"/>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5" name="Footer Placeholder 4">
            <a:extLst>
              <a:ext uri="{FF2B5EF4-FFF2-40B4-BE49-F238E27FC236}">
                <a16:creationId xmlns:a16="http://schemas.microsoft.com/office/drawing/2014/main" id="{C8C76606-2019-0A30-2F13-E765AAED72D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CAC2396-F882-3731-F77F-D2CCD7989C32}"/>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2365722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47239-A93B-AFC2-B513-9281CEDC2A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C806F2-3264-6D1E-E0F3-6D26B557A1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725527-E463-44C5-1EA2-BD7587FEAF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F4294F-81CD-044B-6551-DE8EAFD4BAC8}"/>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6" name="Footer Placeholder 5">
            <a:extLst>
              <a:ext uri="{FF2B5EF4-FFF2-40B4-BE49-F238E27FC236}">
                <a16:creationId xmlns:a16="http://schemas.microsoft.com/office/drawing/2014/main" id="{7FC315E1-AF47-5A26-CF37-9573E39307A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DDAE48-8A28-932C-699F-A897DAEF07D1}"/>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2401601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B237-2111-011B-1D36-BDC02DC2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30A82B-53C1-1FE0-6C0C-70E155CB05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4BC566-05D2-8501-6B52-CCF13ED684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1A237B-EF5B-E248-5932-DF9AE93E39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019611-A525-6C64-12AF-72562FBD55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E7F44A-C281-5497-092C-075C20228D55}"/>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8" name="Footer Placeholder 7">
            <a:extLst>
              <a:ext uri="{FF2B5EF4-FFF2-40B4-BE49-F238E27FC236}">
                <a16:creationId xmlns:a16="http://schemas.microsoft.com/office/drawing/2014/main" id="{EC09E86E-648B-CCF9-077D-44B37DE5D8B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D392EB5-7F03-1DAC-20B9-6F24F459F5CB}"/>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2523686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73C03-7B75-68EF-DA24-DAC79212E4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D75036-A28F-6FB1-5D08-9987E31DAC9D}"/>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4" name="Footer Placeholder 3">
            <a:extLst>
              <a:ext uri="{FF2B5EF4-FFF2-40B4-BE49-F238E27FC236}">
                <a16:creationId xmlns:a16="http://schemas.microsoft.com/office/drawing/2014/main" id="{51FC2380-1C16-B51D-8E58-F1E251DAE50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5632A87-EFFC-7AA7-5C2F-1755357597B6}"/>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1531775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AD09A9-561C-DF65-9C9A-3980A71569CF}"/>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3" name="Footer Placeholder 2">
            <a:extLst>
              <a:ext uri="{FF2B5EF4-FFF2-40B4-BE49-F238E27FC236}">
                <a16:creationId xmlns:a16="http://schemas.microsoft.com/office/drawing/2014/main" id="{308FB0B5-B6D6-FF60-91D3-EB7983EF322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71C0A8E-45AB-EEE3-9C7E-6A4B3F99F2D8}"/>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949037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C3F1-B5C3-7099-C526-5D1DAE987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909DC1-4DF4-5D53-B278-1C1470341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AC8C9B-CC04-048E-1BB9-9406E9E3F4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C1EEC4-4D81-C9AB-9C9F-9BA244F3620E}"/>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6" name="Footer Placeholder 5">
            <a:extLst>
              <a:ext uri="{FF2B5EF4-FFF2-40B4-BE49-F238E27FC236}">
                <a16:creationId xmlns:a16="http://schemas.microsoft.com/office/drawing/2014/main" id="{C74B3293-C545-466A-EC11-F0E43E6CDD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2F8F7A5-5C58-CAEC-394D-E80F5671BE62}"/>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953789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B9D35-03B3-7A06-28D8-67C48EC2B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FEC5F2-5638-1B92-8DF8-6C90ECB9AE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8034BC-F188-DE8F-1D26-FE0E94321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4E8B7B-C6B1-CD50-6C2E-B6E00ACAD644}"/>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6" name="Footer Placeholder 5">
            <a:extLst>
              <a:ext uri="{FF2B5EF4-FFF2-40B4-BE49-F238E27FC236}">
                <a16:creationId xmlns:a16="http://schemas.microsoft.com/office/drawing/2014/main" id="{B1CC2318-14C5-6C4F-9EA0-DC29C9F7A4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A8DA42-3E20-A8DB-57A9-5D62CA93F6EE}"/>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2404787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F8119-838B-8096-EEB6-9367BFD9F4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FE0E31-3B6C-8363-9046-E8777BBB28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8A9D28-0C22-9591-8D45-42DD875B97E4}"/>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5" name="Footer Placeholder 4">
            <a:extLst>
              <a:ext uri="{FF2B5EF4-FFF2-40B4-BE49-F238E27FC236}">
                <a16:creationId xmlns:a16="http://schemas.microsoft.com/office/drawing/2014/main" id="{6A1DE674-8C05-85C2-DDEE-9CA7840ED94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C305F86-6BCD-2397-A2D5-CCE4A661A1A0}"/>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1220742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5042D0-5936-52CA-C6A2-6034006DE2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0B90BE-331E-0608-69D0-5CE15B7B57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28A332-8264-622C-0AD5-B2A5C5D28D94}"/>
              </a:ext>
            </a:extLst>
          </p:cNvPr>
          <p:cNvSpPr>
            <a:spLocks noGrp="1"/>
          </p:cNvSpPr>
          <p:nvPr>
            <p:ph type="dt" sz="half" idx="10"/>
          </p:nvPr>
        </p:nvSpPr>
        <p:spPr/>
        <p:txBody>
          <a:bodyPr/>
          <a:lstStyle/>
          <a:p>
            <a:fld id="{22520DA6-77AA-C24B-954B-2DDDCFDE0D14}" type="datetimeFigureOut">
              <a:rPr lang="en-US" smtClean="0"/>
              <a:t>2/23/26</a:t>
            </a:fld>
            <a:endParaRPr lang="en-US" dirty="0"/>
          </a:p>
        </p:txBody>
      </p:sp>
      <p:sp>
        <p:nvSpPr>
          <p:cNvPr id="5" name="Footer Placeholder 4">
            <a:extLst>
              <a:ext uri="{FF2B5EF4-FFF2-40B4-BE49-F238E27FC236}">
                <a16:creationId xmlns:a16="http://schemas.microsoft.com/office/drawing/2014/main" id="{00B55F7F-9235-A062-06F9-105C1AE2C4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325902-96B6-1AF7-DBE1-444D32D943C6}"/>
              </a:ext>
            </a:extLst>
          </p:cNvPr>
          <p:cNvSpPr>
            <a:spLocks noGrp="1"/>
          </p:cNvSpPr>
          <p:nvPr>
            <p:ph type="sldNum" sz="quarter" idx="12"/>
          </p:nvPr>
        </p:nvSpPr>
        <p:spPr/>
        <p:txBody>
          <a:bodyPr/>
          <a:lstStyle/>
          <a:p>
            <a:fld id="{D557CE3D-47A8-6A4E-9B8D-5F423824D4D2}" type="slidenum">
              <a:rPr lang="en-US" smtClean="0"/>
              <a:t>‹#›</a:t>
            </a:fld>
            <a:endParaRPr lang="en-US" dirty="0"/>
          </a:p>
        </p:txBody>
      </p:sp>
    </p:spTree>
    <p:extLst>
      <p:ext uri="{BB962C8B-B14F-4D97-AF65-F5344CB8AC3E}">
        <p14:creationId xmlns:p14="http://schemas.microsoft.com/office/powerpoint/2010/main" val="362683066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8D194-5ECD-2E8A-DF2A-248696973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931DF4-64B1-369E-4120-3797BF493A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790BD-A091-8388-87D0-37EE6F0343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20DA6-77AA-C24B-954B-2DDDCFDE0D14}" type="datetimeFigureOut">
              <a:rPr lang="en-US" smtClean="0"/>
              <a:t>2/23/26</a:t>
            </a:fld>
            <a:endParaRPr lang="en-US" dirty="0"/>
          </a:p>
        </p:txBody>
      </p:sp>
      <p:sp>
        <p:nvSpPr>
          <p:cNvPr id="5" name="Footer Placeholder 4">
            <a:extLst>
              <a:ext uri="{FF2B5EF4-FFF2-40B4-BE49-F238E27FC236}">
                <a16:creationId xmlns:a16="http://schemas.microsoft.com/office/drawing/2014/main" id="{C4A073D3-5F8F-D54F-C48E-EECED80910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FA11E0-EC48-73CA-0BB4-AA73ED126D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57CE3D-47A8-6A4E-9B8D-5F423824D4D2}" type="slidenum">
              <a:rPr lang="en-US" smtClean="0"/>
              <a:t>‹#›</a:t>
            </a:fld>
            <a:endParaRPr lang="en-US" dirty="0"/>
          </a:p>
        </p:txBody>
      </p:sp>
    </p:spTree>
    <p:extLst>
      <p:ext uri="{BB962C8B-B14F-4D97-AF65-F5344CB8AC3E}">
        <p14:creationId xmlns:p14="http://schemas.microsoft.com/office/powerpoint/2010/main" val="279208390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arduino.cc/reference/cs/language/structure/control-structure/i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arduino.cc/reference/cs/language/structure/control-structure/els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www.arduino.cc/reference/cs/language/structure/control-structure/whil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25D9D-A5EF-85EC-14AC-8D10207802AE}"/>
              </a:ext>
            </a:extLst>
          </p:cNvPr>
          <p:cNvSpPr>
            <a:spLocks noGrp="1"/>
          </p:cNvSpPr>
          <p:nvPr>
            <p:ph type="ctrTitle"/>
          </p:nvPr>
        </p:nvSpPr>
        <p:spPr>
          <a:xfrm>
            <a:off x="785308" y="2404534"/>
            <a:ext cx="8959941" cy="1646302"/>
          </a:xfrm>
        </p:spPr>
        <p:txBody>
          <a:bodyPr/>
          <a:lstStyle/>
          <a:p>
            <a:pPr algn="l"/>
            <a:r>
              <a:rPr lang="en-US" dirty="0"/>
              <a:t>Flowchart Template </a:t>
            </a:r>
          </a:p>
        </p:txBody>
      </p:sp>
      <p:sp>
        <p:nvSpPr>
          <p:cNvPr id="3" name="Subtitle 2">
            <a:extLst>
              <a:ext uri="{FF2B5EF4-FFF2-40B4-BE49-F238E27FC236}">
                <a16:creationId xmlns:a16="http://schemas.microsoft.com/office/drawing/2014/main" id="{2DFB8C07-1B34-840B-E1EC-7787F8DD84DE}"/>
              </a:ext>
            </a:extLst>
          </p:cNvPr>
          <p:cNvSpPr>
            <a:spLocks noGrp="1"/>
          </p:cNvSpPr>
          <p:nvPr>
            <p:ph type="subTitle" idx="1"/>
          </p:nvPr>
        </p:nvSpPr>
        <p:spPr>
          <a:xfrm>
            <a:off x="859516" y="4056797"/>
            <a:ext cx="7766936" cy="1096899"/>
          </a:xfrm>
        </p:spPr>
        <p:txBody>
          <a:bodyPr/>
          <a:lstStyle/>
          <a:p>
            <a:pPr algn="l"/>
            <a:r>
              <a:rPr lang="en-US" dirty="0"/>
              <a:t>(for program code)</a:t>
            </a:r>
          </a:p>
        </p:txBody>
      </p:sp>
      <p:sp>
        <p:nvSpPr>
          <p:cNvPr id="12" name="Rectangle 11">
            <a:extLst>
              <a:ext uri="{FF2B5EF4-FFF2-40B4-BE49-F238E27FC236}">
                <a16:creationId xmlns:a16="http://schemas.microsoft.com/office/drawing/2014/main" id="{9E81D039-F643-0DD1-734C-3CF1BF039F15}"/>
              </a:ext>
            </a:extLst>
          </p:cNvPr>
          <p:cNvSpPr/>
          <p:nvPr/>
        </p:nvSpPr>
        <p:spPr>
          <a:xfrm>
            <a:off x="102296" y="250521"/>
            <a:ext cx="11987408" cy="125260"/>
          </a:xfrm>
          <a:prstGeom prst="rect">
            <a:avLst/>
          </a:prstGeom>
          <a:solidFill>
            <a:srgbClr val="5F232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54EE7904-4E95-6932-4B55-188ED5E567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4389" y="112214"/>
            <a:ext cx="4783222" cy="401873"/>
          </a:xfrm>
          <a:prstGeom prst="rect">
            <a:avLst/>
          </a:prstGeom>
          <a:ln w="57150">
            <a:solidFill>
              <a:schemeClr val="bg1"/>
            </a:solidFill>
          </a:ln>
        </p:spPr>
      </p:pic>
    </p:spTree>
    <p:extLst>
      <p:ext uri="{BB962C8B-B14F-4D97-AF65-F5344CB8AC3E}">
        <p14:creationId xmlns:p14="http://schemas.microsoft.com/office/powerpoint/2010/main" val="2712587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81B4CE3-DA02-B361-6FE9-8FF5CA93448D}"/>
              </a:ext>
            </a:extLst>
          </p:cNvPr>
          <p:cNvGrpSpPr/>
          <p:nvPr/>
        </p:nvGrpSpPr>
        <p:grpSpPr>
          <a:xfrm>
            <a:off x="0" y="0"/>
            <a:ext cx="12192000" cy="6858000"/>
            <a:chOff x="0" y="-12526"/>
            <a:chExt cx="12192000" cy="6858000"/>
          </a:xfrm>
          <a:effectLst/>
        </p:grpSpPr>
        <p:grpSp>
          <p:nvGrpSpPr>
            <p:cNvPr id="9" name="Group 8">
              <a:extLst>
                <a:ext uri="{FF2B5EF4-FFF2-40B4-BE49-F238E27FC236}">
                  <a16:creationId xmlns:a16="http://schemas.microsoft.com/office/drawing/2014/main" id="{4AE95571-D748-2B05-9C5E-0547612AA98F}"/>
                </a:ext>
              </a:extLst>
            </p:cNvPr>
            <p:cNvGrpSpPr/>
            <p:nvPr/>
          </p:nvGrpSpPr>
          <p:grpSpPr>
            <a:xfrm>
              <a:off x="0" y="-12526"/>
              <a:ext cx="12192000" cy="6858000"/>
              <a:chOff x="0" y="-12526"/>
              <a:chExt cx="12192000" cy="6858000"/>
            </a:xfrm>
          </p:grpSpPr>
          <p:sp>
            <p:nvSpPr>
              <p:cNvPr id="13" name="Triangle 12">
                <a:extLst>
                  <a:ext uri="{FF2B5EF4-FFF2-40B4-BE49-F238E27FC236}">
                    <a16:creationId xmlns:a16="http://schemas.microsoft.com/office/drawing/2014/main" id="{090A4143-A740-3C28-6EE3-A779E46A96C0}"/>
                  </a:ext>
                </a:extLst>
              </p:cNvPr>
              <p:cNvSpPr/>
              <p:nvPr/>
            </p:nvSpPr>
            <p:spPr>
              <a:xfrm rot="10800000" flipH="1">
                <a:off x="1" y="-4"/>
                <a:ext cx="575037" cy="3569922"/>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riangle 13">
                <a:extLst>
                  <a:ext uri="{FF2B5EF4-FFF2-40B4-BE49-F238E27FC236}">
                    <a16:creationId xmlns:a16="http://schemas.microsoft.com/office/drawing/2014/main" id="{86D12F55-21B9-42EB-C9C5-806DFEDAED4E}"/>
                  </a:ext>
                </a:extLst>
              </p:cNvPr>
              <p:cNvSpPr/>
              <p:nvPr/>
            </p:nvSpPr>
            <p:spPr>
              <a:xfrm rot="10800000" flipH="1">
                <a:off x="1" y="0"/>
                <a:ext cx="225468" cy="2868460"/>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663B6BA-C74F-1A0E-BB81-3AC167B22FC9}"/>
                  </a:ext>
                </a:extLst>
              </p:cNvPr>
              <p:cNvSpPr/>
              <p:nvPr/>
            </p:nvSpPr>
            <p:spPr>
              <a:xfrm>
                <a:off x="0" y="-12526"/>
                <a:ext cx="12192000" cy="6858000"/>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9">
              <a:extLst>
                <a:ext uri="{FF2B5EF4-FFF2-40B4-BE49-F238E27FC236}">
                  <a16:creationId xmlns:a16="http://schemas.microsoft.com/office/drawing/2014/main" id="{70FA25DF-2E1B-9DA9-D865-331718D0BC32}"/>
                </a:ext>
              </a:extLst>
            </p:cNvPr>
            <p:cNvSpPr/>
            <p:nvPr/>
          </p:nvSpPr>
          <p:spPr>
            <a:xfrm>
              <a:off x="102296" y="250521"/>
              <a:ext cx="11987408" cy="125260"/>
            </a:xfrm>
            <a:prstGeom prst="rect">
              <a:avLst/>
            </a:prstGeom>
            <a:solidFill>
              <a:srgbClr val="5F232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002362BB-BAB8-AC08-2111-68C9A1C641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4389" y="112214"/>
              <a:ext cx="4783222" cy="401873"/>
            </a:xfrm>
            <a:prstGeom prst="rect">
              <a:avLst/>
            </a:prstGeom>
            <a:ln w="57150">
              <a:solidFill>
                <a:schemeClr val="bg1"/>
              </a:solidFill>
            </a:ln>
          </p:spPr>
        </p:pic>
        <p:sp>
          <p:nvSpPr>
            <p:cNvPr id="12" name="Rectangle 11">
              <a:extLst>
                <a:ext uri="{FF2B5EF4-FFF2-40B4-BE49-F238E27FC236}">
                  <a16:creationId xmlns:a16="http://schemas.microsoft.com/office/drawing/2014/main" id="{3589DE99-E6FD-CF76-9EB0-A709CEF1CE3F}"/>
                </a:ext>
              </a:extLst>
            </p:cNvPr>
            <p:cNvSpPr/>
            <p:nvPr/>
          </p:nvSpPr>
          <p:spPr>
            <a:xfrm>
              <a:off x="0" y="12526"/>
              <a:ext cx="12192000" cy="681740"/>
            </a:xfrm>
            <a:prstGeom prst="rect">
              <a:avLst/>
            </a:prstGeom>
            <a:gradFill flip="none" rotWithShape="1">
              <a:gsLst>
                <a:gs pos="100000">
                  <a:schemeClr val="bg1">
                    <a:alpha val="30000"/>
                  </a:schemeClr>
                </a:gs>
                <a:gs pos="0">
                  <a:schemeClr val="accent1">
                    <a:lumMod val="5000"/>
                    <a:lumOff val="95000"/>
                    <a:alpha val="0"/>
                  </a:schemeClr>
                </a:gs>
                <a:gs pos="23000">
                  <a:schemeClr val="bg1">
                    <a:alpha val="17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7" name="Rectangle 56">
            <a:extLst>
              <a:ext uri="{FF2B5EF4-FFF2-40B4-BE49-F238E27FC236}">
                <a16:creationId xmlns:a16="http://schemas.microsoft.com/office/drawing/2014/main" id="{AB1BD67F-7E38-AC30-FCA3-8F2A9145A047}"/>
              </a:ext>
            </a:extLst>
          </p:cNvPr>
          <p:cNvSpPr/>
          <p:nvPr/>
        </p:nvSpPr>
        <p:spPr>
          <a:xfrm>
            <a:off x="0" y="0"/>
            <a:ext cx="12192000" cy="6858000"/>
          </a:xfrm>
          <a:prstGeom prst="rect">
            <a:avLst/>
          </a:prstGeom>
          <a:solidFill>
            <a:schemeClr val="bg1">
              <a:alpha val="65098"/>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022E73-A6AD-E198-C7D6-C2CAEBB9F0CC}"/>
              </a:ext>
            </a:extLst>
          </p:cNvPr>
          <p:cNvSpPr>
            <a:spLocks noGrp="1"/>
          </p:cNvSpPr>
          <p:nvPr>
            <p:ph type="title"/>
          </p:nvPr>
        </p:nvSpPr>
        <p:spPr>
          <a:xfrm>
            <a:off x="838200" y="806086"/>
            <a:ext cx="10515600" cy="871642"/>
          </a:xfrm>
          <a:effectLst/>
        </p:spPr>
        <p:txBody>
          <a:bodyPr>
            <a:normAutofit/>
          </a:bodyPr>
          <a:lstStyle/>
          <a:p>
            <a:r>
              <a:rPr lang="en-US" sz="4000" dirty="0"/>
              <a:t>Copy and Past these symbols for your Flowcharts</a:t>
            </a:r>
          </a:p>
        </p:txBody>
      </p:sp>
      <p:sp>
        <p:nvSpPr>
          <p:cNvPr id="4" name="TextBox 3">
            <a:extLst>
              <a:ext uri="{FF2B5EF4-FFF2-40B4-BE49-F238E27FC236}">
                <a16:creationId xmlns:a16="http://schemas.microsoft.com/office/drawing/2014/main" id="{1E683BC6-AAFC-1F49-A4E2-21775704D049}"/>
              </a:ext>
            </a:extLst>
          </p:cNvPr>
          <p:cNvSpPr txBox="1"/>
          <p:nvPr/>
        </p:nvSpPr>
        <p:spPr>
          <a:xfrm>
            <a:off x="10282471" y="395852"/>
            <a:ext cx="1831585" cy="261610"/>
          </a:xfrm>
          <a:prstGeom prst="rect">
            <a:avLst/>
          </a:prstGeom>
          <a:noFill/>
          <a:effectLst/>
        </p:spPr>
        <p:txBody>
          <a:bodyPr wrap="square" rtlCol="0" anchor="ctr">
            <a:spAutoFit/>
          </a:bodyPr>
          <a:lstStyle/>
          <a:p>
            <a:pPr marL="238125" indent="-238125" algn="r"/>
            <a:r>
              <a:rPr lang="en-US" sz="1100" dirty="0">
                <a:solidFill>
                  <a:schemeClr val="tx1">
                    <a:lumMod val="65000"/>
                    <a:lumOff val="35000"/>
                  </a:schemeClr>
                </a:solidFill>
                <a:latin typeface="Cambria" panose="02040503050406030204" pitchFamily="18" charset="0"/>
              </a:rPr>
              <a:t>ECE 1022 </a:t>
            </a:r>
            <a:endParaRPr lang="en-US" sz="1600" b="1" dirty="0">
              <a:latin typeface="Cambria" panose="02040503050406030204" pitchFamily="18" charset="0"/>
            </a:endParaRPr>
          </a:p>
        </p:txBody>
      </p:sp>
      <p:sp>
        <p:nvSpPr>
          <p:cNvPr id="3" name="Rounded Rectangle 2">
            <a:extLst>
              <a:ext uri="{FF2B5EF4-FFF2-40B4-BE49-F238E27FC236}">
                <a16:creationId xmlns:a16="http://schemas.microsoft.com/office/drawing/2014/main" id="{47FA47D8-BE17-2F87-7308-94F2274302C9}"/>
              </a:ext>
            </a:extLst>
          </p:cNvPr>
          <p:cNvSpPr/>
          <p:nvPr/>
        </p:nvSpPr>
        <p:spPr>
          <a:xfrm>
            <a:off x="4104914" y="2232710"/>
            <a:ext cx="2071539" cy="559462"/>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Terminator </a:t>
            </a:r>
            <a:b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br>
            <a:r>
              <a:rPr kumimoji="0" lang="en-US" sz="11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(Beginning </a:t>
            </a:r>
            <a:r>
              <a:rPr lang="en-US" sz="1100" b="1" kern="0" dirty="0">
                <a:solidFill>
                  <a:schemeClr val="tx1">
                    <a:lumMod val="65000"/>
                    <a:lumOff val="35000"/>
                  </a:schemeClr>
                </a:solidFill>
                <a:latin typeface="Calibri" panose="020F0502020204030204"/>
              </a:rPr>
              <a:t>or</a:t>
            </a:r>
            <a:r>
              <a:rPr kumimoji="0" lang="en-US" sz="11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 End of </a:t>
            </a:r>
            <a:r>
              <a:rPr lang="en-US" sz="1100" b="1" kern="0" dirty="0">
                <a:solidFill>
                  <a:schemeClr val="tx1">
                    <a:lumMod val="65000"/>
                    <a:lumOff val="35000"/>
                  </a:schemeClr>
                </a:solidFill>
                <a:latin typeface="Calibri" panose="020F0502020204030204"/>
              </a:rPr>
              <a:t>S</a:t>
            </a:r>
            <a:r>
              <a:rPr kumimoji="0" lang="en-US" sz="1100" b="1" i="0" u="none" strike="noStrike" kern="0" cap="none" spc="0" normalizeH="0" baseline="0" noProof="0" dirty="0" err="1">
                <a:ln>
                  <a:noFill/>
                </a:ln>
                <a:solidFill>
                  <a:schemeClr val="tx1">
                    <a:lumMod val="65000"/>
                    <a:lumOff val="35000"/>
                  </a:schemeClr>
                </a:solidFill>
                <a:effectLst/>
                <a:uLnTx/>
                <a:uFillTx/>
                <a:latin typeface="Calibri" panose="020F0502020204030204"/>
                <a:ea typeface="+mn-ea"/>
                <a:cs typeface="+mn-cs"/>
              </a:rPr>
              <a:t>ection</a:t>
            </a:r>
            <a:r>
              <a:rPr kumimoji="0" lang="en-US" sz="11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a:t>
            </a:r>
            <a:endPar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endParaRPr>
          </a:p>
        </p:txBody>
      </p:sp>
      <p:cxnSp>
        <p:nvCxnSpPr>
          <p:cNvPr id="6" name="Straight Arrow Connector 5">
            <a:extLst>
              <a:ext uri="{FF2B5EF4-FFF2-40B4-BE49-F238E27FC236}">
                <a16:creationId xmlns:a16="http://schemas.microsoft.com/office/drawing/2014/main" id="{8DA30591-9DF5-BA23-64E5-BD74CB229C4F}"/>
              </a:ext>
            </a:extLst>
          </p:cNvPr>
          <p:cNvCxnSpPr/>
          <p:nvPr/>
        </p:nvCxnSpPr>
        <p:spPr>
          <a:xfrm>
            <a:off x="2954643" y="2512442"/>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7" name="Rounded Rectangle 6">
            <a:extLst>
              <a:ext uri="{FF2B5EF4-FFF2-40B4-BE49-F238E27FC236}">
                <a16:creationId xmlns:a16="http://schemas.microsoft.com/office/drawing/2014/main" id="{6CDCA698-F4F1-D21E-51F8-9DA71FC025A7}"/>
              </a:ext>
            </a:extLst>
          </p:cNvPr>
          <p:cNvSpPr/>
          <p:nvPr/>
        </p:nvSpPr>
        <p:spPr>
          <a:xfrm>
            <a:off x="1349709" y="2377477"/>
            <a:ext cx="607789" cy="300059"/>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Begin</a:t>
            </a:r>
          </a:p>
        </p:txBody>
      </p:sp>
      <p:sp>
        <p:nvSpPr>
          <p:cNvPr id="16" name="Rounded Rectangle 15">
            <a:extLst>
              <a:ext uri="{FF2B5EF4-FFF2-40B4-BE49-F238E27FC236}">
                <a16:creationId xmlns:a16="http://schemas.microsoft.com/office/drawing/2014/main" id="{34B973A3-1E34-69AF-A839-9D0B06A2A008}"/>
              </a:ext>
            </a:extLst>
          </p:cNvPr>
          <p:cNvSpPr/>
          <p:nvPr/>
        </p:nvSpPr>
        <p:spPr>
          <a:xfrm>
            <a:off x="2102815" y="2377477"/>
            <a:ext cx="686028" cy="300059"/>
          </a:xfrm>
          <a:prstGeom prst="roundRect">
            <a:avLst>
              <a:gd name="adj" fmla="val 50000"/>
            </a:avLst>
          </a:prstGeom>
          <a:solidFill>
            <a:srgbClr val="E3F0D9"/>
          </a:solidFill>
          <a:ln w="38100" cap="flat" cmpd="sng" algn="ctr">
            <a:solidFill>
              <a:srgbClr val="648E48"/>
            </a:solidFill>
            <a:prstDash val="solid"/>
            <a:miter lim="800000"/>
          </a:ln>
          <a:effectLst>
            <a:glow rad="25400">
              <a:srgbClr val="E3F0D9"/>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648E48"/>
                </a:solidFill>
                <a:effectLst/>
                <a:uLnTx/>
                <a:uFillTx/>
                <a:latin typeface="Calibri" panose="020F0502020204030204"/>
                <a:ea typeface="+mn-ea"/>
                <a:cs typeface="+mn-cs"/>
              </a:rPr>
              <a:t>End</a:t>
            </a:r>
          </a:p>
        </p:txBody>
      </p:sp>
      <p:sp>
        <p:nvSpPr>
          <p:cNvPr id="17" name="Parallelogram 16">
            <a:extLst>
              <a:ext uri="{FF2B5EF4-FFF2-40B4-BE49-F238E27FC236}">
                <a16:creationId xmlns:a16="http://schemas.microsoft.com/office/drawing/2014/main" id="{C244C3AB-D7A2-97E4-5046-135E9370DD73}"/>
              </a:ext>
            </a:extLst>
          </p:cNvPr>
          <p:cNvSpPr/>
          <p:nvPr/>
        </p:nvSpPr>
        <p:spPr>
          <a:xfrm>
            <a:off x="1372112" y="3132119"/>
            <a:ext cx="1439134"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text</a:t>
            </a:r>
          </a:p>
        </p:txBody>
      </p:sp>
      <p:sp>
        <p:nvSpPr>
          <p:cNvPr id="18" name="Rounded Rectangle 17">
            <a:extLst>
              <a:ext uri="{FF2B5EF4-FFF2-40B4-BE49-F238E27FC236}">
                <a16:creationId xmlns:a16="http://schemas.microsoft.com/office/drawing/2014/main" id="{D57A1407-2B04-213B-CC2D-9373D81AB915}"/>
              </a:ext>
            </a:extLst>
          </p:cNvPr>
          <p:cNvSpPr/>
          <p:nvPr/>
        </p:nvSpPr>
        <p:spPr>
          <a:xfrm>
            <a:off x="4080673" y="3067858"/>
            <a:ext cx="1660011"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Input / Output</a:t>
            </a:r>
          </a:p>
        </p:txBody>
      </p:sp>
      <p:cxnSp>
        <p:nvCxnSpPr>
          <p:cNvPr id="19" name="Straight Arrow Connector 18">
            <a:extLst>
              <a:ext uri="{FF2B5EF4-FFF2-40B4-BE49-F238E27FC236}">
                <a16:creationId xmlns:a16="http://schemas.microsoft.com/office/drawing/2014/main" id="{4E1C3D6F-9B12-22AB-A6FF-705F8A9FB526}"/>
              </a:ext>
            </a:extLst>
          </p:cNvPr>
          <p:cNvCxnSpPr/>
          <p:nvPr/>
        </p:nvCxnSpPr>
        <p:spPr>
          <a:xfrm>
            <a:off x="2930402" y="3317178"/>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20" name="Diamond 19">
            <a:extLst>
              <a:ext uri="{FF2B5EF4-FFF2-40B4-BE49-F238E27FC236}">
                <a16:creationId xmlns:a16="http://schemas.microsoft.com/office/drawing/2014/main" id="{1DC93A61-ECB7-C588-2704-796CE86EBCA2}"/>
              </a:ext>
            </a:extLst>
          </p:cNvPr>
          <p:cNvSpPr/>
          <p:nvPr/>
        </p:nvSpPr>
        <p:spPr>
          <a:xfrm>
            <a:off x="1593695" y="3799322"/>
            <a:ext cx="893963" cy="736395"/>
          </a:xfrm>
          <a:prstGeom prst="diamond">
            <a:avLst/>
          </a:prstGeom>
          <a:solidFill>
            <a:srgbClr val="FFF0D5"/>
          </a:solidFill>
          <a:ln w="38100" cap="flat" cmpd="sng" algn="ctr">
            <a:solidFill>
              <a:srgbClr val="FFB100"/>
            </a:solidFill>
            <a:prstDash val="solid"/>
            <a:miter lim="800000"/>
          </a:ln>
          <a:effectLst>
            <a:glow rad="25400">
              <a:srgbClr val="FFC000">
                <a:lumMod val="20000"/>
                <a:lumOff val="80000"/>
              </a:srgbClr>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accent4">
                    <a:lumMod val="50000"/>
                  </a:schemeClr>
                </a:solidFill>
                <a:effectLst/>
                <a:uLnTx/>
                <a:uFillTx/>
                <a:latin typeface="Calibri" panose="020F0502020204030204"/>
                <a:ea typeface="+mn-ea"/>
                <a:cs typeface="+mn-cs"/>
              </a:rPr>
              <a:t>text</a:t>
            </a:r>
          </a:p>
        </p:txBody>
      </p:sp>
      <p:sp>
        <p:nvSpPr>
          <p:cNvPr id="21" name="Rounded Rectangle 20">
            <a:extLst>
              <a:ext uri="{FF2B5EF4-FFF2-40B4-BE49-F238E27FC236}">
                <a16:creationId xmlns:a16="http://schemas.microsoft.com/office/drawing/2014/main" id="{1EAD0316-BCF4-74B9-2E8C-1C08798C37E2}"/>
              </a:ext>
            </a:extLst>
          </p:cNvPr>
          <p:cNvSpPr/>
          <p:nvPr/>
        </p:nvSpPr>
        <p:spPr>
          <a:xfrm>
            <a:off x="3838202" y="3902573"/>
            <a:ext cx="1645317"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Decision / Test</a:t>
            </a:r>
          </a:p>
        </p:txBody>
      </p:sp>
      <p:cxnSp>
        <p:nvCxnSpPr>
          <p:cNvPr id="22" name="Straight Arrow Connector 21">
            <a:extLst>
              <a:ext uri="{FF2B5EF4-FFF2-40B4-BE49-F238E27FC236}">
                <a16:creationId xmlns:a16="http://schemas.microsoft.com/office/drawing/2014/main" id="{18BFE348-68BF-F4C1-022B-858F28C21C80}"/>
              </a:ext>
            </a:extLst>
          </p:cNvPr>
          <p:cNvCxnSpPr/>
          <p:nvPr/>
        </p:nvCxnSpPr>
        <p:spPr>
          <a:xfrm>
            <a:off x="2687931" y="4151893"/>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23" name="Rectangle 22">
            <a:extLst>
              <a:ext uri="{FF2B5EF4-FFF2-40B4-BE49-F238E27FC236}">
                <a16:creationId xmlns:a16="http://schemas.microsoft.com/office/drawing/2014/main" id="{8EA9FADE-2EAA-2DBE-199B-6CB0E915309D}"/>
              </a:ext>
            </a:extLst>
          </p:cNvPr>
          <p:cNvSpPr/>
          <p:nvPr/>
        </p:nvSpPr>
        <p:spPr>
          <a:xfrm>
            <a:off x="1349709" y="5708925"/>
            <a:ext cx="1385865" cy="401578"/>
          </a:xfrm>
          <a:prstGeom prst="rect">
            <a:avLst/>
          </a:prstGeom>
          <a:solidFill>
            <a:srgbClr val="FFE0D3"/>
          </a:solidFill>
          <a:ln w="38100" cap="flat" cmpd="sng" algn="ctr">
            <a:solidFill>
              <a:srgbClr val="FF6100"/>
            </a:solidFill>
            <a:prstDash val="solid"/>
            <a:miter lim="800000"/>
          </a:ln>
          <a:effectLst>
            <a:glow rad="25400">
              <a:schemeClr val="bg1"/>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accent2">
                    <a:lumMod val="75000"/>
                  </a:schemeClr>
                </a:solidFill>
                <a:effectLst/>
                <a:uLnTx/>
                <a:uFillTx/>
                <a:latin typeface="Calibri" panose="020F0502020204030204"/>
                <a:ea typeface="+mn-ea"/>
                <a:cs typeface="+mn-cs"/>
              </a:rPr>
              <a:t>text</a:t>
            </a:r>
          </a:p>
        </p:txBody>
      </p:sp>
      <p:sp>
        <p:nvSpPr>
          <p:cNvPr id="24" name="Rounded Rectangle 23">
            <a:extLst>
              <a:ext uri="{FF2B5EF4-FFF2-40B4-BE49-F238E27FC236}">
                <a16:creationId xmlns:a16="http://schemas.microsoft.com/office/drawing/2014/main" id="{84E8103A-F681-9D1B-CA9C-AA806A866F7E}"/>
              </a:ext>
            </a:extLst>
          </p:cNvPr>
          <p:cNvSpPr/>
          <p:nvPr/>
        </p:nvSpPr>
        <p:spPr>
          <a:xfrm>
            <a:off x="4034798" y="5650641"/>
            <a:ext cx="2217224"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Statement / Process</a:t>
            </a:r>
          </a:p>
        </p:txBody>
      </p:sp>
      <p:cxnSp>
        <p:nvCxnSpPr>
          <p:cNvPr id="25" name="Straight Arrow Connector 24">
            <a:extLst>
              <a:ext uri="{FF2B5EF4-FFF2-40B4-BE49-F238E27FC236}">
                <a16:creationId xmlns:a16="http://schemas.microsoft.com/office/drawing/2014/main" id="{157A9252-70F0-176B-D71C-BFDFAA558E2F}"/>
              </a:ext>
            </a:extLst>
          </p:cNvPr>
          <p:cNvCxnSpPr/>
          <p:nvPr/>
        </p:nvCxnSpPr>
        <p:spPr>
          <a:xfrm>
            <a:off x="2884527" y="5899961"/>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26" name="Rounded Rectangle 25">
            <a:extLst>
              <a:ext uri="{FF2B5EF4-FFF2-40B4-BE49-F238E27FC236}">
                <a16:creationId xmlns:a16="http://schemas.microsoft.com/office/drawing/2014/main" id="{B5F2829A-5E7E-7BC0-3FDB-4C3028F7399A}"/>
              </a:ext>
            </a:extLst>
          </p:cNvPr>
          <p:cNvSpPr/>
          <p:nvPr/>
        </p:nvSpPr>
        <p:spPr>
          <a:xfrm>
            <a:off x="4084768" y="4777046"/>
            <a:ext cx="849414"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Loop</a:t>
            </a:r>
          </a:p>
        </p:txBody>
      </p:sp>
      <p:cxnSp>
        <p:nvCxnSpPr>
          <p:cNvPr id="27" name="Straight Arrow Connector 26">
            <a:extLst>
              <a:ext uri="{FF2B5EF4-FFF2-40B4-BE49-F238E27FC236}">
                <a16:creationId xmlns:a16="http://schemas.microsoft.com/office/drawing/2014/main" id="{31C6FEDE-B65D-2926-353E-CBC85ACAFDBF}"/>
              </a:ext>
            </a:extLst>
          </p:cNvPr>
          <p:cNvCxnSpPr/>
          <p:nvPr/>
        </p:nvCxnSpPr>
        <p:spPr>
          <a:xfrm>
            <a:off x="2934497" y="5026366"/>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28" name="Hexagon 27">
            <a:extLst>
              <a:ext uri="{FF2B5EF4-FFF2-40B4-BE49-F238E27FC236}">
                <a16:creationId xmlns:a16="http://schemas.microsoft.com/office/drawing/2014/main" id="{0AA3B672-7FE0-178B-8C72-F2B9D63F0472}"/>
              </a:ext>
            </a:extLst>
          </p:cNvPr>
          <p:cNvSpPr/>
          <p:nvPr/>
        </p:nvSpPr>
        <p:spPr>
          <a:xfrm>
            <a:off x="1377940" y="4825577"/>
            <a:ext cx="1385865" cy="401578"/>
          </a:xfrm>
          <a:prstGeom prst="hexagon">
            <a:avLst/>
          </a:prstGeom>
          <a:solidFill>
            <a:srgbClr val="FFF0D5"/>
          </a:solidFill>
          <a:ln w="38100" cap="flat" cmpd="sng" algn="ctr">
            <a:solidFill>
              <a:srgbClr val="FFB100"/>
            </a:solidFill>
            <a:prstDash val="solid"/>
            <a:miter lim="800000"/>
          </a:ln>
          <a:effectLst>
            <a:glow rad="25400">
              <a:schemeClr val="bg1"/>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accent4">
                    <a:lumMod val="50000"/>
                  </a:schemeClr>
                </a:solidFill>
                <a:effectLst/>
                <a:uLnTx/>
                <a:uFillTx/>
                <a:latin typeface="Calibri" panose="020F0502020204030204"/>
                <a:ea typeface="+mn-ea"/>
                <a:cs typeface="+mn-cs"/>
              </a:rPr>
              <a:t>text</a:t>
            </a:r>
          </a:p>
        </p:txBody>
      </p:sp>
      <p:sp>
        <p:nvSpPr>
          <p:cNvPr id="29" name="Oval 28">
            <a:extLst>
              <a:ext uri="{FF2B5EF4-FFF2-40B4-BE49-F238E27FC236}">
                <a16:creationId xmlns:a16="http://schemas.microsoft.com/office/drawing/2014/main" id="{9AE102B2-FE3A-BC28-3307-F12CE7080EEB}"/>
              </a:ext>
            </a:extLst>
          </p:cNvPr>
          <p:cNvSpPr/>
          <p:nvPr/>
        </p:nvSpPr>
        <p:spPr>
          <a:xfrm>
            <a:off x="7014569" y="2194878"/>
            <a:ext cx="585807" cy="584596"/>
          </a:xfrm>
          <a:prstGeom prst="ellipse">
            <a:avLst/>
          </a:prstGeom>
          <a:solidFill>
            <a:srgbClr val="FAD7E6"/>
          </a:solidFill>
          <a:ln w="38100" cap="flat" cmpd="sng" algn="ctr">
            <a:solidFill>
              <a:srgbClr val="DC267E"/>
            </a:solidFill>
            <a:prstDash val="solid"/>
            <a:miter lim="800000"/>
          </a:ln>
          <a:effectLst>
            <a:glow rad="25400">
              <a:schemeClr val="bg1"/>
            </a:glow>
          </a:effectLst>
        </p:spPr>
        <p:txBody>
          <a:bodyPr lIns="0" tIns="0" rIns="0" bIns="0" rtlCol="0" anchor="ctr">
            <a:normAutofit fontScale="850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DC267E"/>
                </a:solidFill>
                <a:effectLst/>
                <a:uLnTx/>
                <a:uFillTx/>
                <a:latin typeface="Calibri" panose="020F0502020204030204"/>
                <a:ea typeface="+mn-ea"/>
                <a:cs typeface="+mn-cs"/>
              </a:rPr>
              <a:t>#</a:t>
            </a:r>
            <a:endParaRPr kumimoji="0" lang="en-US" sz="16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sp>
        <p:nvSpPr>
          <p:cNvPr id="30" name="Rounded Rectangle 29">
            <a:extLst>
              <a:ext uri="{FF2B5EF4-FFF2-40B4-BE49-F238E27FC236}">
                <a16:creationId xmlns:a16="http://schemas.microsoft.com/office/drawing/2014/main" id="{9C9F1BE8-A3A8-AD9F-DB04-95D9BA7C43DF}"/>
              </a:ext>
            </a:extLst>
          </p:cNvPr>
          <p:cNvSpPr/>
          <p:nvPr/>
        </p:nvSpPr>
        <p:spPr>
          <a:xfrm>
            <a:off x="8834009" y="2237856"/>
            <a:ext cx="1951712"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On-Page Connector</a:t>
            </a:r>
          </a:p>
        </p:txBody>
      </p:sp>
      <p:cxnSp>
        <p:nvCxnSpPr>
          <p:cNvPr id="31" name="Straight Arrow Connector 30">
            <a:extLst>
              <a:ext uri="{FF2B5EF4-FFF2-40B4-BE49-F238E27FC236}">
                <a16:creationId xmlns:a16="http://schemas.microsoft.com/office/drawing/2014/main" id="{F401EF7B-A930-B4FB-E04D-DB5B4764B527}"/>
              </a:ext>
            </a:extLst>
          </p:cNvPr>
          <p:cNvCxnSpPr/>
          <p:nvPr/>
        </p:nvCxnSpPr>
        <p:spPr>
          <a:xfrm>
            <a:off x="7757038" y="2493335"/>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cxnSp>
        <p:nvCxnSpPr>
          <p:cNvPr id="46" name="Elbow Connector 45">
            <a:extLst>
              <a:ext uri="{FF2B5EF4-FFF2-40B4-BE49-F238E27FC236}">
                <a16:creationId xmlns:a16="http://schemas.microsoft.com/office/drawing/2014/main" id="{264E9499-2676-C00D-AEFB-83A83B5149CE}"/>
              </a:ext>
            </a:extLst>
          </p:cNvPr>
          <p:cNvCxnSpPr>
            <a:cxnSpLocks/>
          </p:cNvCxnSpPr>
          <p:nvPr/>
        </p:nvCxnSpPr>
        <p:spPr>
          <a:xfrm>
            <a:off x="7049123" y="4172668"/>
            <a:ext cx="893964" cy="435947"/>
          </a:xfrm>
          <a:prstGeom prst="bentConnector3">
            <a:avLst>
              <a:gd name="adj1" fmla="val 50000"/>
            </a:avLst>
          </a:prstGeom>
          <a:noFill/>
          <a:ln w="50800" cap="flat" cmpd="sng" algn="ctr">
            <a:solidFill>
              <a:srgbClr val="795CF1"/>
            </a:solidFill>
            <a:prstDash val="solid"/>
            <a:miter lim="800000"/>
            <a:tailEnd type="triangle"/>
          </a:ln>
          <a:effectLst>
            <a:glow rad="25400">
              <a:schemeClr val="bg1"/>
            </a:glow>
          </a:effectLst>
        </p:spPr>
      </p:cxnSp>
      <p:sp>
        <p:nvSpPr>
          <p:cNvPr id="49" name="Rounded Rectangle 48">
            <a:extLst>
              <a:ext uri="{FF2B5EF4-FFF2-40B4-BE49-F238E27FC236}">
                <a16:creationId xmlns:a16="http://schemas.microsoft.com/office/drawing/2014/main" id="{9694662B-C08E-A7C7-FC20-C6DCCC76B13F}"/>
              </a:ext>
            </a:extLst>
          </p:cNvPr>
          <p:cNvSpPr/>
          <p:nvPr/>
        </p:nvSpPr>
        <p:spPr>
          <a:xfrm>
            <a:off x="9140165" y="4079995"/>
            <a:ext cx="1541066"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Flow/Path Line</a:t>
            </a:r>
          </a:p>
        </p:txBody>
      </p:sp>
      <p:cxnSp>
        <p:nvCxnSpPr>
          <p:cNvPr id="50" name="Straight Arrow Connector 49">
            <a:extLst>
              <a:ext uri="{FF2B5EF4-FFF2-40B4-BE49-F238E27FC236}">
                <a16:creationId xmlns:a16="http://schemas.microsoft.com/office/drawing/2014/main" id="{F5BB3169-BB14-CDEA-5204-D1B9FB678DE1}"/>
              </a:ext>
            </a:extLst>
          </p:cNvPr>
          <p:cNvCxnSpPr/>
          <p:nvPr/>
        </p:nvCxnSpPr>
        <p:spPr>
          <a:xfrm>
            <a:off x="8063194" y="4335474"/>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51" name="Pentagon 50">
            <a:extLst>
              <a:ext uri="{FF2B5EF4-FFF2-40B4-BE49-F238E27FC236}">
                <a16:creationId xmlns:a16="http://schemas.microsoft.com/office/drawing/2014/main" id="{701BFACC-89D0-2123-9456-B4FFD5B8B3E6}"/>
              </a:ext>
            </a:extLst>
          </p:cNvPr>
          <p:cNvSpPr/>
          <p:nvPr/>
        </p:nvSpPr>
        <p:spPr>
          <a:xfrm rot="5400000">
            <a:off x="7014187" y="3158238"/>
            <a:ext cx="614994" cy="545122"/>
          </a:xfrm>
          <a:prstGeom prst="homePlate">
            <a:avLst>
              <a:gd name="adj" fmla="val 32364"/>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normAutofit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3600" b="1" kern="0" dirty="0">
                <a:solidFill>
                  <a:srgbClr val="DC267E"/>
                </a:solidFill>
                <a:latin typeface="Calibri" panose="020F0502020204030204"/>
              </a:rPr>
              <a:t>#</a:t>
            </a:r>
            <a:endParaRPr kumimoji="0" lang="en-US" sz="36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sp>
        <p:nvSpPr>
          <p:cNvPr id="52" name="Rounded Rectangle 51">
            <a:extLst>
              <a:ext uri="{FF2B5EF4-FFF2-40B4-BE49-F238E27FC236}">
                <a16:creationId xmlns:a16="http://schemas.microsoft.com/office/drawing/2014/main" id="{EAF409EF-DDBA-1C87-BB6E-A5BA6BDB27DD}"/>
              </a:ext>
            </a:extLst>
          </p:cNvPr>
          <p:cNvSpPr/>
          <p:nvPr/>
        </p:nvSpPr>
        <p:spPr>
          <a:xfrm>
            <a:off x="8823840" y="3144162"/>
            <a:ext cx="1951712"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Off-Page Connector</a:t>
            </a:r>
          </a:p>
        </p:txBody>
      </p:sp>
      <p:cxnSp>
        <p:nvCxnSpPr>
          <p:cNvPr id="53" name="Straight Arrow Connector 52">
            <a:extLst>
              <a:ext uri="{FF2B5EF4-FFF2-40B4-BE49-F238E27FC236}">
                <a16:creationId xmlns:a16="http://schemas.microsoft.com/office/drawing/2014/main" id="{E33D1B0C-60C8-F62A-00CD-40AA55B01E96}"/>
              </a:ext>
            </a:extLst>
          </p:cNvPr>
          <p:cNvCxnSpPr/>
          <p:nvPr/>
        </p:nvCxnSpPr>
        <p:spPr>
          <a:xfrm>
            <a:off x="7746869" y="3399641"/>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54" name="Rounded Rectangle 53">
            <a:extLst>
              <a:ext uri="{FF2B5EF4-FFF2-40B4-BE49-F238E27FC236}">
                <a16:creationId xmlns:a16="http://schemas.microsoft.com/office/drawing/2014/main" id="{CA915075-AC55-AD8A-A055-B8CC144784F1}"/>
              </a:ext>
            </a:extLst>
          </p:cNvPr>
          <p:cNvSpPr/>
          <p:nvPr/>
        </p:nvSpPr>
        <p:spPr>
          <a:xfrm rot="10800000" flipH="1" flipV="1">
            <a:off x="6996888" y="5691875"/>
            <a:ext cx="958259" cy="394726"/>
          </a:xfrm>
          <a:prstGeom prst="roundRect">
            <a:avLst/>
          </a:prstGeom>
          <a:solidFill>
            <a:srgbClr val="E4DFFD"/>
          </a:solidFill>
          <a:ln w="38100" cap="flat" cmpd="sng" algn="ctr">
            <a:solidFill>
              <a:srgbClr val="795CF1"/>
            </a:solidFill>
            <a:prstDash val="sysDot"/>
            <a:miter lim="800000"/>
          </a:ln>
          <a:effectLst>
            <a:glow rad="25400">
              <a:schemeClr val="bg1"/>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795CF1"/>
                </a:solidFill>
                <a:effectLst/>
                <a:uLnTx/>
                <a:uFillTx/>
                <a:latin typeface="Calibri" panose="020F0502020204030204"/>
                <a:ea typeface="+mn-ea"/>
                <a:cs typeface="+mn-cs"/>
              </a:rPr>
              <a:t>text</a:t>
            </a:r>
          </a:p>
        </p:txBody>
      </p:sp>
      <p:sp>
        <p:nvSpPr>
          <p:cNvPr id="55" name="Rounded Rectangle 54">
            <a:extLst>
              <a:ext uri="{FF2B5EF4-FFF2-40B4-BE49-F238E27FC236}">
                <a16:creationId xmlns:a16="http://schemas.microsoft.com/office/drawing/2014/main" id="{6D14A62F-7E6C-6C18-AADE-3A60D921B185}"/>
              </a:ext>
            </a:extLst>
          </p:cNvPr>
          <p:cNvSpPr/>
          <p:nvPr/>
        </p:nvSpPr>
        <p:spPr>
          <a:xfrm>
            <a:off x="9107689" y="5590815"/>
            <a:ext cx="1734603" cy="587525"/>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kern="0" dirty="0">
                <a:solidFill>
                  <a:schemeClr val="tx1">
                    <a:lumMod val="65000"/>
                    <a:lumOff val="35000"/>
                  </a:schemeClr>
                </a:solidFill>
                <a:latin typeface="Calibri" panose="020F0502020204030204"/>
              </a:rPr>
              <a:t>Description or Logic of Path</a:t>
            </a:r>
            <a:endPar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endParaRPr>
          </a:p>
        </p:txBody>
      </p:sp>
      <p:cxnSp>
        <p:nvCxnSpPr>
          <p:cNvPr id="56" name="Straight Arrow Connector 55">
            <a:extLst>
              <a:ext uri="{FF2B5EF4-FFF2-40B4-BE49-F238E27FC236}">
                <a16:creationId xmlns:a16="http://schemas.microsoft.com/office/drawing/2014/main" id="{8209B63E-7A1B-86E0-2F6A-45BC9D892FF7}"/>
              </a:ext>
            </a:extLst>
          </p:cNvPr>
          <p:cNvCxnSpPr/>
          <p:nvPr/>
        </p:nvCxnSpPr>
        <p:spPr>
          <a:xfrm>
            <a:off x="8075689" y="5891265"/>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
        <p:nvSpPr>
          <p:cNvPr id="59" name="Oval 58">
            <a:extLst>
              <a:ext uri="{FF2B5EF4-FFF2-40B4-BE49-F238E27FC236}">
                <a16:creationId xmlns:a16="http://schemas.microsoft.com/office/drawing/2014/main" id="{87BE23B1-0EF6-E17D-F1F0-295B540BC299}"/>
              </a:ext>
            </a:extLst>
          </p:cNvPr>
          <p:cNvSpPr/>
          <p:nvPr/>
        </p:nvSpPr>
        <p:spPr>
          <a:xfrm flipH="1">
            <a:off x="7348903" y="5106633"/>
            <a:ext cx="191770" cy="191374"/>
          </a:xfrm>
          <a:prstGeom prst="ellipse">
            <a:avLst/>
          </a:prstGeom>
          <a:solidFill>
            <a:srgbClr val="E4DFFD"/>
          </a:solidFill>
          <a:ln w="38100" cap="flat" cmpd="sng" algn="ctr">
            <a:solidFill>
              <a:srgbClr val="795CF1"/>
            </a:solidFill>
            <a:prstDash val="solid"/>
            <a:miter lim="800000"/>
          </a:ln>
          <a:effectLst>
            <a:glow rad="25400">
              <a:schemeClr val="bg1"/>
            </a:glow>
          </a:effectLst>
        </p:spPr>
        <p:txBody>
          <a:bodyPr lIns="0" tIns="0" rIns="0" bIns="0" rtlCol="0" anchor="ctr">
            <a:normAutofit fontScale="625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60" name="Rounded Rectangle 59">
            <a:extLst>
              <a:ext uri="{FF2B5EF4-FFF2-40B4-BE49-F238E27FC236}">
                <a16:creationId xmlns:a16="http://schemas.microsoft.com/office/drawing/2014/main" id="{F672763F-AB75-F9A0-2226-27DD39E39961}"/>
              </a:ext>
            </a:extLst>
          </p:cNvPr>
          <p:cNvSpPr/>
          <p:nvPr/>
        </p:nvSpPr>
        <p:spPr>
          <a:xfrm>
            <a:off x="8841019" y="4948868"/>
            <a:ext cx="936260" cy="498640"/>
          </a:xfrm>
          <a:prstGeom prst="roundRect">
            <a:avLst>
              <a:gd name="adj" fmla="val 22868"/>
            </a:avLst>
          </a:prstGeom>
          <a:solidFill>
            <a:schemeClr val="bg1"/>
          </a:solidFill>
          <a:ln w="12700" cap="flat" cmpd="sng" algn="ctr">
            <a:solidFill>
              <a:schemeClr val="tx1"/>
            </a:solidFill>
            <a:prstDash val="solid"/>
            <a:miter lim="800000"/>
          </a:ln>
          <a:effectLst>
            <a:glow rad="25400">
              <a:srgbClr val="4472C4">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Node</a:t>
            </a:r>
          </a:p>
        </p:txBody>
      </p:sp>
      <p:cxnSp>
        <p:nvCxnSpPr>
          <p:cNvPr id="61" name="Straight Arrow Connector 60">
            <a:extLst>
              <a:ext uri="{FF2B5EF4-FFF2-40B4-BE49-F238E27FC236}">
                <a16:creationId xmlns:a16="http://schemas.microsoft.com/office/drawing/2014/main" id="{5E4FFB72-2DBE-2F47-9F66-9FD05655B48C}"/>
              </a:ext>
            </a:extLst>
          </p:cNvPr>
          <p:cNvCxnSpPr/>
          <p:nvPr/>
        </p:nvCxnSpPr>
        <p:spPr>
          <a:xfrm>
            <a:off x="7764048" y="5204347"/>
            <a:ext cx="936260" cy="0"/>
          </a:xfrm>
          <a:prstGeom prst="straightConnector1">
            <a:avLst/>
          </a:prstGeom>
          <a:noFill/>
          <a:ln w="57150" cap="flat" cmpd="sng" algn="ctr">
            <a:solidFill>
              <a:srgbClr val="4472C4"/>
            </a:solidFill>
            <a:prstDash val="solid"/>
            <a:miter lim="800000"/>
            <a:tailEnd type="triangle"/>
          </a:ln>
          <a:effectLst>
            <a:glow rad="25400">
              <a:srgbClr val="FFFFFF"/>
            </a:glow>
          </a:effectLst>
        </p:spPr>
      </p:cxnSp>
    </p:spTree>
    <p:extLst>
      <p:ext uri="{BB962C8B-B14F-4D97-AF65-F5344CB8AC3E}">
        <p14:creationId xmlns:p14="http://schemas.microsoft.com/office/powerpoint/2010/main" val="1007178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4">
            <a:extLst>
              <a:ext uri="{FF2B5EF4-FFF2-40B4-BE49-F238E27FC236}">
                <a16:creationId xmlns:a16="http://schemas.microsoft.com/office/drawing/2014/main" id="{D2D10FEB-FA18-8A99-1668-805557CD7E83}"/>
              </a:ext>
            </a:extLst>
          </p:cNvPr>
          <p:cNvSpPr txBox="1">
            <a:spLocks/>
          </p:cNvSpPr>
          <p:nvPr/>
        </p:nvSpPr>
        <p:spPr>
          <a:xfrm>
            <a:off x="1049850" y="916672"/>
            <a:ext cx="9368767" cy="581427"/>
          </a:xfrm>
          <a:prstGeom prst="rect">
            <a:avLst/>
          </a:prstGeom>
        </p:spPr>
        <p:txBody>
          <a:bodyPr vert="horz" lIns="91440" tIns="45720" rIns="91440" bIns="45720" rtlCol="0">
            <a:normAutofit fontScale="92500"/>
          </a:bodyPr>
          <a:lstStyle>
            <a:lvl1pPr marL="428625" indent="-428625" algn="l" defTabSz="1714500" rtl="0" eaLnBrk="1" latinLnBrk="0" hangingPunct="1">
              <a:lnSpc>
                <a:spcPct val="90000"/>
              </a:lnSpc>
              <a:spcBef>
                <a:spcPts val="1875"/>
              </a:spcBef>
              <a:buFont typeface="Arial" panose="020B0604020202020204" pitchFamily="34" charset="0"/>
              <a:buChar char="•"/>
              <a:defRPr sz="5250" kern="1200">
                <a:solidFill>
                  <a:schemeClr val="tx1"/>
                </a:solidFill>
                <a:latin typeface="+mn-lt"/>
                <a:ea typeface="+mn-ea"/>
                <a:cs typeface="+mn-cs"/>
              </a:defRPr>
            </a:lvl1pPr>
            <a:lvl2pPr marL="1285875" indent="-428625" algn="l" defTabSz="1714500" rtl="0" eaLnBrk="1" latinLnBrk="0" hangingPunct="1">
              <a:lnSpc>
                <a:spcPct val="90000"/>
              </a:lnSpc>
              <a:spcBef>
                <a:spcPts val="938"/>
              </a:spcBef>
              <a:buFont typeface="Arial" panose="020B0604020202020204" pitchFamily="34" charset="0"/>
              <a:buChar char="•"/>
              <a:defRPr sz="4500" kern="1200">
                <a:solidFill>
                  <a:schemeClr val="tx1"/>
                </a:solidFill>
                <a:latin typeface="+mn-lt"/>
                <a:ea typeface="+mn-ea"/>
                <a:cs typeface="+mn-cs"/>
              </a:defRPr>
            </a:lvl2pPr>
            <a:lvl3pPr marL="2143125" indent="-428625" algn="l" defTabSz="1714500" rtl="0" eaLnBrk="1" latinLnBrk="0" hangingPunct="1">
              <a:lnSpc>
                <a:spcPct val="90000"/>
              </a:lnSpc>
              <a:spcBef>
                <a:spcPts val="938"/>
              </a:spcBef>
              <a:buFont typeface="Arial" panose="020B0604020202020204" pitchFamily="34" charset="0"/>
              <a:buChar char="•"/>
              <a:defRPr sz="3750" kern="1200">
                <a:solidFill>
                  <a:schemeClr val="tx1"/>
                </a:solidFill>
                <a:latin typeface="+mn-lt"/>
                <a:ea typeface="+mn-ea"/>
                <a:cs typeface="+mn-cs"/>
              </a:defRPr>
            </a:lvl3pPr>
            <a:lvl4pPr marL="3000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4pPr>
            <a:lvl5pPr marL="3857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5pPr>
            <a:lvl6pPr marL="47148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6pPr>
            <a:lvl7pPr marL="55721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7pPr>
            <a:lvl8pPr marL="6429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8pPr>
            <a:lvl9pPr marL="7286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9pPr>
          </a:lstStyle>
          <a:p>
            <a:pPr marL="22225" marR="0" lvl="1" indent="0" algn="l" defTabSz="1714500" rtl="0" eaLnBrk="1" fontAlgn="auto" latinLnBrk="0" hangingPunct="1">
              <a:lnSpc>
                <a:spcPct val="90000"/>
              </a:lnSpc>
              <a:spcBef>
                <a:spcPts val="938"/>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chemeClr val="accent1"/>
                </a:solidFill>
                <a:effectLst/>
                <a:uLnTx/>
                <a:uFillTx/>
                <a:latin typeface="Calibri" panose="020F0502020204030204"/>
                <a:ea typeface="+mn-ea"/>
                <a:cs typeface="+mn-cs"/>
              </a:rPr>
              <a:t>Using Shapes and Shape Formatting in Powerpoint to Create Code Flowcharts</a:t>
            </a:r>
            <a:endParaRPr kumimoji="0" lang="en-US" sz="1050" b="1" i="0" u="none" strike="noStrike" kern="1200" cap="none" spc="0" normalizeH="0" baseline="0" noProof="0" dirty="0">
              <a:ln>
                <a:noFill/>
              </a:ln>
              <a:solidFill>
                <a:schemeClr val="accent1"/>
              </a:solidFill>
              <a:effectLst/>
              <a:uLnTx/>
              <a:uFillTx/>
              <a:latin typeface="Calibri" panose="020F0502020204030204"/>
              <a:ea typeface="+mn-ea"/>
              <a:cs typeface="+mn-cs"/>
            </a:endParaRPr>
          </a:p>
        </p:txBody>
      </p:sp>
      <p:sp>
        <p:nvSpPr>
          <p:cNvPr id="5" name="Title 11">
            <a:extLst>
              <a:ext uri="{FF2B5EF4-FFF2-40B4-BE49-F238E27FC236}">
                <a16:creationId xmlns:a16="http://schemas.microsoft.com/office/drawing/2014/main" id="{78AF75A6-3AC1-73A3-16A7-A736FD93B7FE}"/>
              </a:ext>
            </a:extLst>
          </p:cNvPr>
          <p:cNvSpPr txBox="1">
            <a:spLocks/>
          </p:cNvSpPr>
          <p:nvPr/>
        </p:nvSpPr>
        <p:spPr>
          <a:xfrm>
            <a:off x="305212" y="37029"/>
            <a:ext cx="9738661" cy="1127118"/>
          </a:xfrm>
          <a:prstGeom prst="rect">
            <a:avLst/>
          </a:prstGeom>
        </p:spPr>
        <p:txBody>
          <a:bodyPr vert="horz" lIns="91440" tIns="45720" rIns="91440" bIns="45720" rtlCol="0" anchor="ctr">
            <a:noAutofit/>
          </a:bodyPr>
          <a:lstStyle>
            <a:lvl1pPr algn="l" defTabSz="1714500" rtl="0" eaLnBrk="1" latinLnBrk="0" hangingPunct="1">
              <a:lnSpc>
                <a:spcPct val="90000"/>
              </a:lnSpc>
              <a:spcBef>
                <a:spcPct val="0"/>
              </a:spcBef>
              <a:buNone/>
              <a:defRPr sz="8250" kern="1200">
                <a:solidFill>
                  <a:schemeClr val="tx1"/>
                </a:solidFill>
                <a:latin typeface="+mj-lt"/>
                <a:ea typeface="+mj-ea"/>
                <a:cs typeface="+mj-cs"/>
              </a:defRPr>
            </a:lvl1pPr>
          </a:lstStyle>
          <a:p>
            <a:pPr marL="0" marR="0" lvl="0" indent="0" algn="l" defTabSz="1714500" rtl="0" eaLnBrk="1" fontAlgn="auto" latinLnBrk="0" hangingPunct="1">
              <a:lnSpc>
                <a:spcPct val="90000"/>
              </a:lnSpc>
              <a:spcBef>
                <a:spcPct val="0"/>
              </a:spcBef>
              <a:spcAft>
                <a:spcPts val="0"/>
              </a:spcAft>
              <a:buClrTx/>
              <a:buSzTx/>
              <a:buFontTx/>
              <a:buNone/>
              <a:tabLst/>
              <a:defRPr/>
            </a:pPr>
            <a:r>
              <a:rPr kumimoji="0" lang="en-US" sz="4000" b="1" i="0" u="sng" strike="noStrike" kern="1200" cap="none" spc="0" normalizeH="0" baseline="0" noProof="0" dirty="0">
                <a:ln>
                  <a:noFill/>
                </a:ln>
                <a:solidFill>
                  <a:srgbClr val="000000"/>
                </a:solidFill>
                <a:effectLst/>
                <a:uLnTx/>
                <a:uFillTx/>
                <a:latin typeface="Calibri Light" panose="020F0302020204030204"/>
                <a:ea typeface="+mj-ea"/>
                <a:cs typeface="+mj-cs"/>
              </a:rPr>
              <a:t>Power Point Power User :</a:t>
            </a:r>
            <a:endParaRPr kumimoji="0" lang="en-US" sz="4000" b="1" i="0" u="sng" strike="noStrike" kern="1200" cap="none" spc="0" normalizeH="0" baseline="0" noProof="0" dirty="0">
              <a:ln>
                <a:noFill/>
              </a:ln>
              <a:solidFill>
                <a:srgbClr val="2F5596"/>
              </a:solidFill>
              <a:effectLst/>
              <a:uLnTx/>
              <a:uFillTx/>
              <a:latin typeface="Calibri Light" panose="020F0302020204030204"/>
              <a:ea typeface="+mj-ea"/>
              <a:cs typeface="+mj-cs"/>
            </a:endParaRPr>
          </a:p>
        </p:txBody>
      </p:sp>
      <p:sp>
        <p:nvSpPr>
          <p:cNvPr id="38" name="Content Placeholder 14">
            <a:extLst>
              <a:ext uri="{FF2B5EF4-FFF2-40B4-BE49-F238E27FC236}">
                <a16:creationId xmlns:a16="http://schemas.microsoft.com/office/drawing/2014/main" id="{2EAD2AF6-EE4A-B6C1-AD8F-965B98CEAF1A}"/>
              </a:ext>
            </a:extLst>
          </p:cNvPr>
          <p:cNvSpPr txBox="1">
            <a:spLocks/>
          </p:cNvSpPr>
          <p:nvPr/>
        </p:nvSpPr>
        <p:spPr>
          <a:xfrm>
            <a:off x="305211" y="1520047"/>
            <a:ext cx="5316081" cy="622338"/>
          </a:xfrm>
          <a:prstGeom prst="rect">
            <a:avLst/>
          </a:prstGeom>
        </p:spPr>
        <p:txBody>
          <a:bodyPr vert="horz" wrap="square" lIns="0" tIns="0" rIns="0" bIns="0" rtlCol="0">
            <a:noAutofit/>
          </a:bodyPr>
          <a:lstStyle>
            <a:lvl1pPr marL="428625" indent="-428625" algn="l" defTabSz="1714500" rtl="0" eaLnBrk="1" latinLnBrk="0" hangingPunct="1">
              <a:lnSpc>
                <a:spcPct val="90000"/>
              </a:lnSpc>
              <a:spcBef>
                <a:spcPts val="1875"/>
              </a:spcBef>
              <a:buFont typeface="Arial" panose="020B0604020202020204" pitchFamily="34" charset="0"/>
              <a:buChar char="•"/>
              <a:defRPr sz="5250" kern="1200">
                <a:solidFill>
                  <a:schemeClr val="tx1"/>
                </a:solidFill>
                <a:latin typeface="+mn-lt"/>
                <a:ea typeface="+mn-ea"/>
                <a:cs typeface="+mn-cs"/>
              </a:defRPr>
            </a:lvl1pPr>
            <a:lvl2pPr marL="1285875" indent="-428625" algn="l" defTabSz="1714500" rtl="0" eaLnBrk="1" latinLnBrk="0" hangingPunct="1">
              <a:lnSpc>
                <a:spcPct val="90000"/>
              </a:lnSpc>
              <a:spcBef>
                <a:spcPts val="938"/>
              </a:spcBef>
              <a:buFont typeface="Arial" panose="020B0604020202020204" pitchFamily="34" charset="0"/>
              <a:buChar char="•"/>
              <a:defRPr sz="4500" kern="1200">
                <a:solidFill>
                  <a:schemeClr val="tx1"/>
                </a:solidFill>
                <a:latin typeface="+mn-lt"/>
                <a:ea typeface="+mn-ea"/>
                <a:cs typeface="+mn-cs"/>
              </a:defRPr>
            </a:lvl2pPr>
            <a:lvl3pPr marL="2143125" indent="-428625" algn="l" defTabSz="1714500" rtl="0" eaLnBrk="1" latinLnBrk="0" hangingPunct="1">
              <a:lnSpc>
                <a:spcPct val="90000"/>
              </a:lnSpc>
              <a:spcBef>
                <a:spcPts val="938"/>
              </a:spcBef>
              <a:buFont typeface="Arial" panose="020B0604020202020204" pitchFamily="34" charset="0"/>
              <a:buChar char="•"/>
              <a:defRPr sz="3750" kern="1200">
                <a:solidFill>
                  <a:schemeClr val="tx1"/>
                </a:solidFill>
                <a:latin typeface="+mn-lt"/>
                <a:ea typeface="+mn-ea"/>
                <a:cs typeface="+mn-cs"/>
              </a:defRPr>
            </a:lvl3pPr>
            <a:lvl4pPr marL="3000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4pPr>
            <a:lvl5pPr marL="3857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5pPr>
            <a:lvl6pPr marL="47148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6pPr>
            <a:lvl7pPr marL="55721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7pPr>
            <a:lvl8pPr marL="6429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8pPr>
            <a:lvl9pPr marL="7286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9pPr>
          </a:lstStyle>
          <a:p>
            <a:pPr marL="239713" marR="0" lvl="1" indent="-239713" algn="l" defTabSz="1714500" rtl="0" eaLnBrk="1" fontAlgn="auto" latinLnBrk="0" hangingPunct="1">
              <a:lnSpc>
                <a:spcPct val="90000"/>
              </a:lnSpc>
              <a:spcBef>
                <a:spcPts val="938"/>
              </a:spcBef>
              <a:spcAft>
                <a:spcPts val="0"/>
              </a:spcAft>
              <a:buClrTx/>
              <a:buSzTx/>
              <a:buFont typeface="Arial" panose="020B0604020202020204" pitchFamily="34" charset="0"/>
              <a:buAutoNum type="arabicPeriod"/>
              <a:defRPr/>
            </a:pPr>
            <a:r>
              <a:rPr kumimoji="0" lang="en-US" sz="1400" b="1"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Identify what actions your subsystem is responsible for</a:t>
            </a:r>
            <a:r>
              <a:rPr lang="en-US" sz="1400" b="1" dirty="0">
                <a:solidFill>
                  <a:schemeClr val="tx2">
                    <a:lumMod val="75000"/>
                  </a:schemeClr>
                </a:solidFill>
                <a:latin typeface="Calibri" panose="020F0502020204030204"/>
              </a:rPr>
              <a:t> and</a:t>
            </a:r>
            <a:r>
              <a:rPr kumimoji="0" lang="en-US" sz="1400" b="1"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 </a:t>
            </a:r>
            <a:r>
              <a:rPr kumimoji="0" lang="en-US" sz="1400" b="1" i="0" u="none" strike="noStrike" kern="1200" cap="none" spc="0" normalizeH="0" baseline="0" noProof="0" dirty="0" err="1">
                <a:ln>
                  <a:noFill/>
                </a:ln>
                <a:solidFill>
                  <a:schemeClr val="tx2">
                    <a:lumMod val="75000"/>
                  </a:schemeClr>
                </a:solidFill>
                <a:effectLst/>
                <a:uLnTx/>
                <a:uFillTx/>
                <a:latin typeface="Calibri" panose="020F0502020204030204"/>
                <a:ea typeface="+mn-ea"/>
                <a:cs typeface="+mn-cs"/>
              </a:rPr>
              <a:t>when+how</a:t>
            </a:r>
            <a:r>
              <a:rPr kumimoji="0" lang="en-US" sz="1400" b="1"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 they will occur</a:t>
            </a:r>
          </a:p>
        </p:txBody>
      </p:sp>
      <p:sp>
        <p:nvSpPr>
          <p:cNvPr id="39" name="Content Placeholder 14">
            <a:extLst>
              <a:ext uri="{FF2B5EF4-FFF2-40B4-BE49-F238E27FC236}">
                <a16:creationId xmlns:a16="http://schemas.microsoft.com/office/drawing/2014/main" id="{FB67463B-7E62-A958-5727-8B6B4CEE3C68}"/>
              </a:ext>
            </a:extLst>
          </p:cNvPr>
          <p:cNvSpPr txBox="1">
            <a:spLocks/>
          </p:cNvSpPr>
          <p:nvPr/>
        </p:nvSpPr>
        <p:spPr>
          <a:xfrm>
            <a:off x="305209" y="2142385"/>
            <a:ext cx="6311347" cy="770690"/>
          </a:xfrm>
          <a:prstGeom prst="rect">
            <a:avLst/>
          </a:prstGeom>
        </p:spPr>
        <p:txBody>
          <a:bodyPr vert="horz" wrap="square" lIns="0" tIns="0" rIns="0" bIns="0" rtlCol="0">
            <a:noAutofit/>
          </a:bodyPr>
          <a:lstStyle>
            <a:lvl1pPr marL="428625" indent="-428625" algn="l" defTabSz="1714500" rtl="0" eaLnBrk="1" latinLnBrk="0" hangingPunct="1">
              <a:lnSpc>
                <a:spcPct val="90000"/>
              </a:lnSpc>
              <a:spcBef>
                <a:spcPts val="1875"/>
              </a:spcBef>
              <a:buFont typeface="Arial" panose="020B0604020202020204" pitchFamily="34" charset="0"/>
              <a:buChar char="•"/>
              <a:defRPr sz="5250" kern="1200">
                <a:solidFill>
                  <a:schemeClr val="tx1"/>
                </a:solidFill>
                <a:latin typeface="+mn-lt"/>
                <a:ea typeface="+mn-ea"/>
                <a:cs typeface="+mn-cs"/>
              </a:defRPr>
            </a:lvl1pPr>
            <a:lvl2pPr marL="1285875" indent="-428625" algn="l" defTabSz="1714500" rtl="0" eaLnBrk="1" latinLnBrk="0" hangingPunct="1">
              <a:lnSpc>
                <a:spcPct val="90000"/>
              </a:lnSpc>
              <a:spcBef>
                <a:spcPts val="938"/>
              </a:spcBef>
              <a:buFont typeface="Arial" panose="020B0604020202020204" pitchFamily="34" charset="0"/>
              <a:buChar char="•"/>
              <a:defRPr sz="4500" kern="1200">
                <a:solidFill>
                  <a:schemeClr val="tx1"/>
                </a:solidFill>
                <a:latin typeface="+mn-lt"/>
                <a:ea typeface="+mn-ea"/>
                <a:cs typeface="+mn-cs"/>
              </a:defRPr>
            </a:lvl2pPr>
            <a:lvl3pPr marL="2143125" indent="-428625" algn="l" defTabSz="1714500" rtl="0" eaLnBrk="1" latinLnBrk="0" hangingPunct="1">
              <a:lnSpc>
                <a:spcPct val="90000"/>
              </a:lnSpc>
              <a:spcBef>
                <a:spcPts val="938"/>
              </a:spcBef>
              <a:buFont typeface="Arial" panose="020B0604020202020204" pitchFamily="34" charset="0"/>
              <a:buChar char="•"/>
              <a:defRPr sz="3750" kern="1200">
                <a:solidFill>
                  <a:schemeClr val="tx1"/>
                </a:solidFill>
                <a:latin typeface="+mn-lt"/>
                <a:ea typeface="+mn-ea"/>
                <a:cs typeface="+mn-cs"/>
              </a:defRPr>
            </a:lvl3pPr>
            <a:lvl4pPr marL="3000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4pPr>
            <a:lvl5pPr marL="3857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5pPr>
            <a:lvl6pPr marL="47148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6pPr>
            <a:lvl7pPr marL="55721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7pPr>
            <a:lvl8pPr marL="6429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8pPr>
            <a:lvl9pPr marL="7286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9pPr>
          </a:lstStyle>
          <a:p>
            <a:pPr marL="173038" marR="0" lvl="1" indent="-173038" algn="l" defTabSz="1714500" rtl="0" eaLnBrk="1" fontAlgn="auto" latinLnBrk="0" hangingPunct="1">
              <a:lnSpc>
                <a:spcPct val="90000"/>
              </a:lnSpc>
              <a:spcBef>
                <a:spcPts val="938"/>
              </a:spcBef>
              <a:spcAft>
                <a:spcPts val="0"/>
              </a:spcAft>
              <a:buClrTx/>
              <a:buSzTx/>
              <a:buNone/>
              <a:defRPr/>
            </a:pPr>
            <a:r>
              <a:rPr kumimoji="0" lang="en-US" sz="1400" b="1"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2. Break your actions into individual steps that concisely summarize what code for that action will do. Identify which symbols should represent that action.</a:t>
            </a:r>
            <a:endParaRPr lang="en-US" sz="1400" b="1" dirty="0">
              <a:solidFill>
                <a:schemeClr val="tx2">
                  <a:lumMod val="75000"/>
                </a:schemeClr>
              </a:solidFill>
              <a:latin typeface="Calibri" panose="020F0502020204030204"/>
            </a:endParaRPr>
          </a:p>
        </p:txBody>
      </p:sp>
      <p:sp>
        <p:nvSpPr>
          <p:cNvPr id="87" name="Content Placeholder 14">
            <a:extLst>
              <a:ext uri="{FF2B5EF4-FFF2-40B4-BE49-F238E27FC236}">
                <a16:creationId xmlns:a16="http://schemas.microsoft.com/office/drawing/2014/main" id="{D7951C5F-4274-04BC-2ADE-3A0E1468D89F}"/>
              </a:ext>
            </a:extLst>
          </p:cNvPr>
          <p:cNvSpPr txBox="1">
            <a:spLocks/>
          </p:cNvSpPr>
          <p:nvPr/>
        </p:nvSpPr>
        <p:spPr>
          <a:xfrm>
            <a:off x="305209" y="2846076"/>
            <a:ext cx="6306510" cy="581427"/>
          </a:xfrm>
          <a:prstGeom prst="rect">
            <a:avLst/>
          </a:prstGeom>
        </p:spPr>
        <p:txBody>
          <a:bodyPr vert="horz" wrap="square" lIns="0" tIns="0" rIns="0" bIns="0" rtlCol="0">
            <a:noAutofit/>
          </a:bodyPr>
          <a:lstStyle>
            <a:lvl1pPr marL="428625" indent="-428625" algn="l" defTabSz="1714500" rtl="0" eaLnBrk="1" latinLnBrk="0" hangingPunct="1">
              <a:lnSpc>
                <a:spcPct val="90000"/>
              </a:lnSpc>
              <a:spcBef>
                <a:spcPts val="1875"/>
              </a:spcBef>
              <a:buFont typeface="Arial" panose="020B0604020202020204" pitchFamily="34" charset="0"/>
              <a:buChar char="•"/>
              <a:defRPr sz="5250" kern="1200">
                <a:solidFill>
                  <a:schemeClr val="tx1"/>
                </a:solidFill>
                <a:latin typeface="+mn-lt"/>
                <a:ea typeface="+mn-ea"/>
                <a:cs typeface="+mn-cs"/>
              </a:defRPr>
            </a:lvl1pPr>
            <a:lvl2pPr marL="1285875" indent="-428625" algn="l" defTabSz="1714500" rtl="0" eaLnBrk="1" latinLnBrk="0" hangingPunct="1">
              <a:lnSpc>
                <a:spcPct val="90000"/>
              </a:lnSpc>
              <a:spcBef>
                <a:spcPts val="938"/>
              </a:spcBef>
              <a:buFont typeface="Arial" panose="020B0604020202020204" pitchFamily="34" charset="0"/>
              <a:buChar char="•"/>
              <a:defRPr sz="4500" kern="1200">
                <a:solidFill>
                  <a:schemeClr val="tx1"/>
                </a:solidFill>
                <a:latin typeface="+mn-lt"/>
                <a:ea typeface="+mn-ea"/>
                <a:cs typeface="+mn-cs"/>
              </a:defRPr>
            </a:lvl2pPr>
            <a:lvl3pPr marL="2143125" indent="-428625" algn="l" defTabSz="1714500" rtl="0" eaLnBrk="1" latinLnBrk="0" hangingPunct="1">
              <a:lnSpc>
                <a:spcPct val="90000"/>
              </a:lnSpc>
              <a:spcBef>
                <a:spcPts val="938"/>
              </a:spcBef>
              <a:buFont typeface="Arial" panose="020B0604020202020204" pitchFamily="34" charset="0"/>
              <a:buChar char="•"/>
              <a:defRPr sz="3750" kern="1200">
                <a:solidFill>
                  <a:schemeClr val="tx1"/>
                </a:solidFill>
                <a:latin typeface="+mn-lt"/>
                <a:ea typeface="+mn-ea"/>
                <a:cs typeface="+mn-cs"/>
              </a:defRPr>
            </a:lvl3pPr>
            <a:lvl4pPr marL="3000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4pPr>
            <a:lvl5pPr marL="3857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5pPr>
            <a:lvl6pPr marL="47148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6pPr>
            <a:lvl7pPr marL="55721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7pPr>
            <a:lvl8pPr marL="6429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8pPr>
            <a:lvl9pPr marL="7286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9pPr>
          </a:lstStyle>
          <a:p>
            <a:pPr marL="180975" marR="0" lvl="1" indent="-180975" algn="l" defTabSz="1714500" rtl="0" eaLnBrk="1" fontAlgn="auto" latinLnBrk="0" hangingPunct="1">
              <a:lnSpc>
                <a:spcPct val="90000"/>
              </a:lnSpc>
              <a:spcBef>
                <a:spcPts val="938"/>
              </a:spcBef>
              <a:spcAft>
                <a:spcPts val="0"/>
              </a:spcAft>
              <a:buClrTx/>
              <a:buSzTx/>
              <a:buNone/>
              <a:defRPr/>
            </a:pPr>
            <a:r>
              <a:rPr lang="en-US" sz="1400" b="1" dirty="0">
                <a:solidFill>
                  <a:schemeClr val="tx2">
                    <a:lumMod val="75000"/>
                  </a:schemeClr>
                </a:solidFill>
                <a:latin typeface="Calibri" panose="020F0502020204030204"/>
              </a:rPr>
              <a:t>3</a:t>
            </a:r>
            <a:r>
              <a:rPr kumimoji="0" lang="en-US" sz="1400" b="1"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 </a:t>
            </a:r>
            <a:r>
              <a:rPr lang="en-US" sz="1400" b="1" dirty="0">
                <a:solidFill>
                  <a:schemeClr val="tx2">
                    <a:lumMod val="75000"/>
                  </a:schemeClr>
                </a:solidFill>
                <a:latin typeface="Calibri" panose="020F0502020204030204"/>
              </a:rPr>
              <a:t>Begin diagramming by copying and pasting symbols, then editing the text. Feel free to change the text size or margins, but keep the colors and symbol types the same. </a:t>
            </a:r>
          </a:p>
        </p:txBody>
      </p:sp>
      <p:sp>
        <p:nvSpPr>
          <p:cNvPr id="2" name="Content Placeholder 14">
            <a:extLst>
              <a:ext uri="{FF2B5EF4-FFF2-40B4-BE49-F238E27FC236}">
                <a16:creationId xmlns:a16="http://schemas.microsoft.com/office/drawing/2014/main" id="{7F139710-FE3D-A26F-073B-445463912906}"/>
              </a:ext>
            </a:extLst>
          </p:cNvPr>
          <p:cNvSpPr txBox="1">
            <a:spLocks/>
          </p:cNvSpPr>
          <p:nvPr/>
        </p:nvSpPr>
        <p:spPr>
          <a:xfrm>
            <a:off x="305209" y="3577596"/>
            <a:ext cx="10611320" cy="581427"/>
          </a:xfrm>
          <a:prstGeom prst="rect">
            <a:avLst/>
          </a:prstGeom>
        </p:spPr>
        <p:txBody>
          <a:bodyPr vert="horz" wrap="square" lIns="0" tIns="0" rIns="0" bIns="0" rtlCol="0">
            <a:noAutofit/>
          </a:bodyPr>
          <a:lstStyle>
            <a:lvl1pPr marL="428625" indent="-428625" algn="l" defTabSz="1714500" rtl="0" eaLnBrk="1" latinLnBrk="0" hangingPunct="1">
              <a:lnSpc>
                <a:spcPct val="90000"/>
              </a:lnSpc>
              <a:spcBef>
                <a:spcPts val="1875"/>
              </a:spcBef>
              <a:buFont typeface="Arial" panose="020B0604020202020204" pitchFamily="34" charset="0"/>
              <a:buChar char="•"/>
              <a:defRPr sz="5250" kern="1200">
                <a:solidFill>
                  <a:schemeClr val="tx1"/>
                </a:solidFill>
                <a:latin typeface="+mn-lt"/>
                <a:ea typeface="+mn-ea"/>
                <a:cs typeface="+mn-cs"/>
              </a:defRPr>
            </a:lvl1pPr>
            <a:lvl2pPr marL="1285875" indent="-428625" algn="l" defTabSz="1714500" rtl="0" eaLnBrk="1" latinLnBrk="0" hangingPunct="1">
              <a:lnSpc>
                <a:spcPct val="90000"/>
              </a:lnSpc>
              <a:spcBef>
                <a:spcPts val="938"/>
              </a:spcBef>
              <a:buFont typeface="Arial" panose="020B0604020202020204" pitchFamily="34" charset="0"/>
              <a:buChar char="•"/>
              <a:defRPr sz="4500" kern="1200">
                <a:solidFill>
                  <a:schemeClr val="tx1"/>
                </a:solidFill>
                <a:latin typeface="+mn-lt"/>
                <a:ea typeface="+mn-ea"/>
                <a:cs typeface="+mn-cs"/>
              </a:defRPr>
            </a:lvl2pPr>
            <a:lvl3pPr marL="2143125" indent="-428625" algn="l" defTabSz="1714500" rtl="0" eaLnBrk="1" latinLnBrk="0" hangingPunct="1">
              <a:lnSpc>
                <a:spcPct val="90000"/>
              </a:lnSpc>
              <a:spcBef>
                <a:spcPts val="938"/>
              </a:spcBef>
              <a:buFont typeface="Arial" panose="020B0604020202020204" pitchFamily="34" charset="0"/>
              <a:buChar char="•"/>
              <a:defRPr sz="3750" kern="1200">
                <a:solidFill>
                  <a:schemeClr val="tx1"/>
                </a:solidFill>
                <a:latin typeface="+mn-lt"/>
                <a:ea typeface="+mn-ea"/>
                <a:cs typeface="+mn-cs"/>
              </a:defRPr>
            </a:lvl3pPr>
            <a:lvl4pPr marL="3000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4pPr>
            <a:lvl5pPr marL="3857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5pPr>
            <a:lvl6pPr marL="47148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6pPr>
            <a:lvl7pPr marL="55721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7pPr>
            <a:lvl8pPr marL="642937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8pPr>
            <a:lvl9pPr marL="7286625" indent="-428625" algn="l" defTabSz="1714500" rtl="0" eaLnBrk="1" latinLnBrk="0" hangingPunct="1">
              <a:lnSpc>
                <a:spcPct val="90000"/>
              </a:lnSpc>
              <a:spcBef>
                <a:spcPts val="938"/>
              </a:spcBef>
              <a:buFont typeface="Arial" panose="020B0604020202020204" pitchFamily="34" charset="0"/>
              <a:buChar char="•"/>
              <a:defRPr sz="3375" kern="1200">
                <a:solidFill>
                  <a:schemeClr val="tx1"/>
                </a:solidFill>
                <a:latin typeface="+mn-lt"/>
                <a:ea typeface="+mn-ea"/>
                <a:cs typeface="+mn-cs"/>
              </a:defRPr>
            </a:lvl9pPr>
          </a:lstStyle>
          <a:p>
            <a:pPr marL="180975" marR="0" lvl="1" indent="-180975" algn="l" defTabSz="1714500" rtl="0" eaLnBrk="1" fontAlgn="auto" latinLnBrk="0" hangingPunct="1">
              <a:lnSpc>
                <a:spcPct val="90000"/>
              </a:lnSpc>
              <a:spcBef>
                <a:spcPts val="938"/>
              </a:spcBef>
              <a:spcAft>
                <a:spcPts val="0"/>
              </a:spcAft>
              <a:buClrTx/>
              <a:buSzTx/>
              <a:buNone/>
              <a:defRPr/>
            </a:pPr>
            <a:r>
              <a:rPr kumimoji="0" lang="en-US" sz="1400" b="1" i="0" u="none" strike="noStrike" kern="1200" cap="none" spc="0" normalizeH="0" baseline="0" noProof="0" dirty="0">
                <a:ln>
                  <a:noFill/>
                </a:ln>
                <a:solidFill>
                  <a:schemeClr val="tx2">
                    <a:lumMod val="75000"/>
                  </a:schemeClr>
                </a:solidFill>
                <a:effectLst/>
                <a:uLnTx/>
                <a:uFillTx/>
                <a:latin typeface="Calibri" panose="020F0502020204030204"/>
                <a:ea typeface="+mn-ea"/>
                <a:cs typeface="+mn-cs"/>
              </a:rPr>
              <a:t>4. </a:t>
            </a:r>
            <a:r>
              <a:rPr lang="en-US" sz="1400" b="1" dirty="0">
                <a:solidFill>
                  <a:schemeClr val="tx2">
                    <a:lumMod val="75000"/>
                  </a:schemeClr>
                </a:solidFill>
                <a:latin typeface="Calibri" panose="020F0502020204030204"/>
              </a:rPr>
              <a:t>Use arrows to connect different symbols appropriately. Click and drag one end of the arrow until green circles appear on the shape you want to connect to. Connect the arrow to the desired side of the symbol.  Now the </a:t>
            </a:r>
            <a:r>
              <a:rPr lang="en-US" sz="1400" b="1" u="sng" dirty="0">
                <a:solidFill>
                  <a:schemeClr val="tx2">
                    <a:lumMod val="75000"/>
                  </a:schemeClr>
                </a:solidFill>
                <a:latin typeface="Calibri" panose="020F0502020204030204"/>
              </a:rPr>
              <a:t>symbol</a:t>
            </a:r>
            <a:r>
              <a:rPr lang="en-US" sz="1400" u="sng" dirty="0">
                <a:solidFill>
                  <a:schemeClr val="tx2">
                    <a:lumMod val="75000"/>
                  </a:schemeClr>
                </a:solidFill>
                <a:latin typeface="Calibri" panose="020F0502020204030204"/>
              </a:rPr>
              <a:t> </a:t>
            </a:r>
            <a:r>
              <a:rPr lang="en-US" sz="1400" b="1" dirty="0">
                <a:solidFill>
                  <a:schemeClr val="tx2">
                    <a:lumMod val="75000"/>
                  </a:schemeClr>
                </a:solidFill>
                <a:latin typeface="Calibri" panose="020F0502020204030204"/>
              </a:rPr>
              <a:t>can be moved, and the arrow will adjust with it. </a:t>
            </a:r>
          </a:p>
        </p:txBody>
      </p:sp>
      <p:pic>
        <p:nvPicPr>
          <p:cNvPr id="3" name="Picture 2">
            <a:extLst>
              <a:ext uri="{FF2B5EF4-FFF2-40B4-BE49-F238E27FC236}">
                <a16:creationId xmlns:a16="http://schemas.microsoft.com/office/drawing/2014/main" id="{6DC248BE-A9F5-6E41-91B3-B1FF57470393}"/>
              </a:ext>
            </a:extLst>
          </p:cNvPr>
          <p:cNvPicPr>
            <a:picLocks noChangeAspect="1"/>
          </p:cNvPicPr>
          <p:nvPr/>
        </p:nvPicPr>
        <p:blipFill>
          <a:blip r:embed="rId2"/>
          <a:stretch>
            <a:fillRect/>
          </a:stretch>
        </p:blipFill>
        <p:spPr>
          <a:xfrm>
            <a:off x="845701" y="4429903"/>
            <a:ext cx="3073400" cy="1816100"/>
          </a:xfrm>
          <a:prstGeom prst="rect">
            <a:avLst/>
          </a:prstGeom>
        </p:spPr>
      </p:pic>
      <p:grpSp>
        <p:nvGrpSpPr>
          <p:cNvPr id="13" name="Group 12">
            <a:extLst>
              <a:ext uri="{FF2B5EF4-FFF2-40B4-BE49-F238E27FC236}">
                <a16:creationId xmlns:a16="http://schemas.microsoft.com/office/drawing/2014/main" id="{C6FAB50D-7F54-DFB2-51A8-73ABF916E618}"/>
              </a:ext>
            </a:extLst>
          </p:cNvPr>
          <p:cNvGrpSpPr/>
          <p:nvPr/>
        </p:nvGrpSpPr>
        <p:grpSpPr>
          <a:xfrm>
            <a:off x="4262217" y="4429903"/>
            <a:ext cx="3073400" cy="1816100"/>
            <a:chOff x="4197533" y="4429903"/>
            <a:chExt cx="3073400" cy="1816100"/>
          </a:xfrm>
        </p:grpSpPr>
        <p:pic>
          <p:nvPicPr>
            <p:cNvPr id="6" name="Picture 5">
              <a:extLst>
                <a:ext uri="{FF2B5EF4-FFF2-40B4-BE49-F238E27FC236}">
                  <a16:creationId xmlns:a16="http://schemas.microsoft.com/office/drawing/2014/main" id="{03C23123-BCD5-85C6-0387-0A851AF8CB23}"/>
                </a:ext>
              </a:extLst>
            </p:cNvPr>
            <p:cNvPicPr>
              <a:picLocks noChangeAspect="1"/>
            </p:cNvPicPr>
            <p:nvPr/>
          </p:nvPicPr>
          <p:blipFill>
            <a:blip r:embed="rId3"/>
            <a:stretch>
              <a:fillRect/>
            </a:stretch>
          </p:blipFill>
          <p:spPr>
            <a:xfrm>
              <a:off x="4197533" y="4429903"/>
              <a:ext cx="3073400" cy="1816100"/>
            </a:xfrm>
            <a:prstGeom prst="rect">
              <a:avLst/>
            </a:prstGeom>
          </p:spPr>
        </p:pic>
        <p:pic>
          <p:nvPicPr>
            <p:cNvPr id="8" name="Picture 7">
              <a:extLst>
                <a:ext uri="{FF2B5EF4-FFF2-40B4-BE49-F238E27FC236}">
                  <a16:creationId xmlns:a16="http://schemas.microsoft.com/office/drawing/2014/main" id="{4EC2C3AD-D2AE-71C0-36EC-E541A508D809}"/>
                </a:ext>
              </a:extLst>
            </p:cNvPr>
            <p:cNvPicPr>
              <a:picLocks noChangeAspect="1"/>
            </p:cNvPicPr>
            <p:nvPr/>
          </p:nvPicPr>
          <p:blipFill>
            <a:blip r:embed="rId4"/>
            <a:stretch>
              <a:fillRect/>
            </a:stretch>
          </p:blipFill>
          <p:spPr>
            <a:xfrm>
              <a:off x="5852160" y="5319028"/>
              <a:ext cx="984737" cy="622300"/>
            </a:xfrm>
            <a:prstGeom prst="rect">
              <a:avLst/>
            </a:prstGeom>
          </p:spPr>
        </p:pic>
        <p:pic>
          <p:nvPicPr>
            <p:cNvPr id="9" name="Picture 8">
              <a:extLst>
                <a:ext uri="{FF2B5EF4-FFF2-40B4-BE49-F238E27FC236}">
                  <a16:creationId xmlns:a16="http://schemas.microsoft.com/office/drawing/2014/main" id="{097FA25E-FDE0-DFDA-2356-24A2AC015076}"/>
                </a:ext>
              </a:extLst>
            </p:cNvPr>
            <p:cNvPicPr>
              <a:picLocks noChangeAspect="1"/>
            </p:cNvPicPr>
            <p:nvPr/>
          </p:nvPicPr>
          <p:blipFill>
            <a:blip r:embed="rId4"/>
            <a:stretch>
              <a:fillRect/>
            </a:stretch>
          </p:blipFill>
          <p:spPr>
            <a:xfrm>
              <a:off x="5641145" y="5375299"/>
              <a:ext cx="984737" cy="622300"/>
            </a:xfrm>
            <a:prstGeom prst="rect">
              <a:avLst/>
            </a:prstGeom>
          </p:spPr>
        </p:pic>
        <p:pic>
          <p:nvPicPr>
            <p:cNvPr id="10" name="Picture 9">
              <a:extLst>
                <a:ext uri="{FF2B5EF4-FFF2-40B4-BE49-F238E27FC236}">
                  <a16:creationId xmlns:a16="http://schemas.microsoft.com/office/drawing/2014/main" id="{2151444F-F5F6-D236-C027-90821EE3E709}"/>
                </a:ext>
              </a:extLst>
            </p:cNvPr>
            <p:cNvPicPr>
              <a:picLocks noChangeAspect="1"/>
            </p:cNvPicPr>
            <p:nvPr/>
          </p:nvPicPr>
          <p:blipFill>
            <a:blip r:embed="rId4"/>
            <a:stretch>
              <a:fillRect/>
            </a:stretch>
          </p:blipFill>
          <p:spPr>
            <a:xfrm>
              <a:off x="5556738" y="5375299"/>
              <a:ext cx="984737" cy="622300"/>
            </a:xfrm>
            <a:prstGeom prst="rect">
              <a:avLst/>
            </a:prstGeom>
          </p:spPr>
        </p:pic>
      </p:grpSp>
      <p:grpSp>
        <p:nvGrpSpPr>
          <p:cNvPr id="12" name="Group 11">
            <a:extLst>
              <a:ext uri="{FF2B5EF4-FFF2-40B4-BE49-F238E27FC236}">
                <a16:creationId xmlns:a16="http://schemas.microsoft.com/office/drawing/2014/main" id="{727D9978-A48D-94B0-BE69-5F11C7FD5F23}"/>
              </a:ext>
            </a:extLst>
          </p:cNvPr>
          <p:cNvGrpSpPr/>
          <p:nvPr/>
        </p:nvGrpSpPr>
        <p:grpSpPr>
          <a:xfrm>
            <a:off x="7678733" y="4429903"/>
            <a:ext cx="3073400" cy="1816100"/>
            <a:chOff x="7678733" y="4429903"/>
            <a:chExt cx="3073400" cy="1816100"/>
          </a:xfrm>
        </p:grpSpPr>
        <p:pic>
          <p:nvPicPr>
            <p:cNvPr id="7" name="Picture 6">
              <a:extLst>
                <a:ext uri="{FF2B5EF4-FFF2-40B4-BE49-F238E27FC236}">
                  <a16:creationId xmlns:a16="http://schemas.microsoft.com/office/drawing/2014/main" id="{EB1629F6-41BA-17A9-8CAC-C1D876EC0E50}"/>
                </a:ext>
              </a:extLst>
            </p:cNvPr>
            <p:cNvPicPr>
              <a:picLocks noChangeAspect="1"/>
            </p:cNvPicPr>
            <p:nvPr/>
          </p:nvPicPr>
          <p:blipFill>
            <a:blip r:embed="rId5"/>
            <a:stretch>
              <a:fillRect/>
            </a:stretch>
          </p:blipFill>
          <p:spPr>
            <a:xfrm>
              <a:off x="7678733" y="4429903"/>
              <a:ext cx="3073400" cy="1816100"/>
            </a:xfrm>
            <a:prstGeom prst="rect">
              <a:avLst/>
            </a:prstGeom>
          </p:spPr>
        </p:pic>
        <p:pic>
          <p:nvPicPr>
            <p:cNvPr id="11" name="Picture 10">
              <a:extLst>
                <a:ext uri="{FF2B5EF4-FFF2-40B4-BE49-F238E27FC236}">
                  <a16:creationId xmlns:a16="http://schemas.microsoft.com/office/drawing/2014/main" id="{01655848-8446-3A2A-8A18-9BAEFC2FBA45}"/>
                </a:ext>
              </a:extLst>
            </p:cNvPr>
            <p:cNvPicPr>
              <a:picLocks noChangeAspect="1"/>
            </p:cNvPicPr>
            <p:nvPr/>
          </p:nvPicPr>
          <p:blipFill>
            <a:blip r:embed="rId4"/>
            <a:stretch>
              <a:fillRect/>
            </a:stretch>
          </p:blipFill>
          <p:spPr>
            <a:xfrm>
              <a:off x="9045526" y="5486400"/>
              <a:ext cx="1589649" cy="623741"/>
            </a:xfrm>
            <a:prstGeom prst="rect">
              <a:avLst/>
            </a:prstGeom>
          </p:spPr>
        </p:pic>
      </p:grpSp>
      <p:cxnSp>
        <p:nvCxnSpPr>
          <p:cNvPr id="15" name="Straight Arrow Connector 14">
            <a:extLst>
              <a:ext uri="{FF2B5EF4-FFF2-40B4-BE49-F238E27FC236}">
                <a16:creationId xmlns:a16="http://schemas.microsoft.com/office/drawing/2014/main" id="{28C77DFB-1096-0ADB-7366-351E1FB94D1D}"/>
              </a:ext>
            </a:extLst>
          </p:cNvPr>
          <p:cNvCxnSpPr/>
          <p:nvPr/>
        </p:nvCxnSpPr>
        <p:spPr>
          <a:xfrm flipH="1">
            <a:off x="5916844" y="4159023"/>
            <a:ext cx="689315" cy="1046023"/>
          </a:xfrm>
          <a:prstGeom prst="straightConnector1">
            <a:avLst/>
          </a:prstGeom>
          <a:ln w="60325">
            <a:solidFill>
              <a:schemeClr val="accent4"/>
            </a:solidFill>
            <a:tailEnd type="triangle"/>
          </a:ln>
          <a:effectLst>
            <a:glow rad="38100">
              <a:schemeClr val="bg1"/>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945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B5A592A-015D-FF5B-846E-4E967D4B652C}"/>
              </a:ext>
            </a:extLst>
          </p:cNvPr>
          <p:cNvSpPr txBox="1"/>
          <p:nvPr/>
        </p:nvSpPr>
        <p:spPr>
          <a:xfrm>
            <a:off x="0" y="0"/>
            <a:ext cx="5034224" cy="984885"/>
          </a:xfrm>
          <a:prstGeom prst="rect">
            <a:avLst/>
          </a:prstGeom>
          <a:noFill/>
        </p:spPr>
        <p:txBody>
          <a:bodyPr wrap="square" rtlCol="0" anchor="ctr">
            <a:spAutoFit/>
          </a:bodyPr>
          <a:lstStyle/>
          <a:p>
            <a:r>
              <a:t>CubeSat EPS</a:t>
            </a:r>
          </a:p>
          <a:p>
            <a:r>
              <a:t>System Overview Flowchart (LEVEL 0)</a:t>
            </a:r>
          </a:p>
        </p:txBody>
      </p:sp>
      <p:sp>
        <p:nvSpPr>
          <p:cNvPr id="7" name="Rounded Rectangle 6"/>
          <p:cNvSpPr/>
          <p:nvPr/>
        </p:nvSpPr>
        <p:spPr>
          <a:xfrm>
            <a:off x="3794760" y="457200"/>
            <a:ext cx="1280160" cy="320040"/>
          </a:xfrm>
          <a:prstGeom prst="roundRect">
            <a:avLst/>
          </a:prstGeom>
          <a:solidFill>
            <a:srgbClr val="92D05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0000"/>
                </a:solidFill>
              </a:defRPr>
            </a:pPr>
            <a:r>
              <a:t>Start</a:t>
            </a:r>
          </a:p>
        </p:txBody>
      </p:sp>
      <p:sp>
        <p:nvSpPr>
          <p:cNvPr id="8" name="Rectangle 7"/>
          <p:cNvSpPr/>
          <p:nvPr/>
        </p:nvSpPr>
        <p:spPr>
          <a:xfrm>
            <a:off x="3520440" y="914400"/>
            <a:ext cx="1828800" cy="41148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Initialize Hardware</a:t>
            </a:r>
            <a:br/>
            <a:r>
              <a:t>(USB, I2C)</a:t>
            </a:r>
          </a:p>
        </p:txBody>
      </p:sp>
      <p:sp>
        <p:nvSpPr>
          <p:cNvPr id="9" name="Rounded Rectangle 8"/>
          <p:cNvSpPr/>
          <p:nvPr/>
        </p:nvSpPr>
        <p:spPr>
          <a:xfrm>
            <a:off x="548640" y="1508760"/>
            <a:ext cx="1828800" cy="228600"/>
          </a:xfrm>
          <a:prstGeom prst="roundRect">
            <a:avLst/>
          </a:prstGeom>
          <a:solidFill>
            <a:srgbClr val="E0E0E0"/>
          </a:solidFill>
          <a:ln>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WiFi Task (Priority 2)</a:t>
            </a:r>
          </a:p>
        </p:txBody>
      </p:sp>
      <p:sp>
        <p:nvSpPr>
          <p:cNvPr id="10" name="Rounded Rectangle 9"/>
          <p:cNvSpPr/>
          <p:nvPr/>
        </p:nvSpPr>
        <p:spPr>
          <a:xfrm>
            <a:off x="3520440" y="1508760"/>
            <a:ext cx="1828800" cy="228600"/>
          </a:xfrm>
          <a:prstGeom prst="roundRect">
            <a:avLst/>
          </a:prstGeom>
          <a:solidFill>
            <a:srgbClr val="E0E0E0"/>
          </a:solidFill>
          <a:ln>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Sensor Task (Priority 1)</a:t>
            </a:r>
          </a:p>
        </p:txBody>
      </p:sp>
      <p:sp>
        <p:nvSpPr>
          <p:cNvPr id="11" name="Rounded Rectangle 10"/>
          <p:cNvSpPr/>
          <p:nvPr/>
        </p:nvSpPr>
        <p:spPr>
          <a:xfrm>
            <a:off x="6492240" y="1508760"/>
            <a:ext cx="1828800" cy="228600"/>
          </a:xfrm>
          <a:prstGeom prst="roundRect">
            <a:avLst/>
          </a:prstGeom>
          <a:solidFill>
            <a:srgbClr val="E0E0E0"/>
          </a:solidFill>
          <a:ln>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Webserver Task (Priority 1)</a:t>
            </a:r>
          </a:p>
        </p:txBody>
      </p:sp>
      <p:sp>
        <p:nvSpPr>
          <p:cNvPr id="12" name="Rectangle 11"/>
          <p:cNvSpPr/>
          <p:nvPr/>
        </p:nvSpPr>
        <p:spPr>
          <a:xfrm>
            <a:off x="548640" y="1874520"/>
            <a:ext cx="1828800" cy="50292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Start WiFi AP</a:t>
            </a:r>
            <a:br/>
            <a:r>
              <a:t>"Pico2W-AP"</a:t>
            </a:r>
          </a:p>
        </p:txBody>
      </p:sp>
      <p:sp>
        <p:nvSpPr>
          <p:cNvPr id="13" name="Rectangle 12"/>
          <p:cNvSpPr/>
          <p:nvPr/>
        </p:nvSpPr>
        <p:spPr>
          <a:xfrm>
            <a:off x="3520440" y="1874520"/>
            <a:ext cx="1828800" cy="50292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Init INA238</a:t>
            </a:r>
            <a:br/>
            <a:r>
              <a:t>Init BME280</a:t>
            </a:r>
          </a:p>
        </p:txBody>
      </p:sp>
      <p:sp>
        <p:nvSpPr>
          <p:cNvPr id="14" name="Rectangle 13"/>
          <p:cNvSpPr/>
          <p:nvPr/>
        </p:nvSpPr>
        <p:spPr>
          <a:xfrm>
            <a:off x="6492240" y="1874520"/>
            <a:ext cx="1828800" cy="50292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Wait for WiFi</a:t>
            </a:r>
          </a:p>
        </p:txBody>
      </p:sp>
      <p:sp>
        <p:nvSpPr>
          <p:cNvPr id="15" name="Rectangle 14"/>
          <p:cNvSpPr/>
          <p:nvPr/>
        </p:nvSpPr>
        <p:spPr>
          <a:xfrm>
            <a:off x="548640" y="2514600"/>
            <a:ext cx="1828800" cy="50292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Start DHCP Server</a:t>
            </a:r>
            <a:br/>
            <a:r>
              <a:t>192.168.4.x</a:t>
            </a:r>
          </a:p>
        </p:txBody>
      </p:sp>
      <p:sp>
        <p:nvSpPr>
          <p:cNvPr id="16" name="Rounded Rectangle 15"/>
          <p:cNvSpPr/>
          <p:nvPr/>
        </p:nvSpPr>
        <p:spPr>
          <a:xfrm>
            <a:off x="3520440" y="2651760"/>
            <a:ext cx="1828800" cy="228600"/>
          </a:xfrm>
          <a:prstGeom prst="roundRect">
            <a:avLst/>
          </a:prstGeom>
          <a:solidFill>
            <a:srgbClr val="E0E0E0"/>
          </a:solidFill>
          <a:ln>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loop() - every 1 sec</a:t>
            </a:r>
          </a:p>
        </p:txBody>
      </p:sp>
      <p:sp>
        <p:nvSpPr>
          <p:cNvPr id="17" name="Rectangle 16"/>
          <p:cNvSpPr/>
          <p:nvPr/>
        </p:nvSpPr>
        <p:spPr>
          <a:xfrm>
            <a:off x="6492240" y="2514600"/>
            <a:ext cx="1828800" cy="50292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Start HTTP Server</a:t>
            </a:r>
            <a:br/>
            <a:r>
              <a:t>Port 80</a:t>
            </a:r>
          </a:p>
        </p:txBody>
      </p:sp>
      <p:sp>
        <p:nvSpPr>
          <p:cNvPr id="18" name="Hexagon 17"/>
          <p:cNvSpPr/>
          <p:nvPr/>
        </p:nvSpPr>
        <p:spPr>
          <a:xfrm>
            <a:off x="548640" y="3154680"/>
            <a:ext cx="1828800" cy="411480"/>
          </a:xfrm>
          <a:prstGeom prst="hexagon">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Handle DHCP</a:t>
            </a:r>
            <a:br/>
            <a:r>
              <a:t>Requests</a:t>
            </a:r>
          </a:p>
        </p:txBody>
      </p:sp>
      <p:sp>
        <p:nvSpPr>
          <p:cNvPr id="19" name="Parallelogram 18"/>
          <p:cNvSpPr/>
          <p:nvPr/>
        </p:nvSpPr>
        <p:spPr>
          <a:xfrm>
            <a:off x="3520440" y="3154680"/>
            <a:ext cx="1828800" cy="365760"/>
          </a:xfrm>
          <a:prstGeom prst="parallelogram">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Read INA238 (V, I, P)</a:t>
            </a:r>
          </a:p>
        </p:txBody>
      </p:sp>
      <p:sp>
        <p:nvSpPr>
          <p:cNvPr id="20" name="Hexagon 19"/>
          <p:cNvSpPr/>
          <p:nvPr/>
        </p:nvSpPr>
        <p:spPr>
          <a:xfrm>
            <a:off x="6492240" y="3154680"/>
            <a:ext cx="1828800" cy="411480"/>
          </a:xfrm>
          <a:prstGeom prst="hexagon">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Handle HTTP</a:t>
            </a:r>
            <a:br/>
            <a:r>
              <a:t>Requests</a:t>
            </a:r>
          </a:p>
        </p:txBody>
      </p:sp>
      <p:sp>
        <p:nvSpPr>
          <p:cNvPr id="21" name="Parallelogram 20"/>
          <p:cNvSpPr/>
          <p:nvPr/>
        </p:nvSpPr>
        <p:spPr>
          <a:xfrm>
            <a:off x="3520440" y="3657600"/>
            <a:ext cx="1828800" cy="365760"/>
          </a:xfrm>
          <a:prstGeom prst="parallelogram">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Read BME280 (T, H)</a:t>
            </a:r>
          </a:p>
        </p:txBody>
      </p:sp>
      <p:sp>
        <p:nvSpPr>
          <p:cNvPr id="22" name="Rectangle 21"/>
          <p:cNvSpPr/>
          <p:nvPr/>
        </p:nvSpPr>
        <p:spPr>
          <a:xfrm>
            <a:off x="3520440" y="4160520"/>
            <a:ext cx="1828800" cy="50292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Store in sensor_data_t</a:t>
            </a:r>
            <a:br/>
            <a:r>
              <a:t>(mutex protected)</a:t>
            </a:r>
          </a:p>
        </p:txBody>
      </p:sp>
      <p:sp>
        <p:nvSpPr>
          <p:cNvPr id="23" name="Rounded Rectangle 22"/>
          <p:cNvSpPr/>
          <p:nvPr/>
        </p:nvSpPr>
        <p:spPr>
          <a:xfrm>
            <a:off x="5440680" y="4251960"/>
            <a:ext cx="914400" cy="182880"/>
          </a:xfrm>
          <a:prstGeom prst="roundRect">
            <a:avLst/>
          </a:prstGeom>
          <a:solidFill>
            <a:srgbClr val="E0E0E0"/>
          </a:solidFill>
          <a:ln>
            <a:prstDash val="solid"/>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SSI data</a:t>
            </a:r>
          </a:p>
        </p:txBody>
      </p:sp>
      <p:sp>
        <p:nvSpPr>
          <p:cNvPr id="24" name="Rectangle 23"/>
          <p:cNvSpPr/>
          <p:nvPr/>
        </p:nvSpPr>
        <p:spPr>
          <a:xfrm>
            <a:off x="3520440" y="4800600"/>
            <a:ext cx="1828800" cy="502920"/>
          </a:xfrm>
          <a:prstGeom prst="rect">
            <a:avLst/>
          </a:prstGeom>
          <a:solidFill>
            <a:srgbClr val="FFC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Wait poll_interval</a:t>
            </a:r>
            <a:br/>
            <a:r>
              <a:t>vTaskDelayUntil()</a:t>
            </a:r>
          </a:p>
        </p:txBody>
      </p:sp>
      <p:sp>
        <p:nvSpPr>
          <p:cNvPr id="25" name="Parallelogram 24"/>
          <p:cNvSpPr/>
          <p:nvPr/>
        </p:nvSpPr>
        <p:spPr>
          <a:xfrm>
            <a:off x="6492240" y="4800600"/>
            <a:ext cx="1828800" cy="365760"/>
          </a:xfrm>
          <a:prstGeom prst="parallelogram">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000000"/>
                </a:solidFill>
              </a:defRPr>
            </a:pPr>
            <a:r>
              <a:t>Generate Web Page</a:t>
            </a:r>
            <a:br/>
            <a:r>
              <a:t>(SSI tags)</a:t>
            </a:r>
          </a:p>
        </p:txBody>
      </p:sp>
      <p:sp>
        <p:nvSpPr>
          <p:cNvPr id="26" name="Rounded Rectangle 25"/>
          <p:cNvSpPr/>
          <p:nvPr/>
        </p:nvSpPr>
        <p:spPr>
          <a:xfrm>
            <a:off x="548640" y="5394960"/>
            <a:ext cx="1828800" cy="228600"/>
          </a:xfrm>
          <a:prstGeom prst="roundRect">
            <a:avLst/>
          </a:prstGeom>
          <a:solidFill>
            <a:srgbClr val="E0E0E0"/>
          </a:solidFill>
          <a:ln>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Loop (idle)</a:t>
            </a:r>
          </a:p>
        </p:txBody>
      </p:sp>
      <p:sp>
        <p:nvSpPr>
          <p:cNvPr id="27" name="Rounded Rectangle 26"/>
          <p:cNvSpPr/>
          <p:nvPr/>
        </p:nvSpPr>
        <p:spPr>
          <a:xfrm>
            <a:off x="3520440" y="5394960"/>
            <a:ext cx="1828800" cy="228600"/>
          </a:xfrm>
          <a:prstGeom prst="roundRect">
            <a:avLst/>
          </a:prstGeom>
          <a:solidFill>
            <a:srgbClr val="E0E0E0"/>
          </a:solidFill>
          <a:ln>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Loop again</a:t>
            </a:r>
          </a:p>
        </p:txBody>
      </p:sp>
      <p:sp>
        <p:nvSpPr>
          <p:cNvPr id="28" name="Rounded Rectangle 27"/>
          <p:cNvSpPr/>
          <p:nvPr/>
        </p:nvSpPr>
        <p:spPr>
          <a:xfrm>
            <a:off x="6492240" y="5394960"/>
            <a:ext cx="1828800" cy="228600"/>
          </a:xfrm>
          <a:prstGeom prst="roundRect">
            <a:avLst/>
          </a:prstGeom>
          <a:solidFill>
            <a:srgbClr val="E0E0E0"/>
          </a:solidFill>
          <a:ln>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i="1">
                <a:solidFill>
                  <a:srgbClr val="000000"/>
                </a:solidFill>
              </a:defRPr>
            </a:pPr>
            <a:r>
              <a:t>Loop (wait for request)</a:t>
            </a:r>
          </a:p>
        </p:txBody>
      </p:sp>
      <p:sp>
        <p:nvSpPr>
          <p:cNvPr id="29" name="Rectangle 28"/>
          <p:cNvSpPr/>
          <p:nvPr/>
        </p:nvSpPr>
        <p:spPr>
          <a:xfrm>
            <a:off x="274320" y="5852160"/>
            <a:ext cx="8595360" cy="914400"/>
          </a:xfrm>
          <a:prstGeom prst="rect">
            <a:avLst/>
          </a:prstGeom>
          <a:solidFill>
            <a:srgbClr val="F0F0F0"/>
          </a:solidFill>
          <a:ln>
            <a:solidFill>
              <a:srgbClr val="80808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Quick Reference:  WiFi SSID: Pico2W-AP  |  Password: password123  |  AP IP: 192.168.4.1  |  I2C: GPIO 4/5  |  Poll: 1000ms  |  Web refresh: 3s</a:t>
            </a:r>
          </a:p>
        </p:txBody>
      </p:sp>
      <p:cxnSp>
        <p:nvCxnSpPr>
          <p:cNvPr id="30" name="Connector 29"/>
          <p:cNvCxnSpPr/>
          <p:nvPr/>
        </p:nvCxnSpPr>
        <p:spPr>
          <a:xfrm>
            <a:off x="4434840" y="77724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34840" y="132588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377440" y="1417320"/>
            <a:ext cx="1143000" cy="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349240" y="1417320"/>
            <a:ext cx="1143000" cy="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63040" y="1783080"/>
            <a:ext cx="0" cy="18288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34840" y="1783080"/>
            <a:ext cx="0" cy="18288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406640" y="1783080"/>
            <a:ext cx="0" cy="18288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63040" y="246888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63040" y="324612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434840" y="2468880"/>
            <a:ext cx="0" cy="27432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434840" y="310896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434840" y="3611880"/>
            <a:ext cx="0" cy="137159"/>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34840" y="425196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34840" y="4892040"/>
            <a:ext cx="0" cy="18288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406640" y="246888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406640" y="3246120"/>
            <a:ext cx="0" cy="137160"/>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349240" y="3977639"/>
            <a:ext cx="1143000" cy="411481"/>
          </a:xfrm>
          <a:prstGeom prst="line">
            <a:avLst/>
          </a:prstGeom>
          <a:ln w="19050">
            <a:solidFill>
              <a:srgbClr val="50008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8300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6029-091B-25F3-F4A7-0202E89C2618}"/>
              </a:ext>
            </a:extLst>
          </p:cNvPr>
          <p:cNvSpPr>
            <a:spLocks noGrp="1"/>
          </p:cNvSpPr>
          <p:nvPr>
            <p:ph type="title"/>
          </p:nvPr>
        </p:nvSpPr>
        <p:spPr>
          <a:xfrm>
            <a:off x="838200" y="2766219"/>
            <a:ext cx="10515600" cy="1325563"/>
          </a:xfrm>
        </p:spPr>
        <p:txBody>
          <a:bodyPr>
            <a:noAutofit/>
          </a:bodyPr>
          <a:lstStyle/>
          <a:p>
            <a:pPr algn="ctr"/>
            <a:r>
              <a:rPr lang="en-US" sz="5400" dirty="0"/>
              <a:t>Examples for reference are included on the remaining slides</a:t>
            </a:r>
          </a:p>
        </p:txBody>
      </p:sp>
    </p:spTree>
    <p:extLst>
      <p:ext uri="{BB962C8B-B14F-4D97-AF65-F5344CB8AC3E}">
        <p14:creationId xmlns:p14="http://schemas.microsoft.com/office/powerpoint/2010/main" val="3036477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81B4CE3-DA02-B361-6FE9-8FF5CA93448D}"/>
              </a:ext>
            </a:extLst>
          </p:cNvPr>
          <p:cNvGrpSpPr/>
          <p:nvPr/>
        </p:nvGrpSpPr>
        <p:grpSpPr>
          <a:xfrm>
            <a:off x="0" y="-12526"/>
            <a:ext cx="12192000" cy="6858000"/>
            <a:chOff x="0" y="-12526"/>
            <a:chExt cx="12192000" cy="6858000"/>
          </a:xfrm>
          <a:effectLst/>
        </p:grpSpPr>
        <p:grpSp>
          <p:nvGrpSpPr>
            <p:cNvPr id="9" name="Group 8">
              <a:extLst>
                <a:ext uri="{FF2B5EF4-FFF2-40B4-BE49-F238E27FC236}">
                  <a16:creationId xmlns:a16="http://schemas.microsoft.com/office/drawing/2014/main" id="{4AE95571-D748-2B05-9C5E-0547612AA98F}"/>
                </a:ext>
              </a:extLst>
            </p:cNvPr>
            <p:cNvGrpSpPr/>
            <p:nvPr/>
          </p:nvGrpSpPr>
          <p:grpSpPr>
            <a:xfrm>
              <a:off x="0" y="-12526"/>
              <a:ext cx="12192000" cy="6858000"/>
              <a:chOff x="0" y="-12526"/>
              <a:chExt cx="12192000" cy="6858000"/>
            </a:xfrm>
          </p:grpSpPr>
          <p:sp>
            <p:nvSpPr>
              <p:cNvPr id="13" name="Triangle 12">
                <a:extLst>
                  <a:ext uri="{FF2B5EF4-FFF2-40B4-BE49-F238E27FC236}">
                    <a16:creationId xmlns:a16="http://schemas.microsoft.com/office/drawing/2014/main" id="{090A4143-A740-3C28-6EE3-A779E46A96C0}"/>
                  </a:ext>
                </a:extLst>
              </p:cNvPr>
              <p:cNvSpPr/>
              <p:nvPr/>
            </p:nvSpPr>
            <p:spPr>
              <a:xfrm rot="10800000" flipH="1">
                <a:off x="1" y="-4"/>
                <a:ext cx="575037" cy="3569922"/>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riangle 13">
                <a:extLst>
                  <a:ext uri="{FF2B5EF4-FFF2-40B4-BE49-F238E27FC236}">
                    <a16:creationId xmlns:a16="http://schemas.microsoft.com/office/drawing/2014/main" id="{86D12F55-21B9-42EB-C9C5-806DFEDAED4E}"/>
                  </a:ext>
                </a:extLst>
              </p:cNvPr>
              <p:cNvSpPr/>
              <p:nvPr/>
            </p:nvSpPr>
            <p:spPr>
              <a:xfrm rot="10800000" flipH="1">
                <a:off x="1" y="0"/>
                <a:ext cx="225468" cy="2868460"/>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663B6BA-C74F-1A0E-BB81-3AC167B22FC9}"/>
                  </a:ext>
                </a:extLst>
              </p:cNvPr>
              <p:cNvSpPr/>
              <p:nvPr/>
            </p:nvSpPr>
            <p:spPr>
              <a:xfrm>
                <a:off x="0" y="-12526"/>
                <a:ext cx="12192000" cy="6858000"/>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9">
              <a:extLst>
                <a:ext uri="{FF2B5EF4-FFF2-40B4-BE49-F238E27FC236}">
                  <a16:creationId xmlns:a16="http://schemas.microsoft.com/office/drawing/2014/main" id="{70FA25DF-2E1B-9DA9-D865-331718D0BC32}"/>
                </a:ext>
              </a:extLst>
            </p:cNvPr>
            <p:cNvSpPr/>
            <p:nvPr/>
          </p:nvSpPr>
          <p:spPr>
            <a:xfrm>
              <a:off x="102296" y="250521"/>
              <a:ext cx="11987408" cy="125260"/>
            </a:xfrm>
            <a:prstGeom prst="rect">
              <a:avLst/>
            </a:prstGeom>
            <a:solidFill>
              <a:srgbClr val="5F232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002362BB-BAB8-AC08-2111-68C9A1C641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04389" y="112214"/>
              <a:ext cx="4783222" cy="401873"/>
            </a:xfrm>
            <a:prstGeom prst="rect">
              <a:avLst/>
            </a:prstGeom>
            <a:ln w="57150">
              <a:solidFill>
                <a:schemeClr val="bg1"/>
              </a:solidFill>
            </a:ln>
          </p:spPr>
        </p:pic>
        <p:sp>
          <p:nvSpPr>
            <p:cNvPr id="12" name="Rectangle 11">
              <a:extLst>
                <a:ext uri="{FF2B5EF4-FFF2-40B4-BE49-F238E27FC236}">
                  <a16:creationId xmlns:a16="http://schemas.microsoft.com/office/drawing/2014/main" id="{3589DE99-E6FD-CF76-9EB0-A709CEF1CE3F}"/>
                </a:ext>
              </a:extLst>
            </p:cNvPr>
            <p:cNvSpPr/>
            <p:nvPr/>
          </p:nvSpPr>
          <p:spPr>
            <a:xfrm>
              <a:off x="0" y="12526"/>
              <a:ext cx="12192000" cy="681740"/>
            </a:xfrm>
            <a:prstGeom prst="rect">
              <a:avLst/>
            </a:prstGeom>
            <a:gradFill flip="none" rotWithShape="1">
              <a:gsLst>
                <a:gs pos="100000">
                  <a:schemeClr val="bg1">
                    <a:alpha val="30000"/>
                  </a:schemeClr>
                </a:gs>
                <a:gs pos="0">
                  <a:schemeClr val="accent1">
                    <a:lumMod val="5000"/>
                    <a:lumOff val="95000"/>
                    <a:alpha val="0"/>
                  </a:schemeClr>
                </a:gs>
                <a:gs pos="23000">
                  <a:schemeClr val="bg1">
                    <a:alpha val="17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Box 3">
            <a:extLst>
              <a:ext uri="{FF2B5EF4-FFF2-40B4-BE49-F238E27FC236}">
                <a16:creationId xmlns:a16="http://schemas.microsoft.com/office/drawing/2014/main" id="{1E683BC6-AAFC-1F49-A4E2-21775704D049}"/>
              </a:ext>
            </a:extLst>
          </p:cNvPr>
          <p:cNvSpPr txBox="1"/>
          <p:nvPr/>
        </p:nvSpPr>
        <p:spPr>
          <a:xfrm>
            <a:off x="10282471" y="395852"/>
            <a:ext cx="1831585" cy="261610"/>
          </a:xfrm>
          <a:prstGeom prst="rect">
            <a:avLst/>
          </a:prstGeom>
          <a:noFill/>
          <a:effectLst/>
        </p:spPr>
        <p:txBody>
          <a:bodyPr wrap="square" rtlCol="0" anchor="ctr">
            <a:spAutoFit/>
          </a:bodyPr>
          <a:lstStyle/>
          <a:p>
            <a:pPr marL="238125" indent="-238125" algn="r"/>
            <a:r>
              <a:rPr lang="en-US" sz="1100" dirty="0">
                <a:solidFill>
                  <a:schemeClr val="tx1">
                    <a:lumMod val="65000"/>
                    <a:lumOff val="35000"/>
                  </a:schemeClr>
                </a:solidFill>
                <a:latin typeface="Cambria" panose="02040503050406030204" pitchFamily="18" charset="0"/>
              </a:rPr>
              <a:t>ECE 1022 </a:t>
            </a:r>
            <a:endParaRPr lang="en-US" sz="1600" b="1" dirty="0">
              <a:latin typeface="Cambria" panose="02040503050406030204" pitchFamily="18" charset="0"/>
            </a:endParaRPr>
          </a:p>
        </p:txBody>
      </p:sp>
      <p:sp>
        <p:nvSpPr>
          <p:cNvPr id="30" name="Rounded Rectangle 29">
            <a:extLst>
              <a:ext uri="{FF2B5EF4-FFF2-40B4-BE49-F238E27FC236}">
                <a16:creationId xmlns:a16="http://schemas.microsoft.com/office/drawing/2014/main" id="{41F7AECF-00B3-ECED-FAD9-54909D02CFC9}"/>
              </a:ext>
            </a:extLst>
          </p:cNvPr>
          <p:cNvSpPr/>
          <p:nvPr/>
        </p:nvSpPr>
        <p:spPr>
          <a:xfrm>
            <a:off x="467140" y="1044192"/>
            <a:ext cx="11257720" cy="5257296"/>
          </a:xfrm>
          <a:prstGeom prst="roundRect">
            <a:avLst>
              <a:gd name="adj" fmla="val 3070"/>
            </a:avLst>
          </a:prstGeom>
          <a:solidFill>
            <a:srgbClr val="E2EBFC"/>
          </a:solidFill>
          <a:ln w="41275" cap="rnd" cmpd="sng" algn="ctr">
            <a:solidFill>
              <a:srgbClr val="648FFF"/>
            </a:solidFill>
            <a:prstDash val="sysDash"/>
            <a:miter lim="800000"/>
          </a:ln>
          <a:effectLst/>
        </p:spPr>
        <p:txBody>
          <a:bodyPr rot="0" spcFirstLastPara="0" vert="horz" wrap="square" lIns="68580" tIns="34290" rIns="68580" bIns="34290" numCol="1" spcCol="0" rtlCol="0" fromWordArt="0" anchor="ctr" anchorCtr="0" forceAA="0" compatLnSpc="1">
            <a:prstTxWarp prst="textNoShape">
              <a:avLst/>
            </a:prstTxWarp>
            <a:noAutofit/>
          </a:bodyPr>
          <a:lstStyle/>
          <a:p>
            <a:pPr marL="0" marR="7620" lvl="0" indent="0" algn="ctr" defTabSz="914400" eaLnBrk="1" fontAlgn="auto" latinLnBrk="0" hangingPunct="1">
              <a:lnSpc>
                <a:spcPct val="112000"/>
              </a:lnSpc>
              <a:spcBef>
                <a:spcPts val="0"/>
              </a:spcBef>
              <a:spcAft>
                <a:spcPts val="0"/>
              </a:spcAft>
              <a:buClrTx/>
              <a:buSzTx/>
              <a:buFontTx/>
              <a:buNone/>
              <a:tabLst/>
              <a:defRPr/>
            </a:pPr>
            <a:endParaRPr kumimoji="0" lang="en-US" sz="825" b="0" i="0" u="none" strike="noStrike" kern="0" cap="none" spc="0" normalizeH="0" baseline="0" noProof="0" dirty="0">
              <a:ln>
                <a:noFill/>
              </a:ln>
              <a:solidFill>
                <a:srgbClr val="000000"/>
              </a:solidFill>
              <a:effectLst/>
              <a:uLnTx/>
              <a:uFillTx/>
              <a:latin typeface="Calibri" panose="020F0502020204030204"/>
              <a:ea typeface="Calibri" panose="020F0502020204030204" pitchFamily="34" charset="0"/>
              <a:cs typeface="+mn-cs"/>
            </a:endParaRPr>
          </a:p>
        </p:txBody>
      </p:sp>
      <p:sp>
        <p:nvSpPr>
          <p:cNvPr id="47" name="TextBox 46">
            <a:extLst>
              <a:ext uri="{FF2B5EF4-FFF2-40B4-BE49-F238E27FC236}">
                <a16:creationId xmlns:a16="http://schemas.microsoft.com/office/drawing/2014/main" id="{B489DA72-C77B-CE05-E690-55A550D8A872}"/>
              </a:ext>
            </a:extLst>
          </p:cNvPr>
          <p:cNvSpPr txBox="1"/>
          <p:nvPr/>
        </p:nvSpPr>
        <p:spPr>
          <a:xfrm>
            <a:off x="3312651" y="1172308"/>
            <a:ext cx="5569526" cy="523220"/>
          </a:xfrm>
          <a:prstGeom prst="rect">
            <a:avLst/>
          </a:prstGeom>
          <a:noFill/>
          <a:effectLst/>
        </p:spPr>
        <p:txBody>
          <a:bodyPr wrap="square" rtlCol="0">
            <a:spAutoFit/>
          </a:bodyPr>
          <a:lstStyle/>
          <a:p>
            <a:pPr algn="ctr"/>
            <a:r>
              <a:rPr lang="en-US" sz="2800" b="1" dirty="0">
                <a:solidFill>
                  <a:srgbClr val="4472C4">
                    <a:lumMod val="75000"/>
                  </a:srgbClr>
                </a:solidFill>
                <a:effectLst>
                  <a:glow rad="63500">
                    <a:srgbClr val="FFFFFF">
                      <a:alpha val="50000"/>
                    </a:srgbClr>
                  </a:glow>
                </a:effectLst>
                <a:latin typeface="Calibri" panose="020F0502020204030204"/>
              </a:rPr>
              <a:t>if statements</a:t>
            </a:r>
          </a:p>
        </p:txBody>
      </p:sp>
      <p:grpSp>
        <p:nvGrpSpPr>
          <p:cNvPr id="24" name="Group 23">
            <a:extLst>
              <a:ext uri="{FF2B5EF4-FFF2-40B4-BE49-F238E27FC236}">
                <a16:creationId xmlns:a16="http://schemas.microsoft.com/office/drawing/2014/main" id="{7660DC24-B860-357F-B5AF-5E71C2C56680}"/>
              </a:ext>
            </a:extLst>
          </p:cNvPr>
          <p:cNvGrpSpPr/>
          <p:nvPr/>
        </p:nvGrpSpPr>
        <p:grpSpPr>
          <a:xfrm>
            <a:off x="837744" y="2063159"/>
            <a:ext cx="4233859" cy="3500847"/>
            <a:chOff x="708810" y="2216155"/>
            <a:chExt cx="4233859" cy="3500847"/>
          </a:xfrm>
          <a:effectLst/>
        </p:grpSpPr>
        <p:sp>
          <p:nvSpPr>
            <p:cNvPr id="48" name="TextBox 47">
              <a:extLst>
                <a:ext uri="{FF2B5EF4-FFF2-40B4-BE49-F238E27FC236}">
                  <a16:creationId xmlns:a16="http://schemas.microsoft.com/office/drawing/2014/main" id="{D97A4605-0331-32D0-59D2-047B141E56C9}"/>
                </a:ext>
              </a:extLst>
            </p:cNvPr>
            <p:cNvSpPr txBox="1"/>
            <p:nvPr/>
          </p:nvSpPr>
          <p:spPr>
            <a:xfrm>
              <a:off x="708810" y="2216155"/>
              <a:ext cx="4233859" cy="3500847"/>
            </a:xfrm>
            <a:prstGeom prst="rect">
              <a:avLst/>
            </a:prstGeom>
            <a:solidFill>
              <a:srgbClr val="FFFFFF">
                <a:lumMod val="85000"/>
              </a:srgbClr>
            </a:solidFill>
            <a:ln>
              <a:solidFill>
                <a:srgbClr val="FFFFFF">
                  <a:lumMod val="75000"/>
                </a:srgbClr>
              </a:solidFill>
            </a:ln>
            <a:effectLst>
              <a:glow rad="12700">
                <a:srgbClr val="000000">
                  <a:lumMod val="75000"/>
                  <a:lumOff val="25000"/>
                </a:srgbClr>
              </a:glow>
            </a:effectLst>
          </p:spPr>
          <p:txBody>
            <a:bodyPr wrap="square" rtlCol="0">
              <a:noAutofit/>
            </a:bodyPr>
            <a:lstStyle/>
            <a:p>
              <a:pPr marL="9525" marR="0" lvl="1"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000000"/>
                </a:solidFill>
                <a:effectLst/>
                <a:uLnTx/>
                <a:uFillTx/>
                <a:latin typeface="Calibri" panose="020F0502020204030204"/>
              </a:endParaRPr>
            </a:p>
          </p:txBody>
        </p:sp>
        <p:sp>
          <p:nvSpPr>
            <p:cNvPr id="49" name="TextBox 48">
              <a:extLst>
                <a:ext uri="{FF2B5EF4-FFF2-40B4-BE49-F238E27FC236}">
                  <a16:creationId xmlns:a16="http://schemas.microsoft.com/office/drawing/2014/main" id="{D4672485-7443-97ED-D07E-C522935B5409}"/>
                </a:ext>
              </a:extLst>
            </p:cNvPr>
            <p:cNvSpPr txBox="1"/>
            <p:nvPr/>
          </p:nvSpPr>
          <p:spPr>
            <a:xfrm>
              <a:off x="811137" y="2560837"/>
              <a:ext cx="4040679" cy="3131249"/>
            </a:xfrm>
            <a:prstGeom prst="rect">
              <a:avLst/>
            </a:prstGeom>
            <a:noFill/>
            <a:ln>
              <a:noFill/>
            </a:ln>
          </p:spPr>
          <p:txBody>
            <a:bodyPr wrap="square" lIns="0" tIns="0" rIns="0" bIns="0" rtlCol="0">
              <a:noAutofit/>
            </a:bodyPr>
            <a:lstStyle/>
            <a:p>
              <a:pPr marL="9525" lvl="1">
                <a:tabLst>
                  <a:tab pos="168275" algn="l"/>
                  <a:tab pos="336550" algn="l"/>
                  <a:tab pos="569913" algn="l"/>
                  <a:tab pos="909638" algn="l"/>
                  <a:tab pos="3941763" algn="l"/>
                </a:tabLst>
              </a:pPr>
              <a:r>
                <a:rPr lang="en-US" sz="1000" b="1" u="dotted" dirty="0">
                  <a:solidFill>
                    <a:srgbClr val="000000"/>
                  </a:solidFill>
                  <a:uFill>
                    <a:solidFill>
                      <a:srgbClr val="E7E6E6">
                        <a:lumMod val="50000"/>
                      </a:srgbClr>
                    </a:solidFill>
                  </a:uFill>
                  <a:latin typeface="Calibri" panose="020F0502020204030204"/>
                </a:rPr>
                <a:t>	Description</a:t>
              </a:r>
              <a:r>
                <a:rPr lang="en-US" sz="1000" u="dotted" dirty="0">
                  <a:solidFill>
                    <a:srgbClr val="000000"/>
                  </a:solidFill>
                  <a:uFill>
                    <a:solidFill>
                      <a:srgbClr val="E7E6E6">
                        <a:lumMod val="50000"/>
                      </a:srgbClr>
                    </a:solidFill>
                  </a:uFill>
                  <a:latin typeface="Calibri" panose="020F0502020204030204"/>
                </a:rPr>
                <a:t>: 	checks a condition, then executes its code block if true. 					Otherwise (if false), the statement block is skipped	</a:t>
              </a:r>
            </a:p>
            <a:p>
              <a:pPr marL="9525" lvl="1">
                <a:tabLst>
                  <a:tab pos="168275" algn="l"/>
                  <a:tab pos="336550" algn="l"/>
                  <a:tab pos="569913" algn="l"/>
                  <a:tab pos="909638" algn="l"/>
                  <a:tab pos="3941763" algn="l"/>
                </a:tabLst>
              </a:pPr>
              <a:r>
                <a:rPr lang="en-US" sz="1000" u="dotted" dirty="0">
                  <a:solidFill>
                    <a:srgbClr val="000000"/>
                  </a:solidFill>
                  <a:uFill>
                    <a:solidFill>
                      <a:srgbClr val="E7E6E6">
                        <a:lumMod val="50000"/>
                      </a:srgbClr>
                    </a:solidFill>
                  </a:uFill>
                  <a:latin typeface="Calibri" panose="020F0502020204030204"/>
                </a:rPr>
                <a:t>	Parameter:	a Boolean expression (result will be true or false) 	</a:t>
              </a:r>
            </a:p>
            <a:p>
              <a:pPr marL="9525" lvl="1">
                <a:tabLst>
                  <a:tab pos="168275" algn="l"/>
                  <a:tab pos="336550" algn="l"/>
                  <a:tab pos="569913" algn="l"/>
                  <a:tab pos="909638" algn="l"/>
                  <a:tab pos="3941763" algn="l"/>
                </a:tabLst>
              </a:pPr>
              <a:r>
                <a:rPr lang="en-US" sz="1000" u="dotted" dirty="0">
                  <a:solidFill>
                    <a:srgbClr val="000000"/>
                  </a:solidFill>
                  <a:uFill>
                    <a:solidFill>
                      <a:srgbClr val="E7E6E6">
                        <a:lumMod val="50000"/>
                      </a:srgbClr>
                    </a:solidFill>
                  </a:uFill>
                  <a:latin typeface="Calibri" panose="020F0502020204030204"/>
                </a:rPr>
                <a:t>	</a:t>
              </a:r>
              <a:r>
                <a:rPr lang="en-US" sz="1000" b="1" u="dotted" dirty="0">
                  <a:solidFill>
                    <a:srgbClr val="000000"/>
                  </a:solidFill>
                  <a:uFill>
                    <a:solidFill>
                      <a:srgbClr val="E7E6E6">
                        <a:lumMod val="50000"/>
                      </a:srgbClr>
                    </a:solidFill>
                  </a:uFill>
                  <a:latin typeface="Calibri" panose="020F0502020204030204"/>
                </a:rPr>
                <a:t>Syntax</a:t>
              </a:r>
              <a:r>
                <a:rPr lang="en-US" sz="1000" u="dotted" dirty="0">
                  <a:solidFill>
                    <a:srgbClr val="000000"/>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endParaRPr lang="en-US" sz="1000" dirty="0">
                <a:solidFill>
                  <a:srgbClr val="795CF1"/>
                </a:solidFill>
                <a:uFill>
                  <a:solidFill>
                    <a:srgbClr val="E7E6E6">
                      <a:lumMod val="50000"/>
                    </a:srgbClr>
                  </a:solidFill>
                </a:uFill>
                <a:latin typeface="Calibri" panose="020F0502020204030204"/>
              </a:endParaRP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if(</a:t>
              </a:r>
              <a:r>
                <a:rPr lang="en-US" sz="1000" dirty="0" err="1">
                  <a:solidFill>
                    <a:srgbClr val="795CF1"/>
                  </a:solidFill>
                  <a:uFill>
                    <a:solidFill>
                      <a:srgbClr val="E7E6E6">
                        <a:lumMod val="50000"/>
                      </a:srgbClr>
                    </a:solidFill>
                  </a:uFill>
                  <a:latin typeface="Calibri" panose="020F0502020204030204"/>
                </a:rPr>
                <a:t>conditionIsTrue</a:t>
              </a:r>
              <a:r>
                <a:rPr lang="en-US" sz="1000" dirty="0">
                  <a:solidFill>
                    <a:srgbClr val="795CF1"/>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a:t>
              </a:r>
              <a:r>
                <a:rPr lang="en-US" sz="1000" dirty="0" err="1">
                  <a:solidFill>
                    <a:srgbClr val="795CF1"/>
                  </a:solidFill>
                  <a:uFill>
                    <a:solidFill>
                      <a:srgbClr val="E7E6E6">
                        <a:lumMod val="50000"/>
                      </a:srgbClr>
                    </a:solidFill>
                  </a:uFill>
                  <a:latin typeface="Calibri" panose="020F0502020204030204"/>
                </a:rPr>
                <a:t>doThing</a:t>
              </a:r>
              <a:r>
                <a:rPr lang="en-US" sz="1000" dirty="0">
                  <a:solidFill>
                    <a:srgbClr val="795CF1"/>
                  </a:solidFill>
                  <a:uFill>
                    <a:solidFill>
                      <a:srgbClr val="E7E6E6">
                        <a:lumMod val="50000"/>
                      </a:srgbClr>
                    </a:solidFill>
                  </a:uFill>
                  <a:latin typeface="Calibri" panose="020F0502020204030204"/>
                </a:rPr>
                <a:t>();</a:t>
              </a: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a:t>
              </a:r>
              <a:r>
                <a:rPr lang="en-US" sz="1000" dirty="0" err="1">
                  <a:solidFill>
                    <a:srgbClr val="795CF1"/>
                  </a:solidFill>
                  <a:uFill>
                    <a:solidFill>
                      <a:srgbClr val="E7E6E6">
                        <a:lumMod val="50000"/>
                      </a:srgbClr>
                    </a:solidFill>
                  </a:uFill>
                  <a:latin typeface="Calibri" panose="020F0502020204030204"/>
                </a:rPr>
                <a:t>doAsManyThingsAsWeWant</a:t>
              </a:r>
              <a:r>
                <a:rPr lang="en-US" sz="1000" dirty="0">
                  <a:solidFill>
                    <a:srgbClr val="795CF1"/>
                  </a:solidFill>
                  <a:uFill>
                    <a:solidFill>
                      <a:srgbClr val="E7E6E6">
                        <a:lumMod val="50000"/>
                      </a:srgbClr>
                    </a:solidFill>
                  </a:uFill>
                  <a:latin typeface="Calibri" panose="020F0502020204030204"/>
                </a:rPr>
                <a:t>();</a:t>
              </a: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r>
                <a:rPr lang="en-US" sz="1000" u="dotted" dirty="0">
                  <a:solidFill>
                    <a:srgbClr val="000000"/>
                  </a:solidFill>
                  <a:uFill>
                    <a:solidFill>
                      <a:srgbClr val="E7E6E6">
                        <a:lumMod val="50000"/>
                      </a:srgbClr>
                    </a:solidFill>
                  </a:uFill>
                  <a:latin typeface="Calibri" panose="020F0502020204030204"/>
                </a:rPr>
                <a:t>	</a:t>
              </a:r>
              <a:r>
                <a:rPr lang="en-US" sz="1000" b="1" u="dotted" dirty="0">
                  <a:solidFill>
                    <a:srgbClr val="000000"/>
                  </a:solidFill>
                  <a:uFill>
                    <a:solidFill>
                      <a:srgbClr val="E7E6E6">
                        <a:lumMod val="50000"/>
                      </a:srgbClr>
                    </a:solidFill>
                  </a:uFill>
                  <a:latin typeface="Calibri" panose="020F0502020204030204"/>
                </a:rPr>
                <a:t>Example</a:t>
              </a:r>
              <a:r>
                <a:rPr lang="en-US" sz="1000" u="dotted" dirty="0">
                  <a:solidFill>
                    <a:srgbClr val="000000"/>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endParaRPr lang="en-US" sz="1000" u="dotted" dirty="0">
                <a:solidFill>
                  <a:srgbClr val="000000"/>
                </a:solidFill>
                <a:uFill>
                  <a:solidFill>
                    <a:srgbClr val="E7E6E6">
                      <a:lumMod val="50000"/>
                    </a:srgbClr>
                  </a:solidFill>
                </a:uFill>
                <a:latin typeface="Calibri" panose="020F0502020204030204"/>
              </a:endParaRP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if(value &gt; </a:t>
              </a:r>
              <a:r>
                <a:rPr lang="en-US" sz="1000" dirty="0" err="1">
                  <a:solidFill>
                    <a:srgbClr val="795CF1"/>
                  </a:solidFill>
                  <a:uFill>
                    <a:solidFill>
                      <a:srgbClr val="E7E6E6">
                        <a:lumMod val="50000"/>
                      </a:srgbClr>
                    </a:solidFill>
                  </a:uFill>
                  <a:latin typeface="Calibri" panose="020F0502020204030204"/>
                </a:rPr>
                <a:t>setPoint</a:t>
              </a:r>
              <a:r>
                <a:rPr lang="en-US" sz="1000" dirty="0">
                  <a:solidFill>
                    <a:srgbClr val="795CF1"/>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a:t>
              </a:r>
              <a:r>
                <a:rPr lang="en-US" sz="1000" dirty="0" err="1">
                  <a:solidFill>
                    <a:srgbClr val="795CF1"/>
                  </a:solidFill>
                  <a:uFill>
                    <a:solidFill>
                      <a:srgbClr val="E7E6E6">
                        <a:lumMod val="50000"/>
                      </a:srgbClr>
                    </a:solidFill>
                  </a:uFill>
                  <a:latin typeface="Calibri" panose="020F0502020204030204"/>
                </a:rPr>
                <a:t>TurnOnFan</a:t>
              </a:r>
              <a:r>
                <a:rPr lang="en-US" sz="1000" dirty="0">
                  <a:solidFill>
                    <a:srgbClr val="795CF1"/>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r>
                <a:rPr lang="en-US" sz="1000" dirty="0">
                  <a:solidFill>
                    <a:srgbClr val="795CF1"/>
                  </a:solidFill>
                  <a:uFill>
                    <a:solidFill>
                      <a:srgbClr val="E7E6E6">
                        <a:lumMod val="50000"/>
                      </a:srgbClr>
                    </a:solidFill>
                  </a:uFill>
                  <a:latin typeface="Calibri" panose="020F0502020204030204"/>
                </a:rPr>
                <a:t>		}</a:t>
              </a:r>
            </a:p>
            <a:p>
              <a:pPr marL="9525" lvl="1">
                <a:tabLst>
                  <a:tab pos="168275" algn="l"/>
                  <a:tab pos="336550" algn="l"/>
                  <a:tab pos="569913" algn="l"/>
                  <a:tab pos="909638" algn="l"/>
                  <a:tab pos="3941763" algn="l"/>
                </a:tabLst>
              </a:pPr>
              <a:endParaRPr lang="en-US" sz="1000" dirty="0">
                <a:solidFill>
                  <a:srgbClr val="795CF1"/>
                </a:solidFill>
                <a:uFill>
                  <a:solidFill>
                    <a:srgbClr val="E7E6E6">
                      <a:lumMod val="50000"/>
                    </a:srgbClr>
                  </a:solidFill>
                </a:uFill>
                <a:latin typeface="Calibri" panose="020F0502020204030204"/>
              </a:endParaRPr>
            </a:p>
            <a:p>
              <a:pPr marL="9525" lvl="1">
                <a:tabLst>
                  <a:tab pos="168275" algn="l"/>
                  <a:tab pos="336550" algn="l"/>
                  <a:tab pos="569913" algn="l"/>
                  <a:tab pos="909638" algn="l"/>
                  <a:tab pos="3941763" algn="l"/>
                </a:tabLst>
              </a:pPr>
              <a:r>
                <a:rPr lang="en-US" sz="1000" u="dotted" dirty="0">
                  <a:solidFill>
                    <a:srgbClr val="000000"/>
                  </a:solidFill>
                  <a:uFill>
                    <a:solidFill>
                      <a:srgbClr val="E7E6E6">
                        <a:lumMod val="50000"/>
                      </a:srgbClr>
                    </a:solidFill>
                  </a:uFill>
                  <a:latin typeface="Calibri" panose="020F0502020204030204"/>
                </a:rPr>
                <a:t>	</a:t>
              </a:r>
              <a:r>
                <a:rPr lang="en-US" sz="1000" b="1" u="dotted" dirty="0">
                  <a:solidFill>
                    <a:srgbClr val="000000"/>
                  </a:solidFill>
                  <a:uFill>
                    <a:solidFill>
                      <a:srgbClr val="E7E6E6">
                        <a:lumMod val="50000"/>
                      </a:srgbClr>
                    </a:solidFill>
                  </a:uFill>
                  <a:latin typeface="Calibri" panose="020F0502020204030204"/>
                </a:rPr>
                <a:t>Notes</a:t>
              </a:r>
              <a:r>
                <a:rPr lang="en-US" sz="1000" u="dotted" dirty="0">
                  <a:solidFill>
                    <a:srgbClr val="000000"/>
                  </a:solidFill>
                  <a:uFill>
                    <a:solidFill>
                      <a:srgbClr val="E7E6E6">
                        <a:lumMod val="50000"/>
                      </a:srgbClr>
                    </a:solidFill>
                  </a:uFill>
                  <a:latin typeface="Calibri" panose="020F0502020204030204"/>
                </a:rPr>
                <a:t>: 		• multiple conditions can be nested inside the parentheses</a:t>
              </a:r>
            </a:p>
            <a:p>
              <a:pPr marL="9525" lvl="1">
                <a:tabLst>
                  <a:tab pos="168275" algn="l"/>
                  <a:tab pos="336550" algn="l"/>
                  <a:tab pos="569913" algn="l"/>
                  <a:tab pos="909638" algn="l"/>
                  <a:tab pos="3941763" algn="l"/>
                </a:tabLst>
              </a:pPr>
              <a:r>
                <a:rPr lang="en-US" sz="1000" u="dotted" dirty="0">
                  <a:solidFill>
                    <a:srgbClr val="000000"/>
                  </a:solidFill>
                  <a:uFill>
                    <a:solidFill>
                      <a:srgbClr val="E7E6E6">
                        <a:lumMod val="50000"/>
                      </a:srgbClr>
                    </a:solidFill>
                  </a:uFill>
                  <a:latin typeface="Calibri" panose="020F0502020204030204"/>
                </a:rPr>
                <a:t>				• multiple statements can be inside the brackets	</a:t>
              </a:r>
            </a:p>
            <a:p>
              <a:pPr marL="9525" lvl="1">
                <a:tabLst>
                  <a:tab pos="168275" algn="l"/>
                  <a:tab pos="336550" algn="l"/>
                  <a:tab pos="569913" algn="l"/>
                  <a:tab pos="909638" algn="l"/>
                  <a:tab pos="3941763" algn="l"/>
                </a:tabLst>
              </a:pPr>
              <a:endParaRPr lang="en-US" sz="1000" u="dotted" dirty="0">
                <a:solidFill>
                  <a:srgbClr val="000000"/>
                </a:solidFill>
                <a:uFill>
                  <a:solidFill>
                    <a:srgbClr val="E7E6E6">
                      <a:lumMod val="50000"/>
                    </a:srgbClr>
                  </a:solidFill>
                </a:uFill>
                <a:latin typeface="Calibri" panose="020F0502020204030204"/>
              </a:endParaRPr>
            </a:p>
            <a:p>
              <a:pPr marL="9525" lvl="1" algn="ctr">
                <a:tabLst>
                  <a:tab pos="168275" algn="l"/>
                  <a:tab pos="336550" algn="l"/>
                  <a:tab pos="569913" algn="l"/>
                  <a:tab pos="909638" algn="l"/>
                  <a:tab pos="3941763" algn="l"/>
                </a:tabLst>
              </a:pPr>
              <a:r>
                <a:rPr lang="en-US" sz="900" b="1" u="dotted" dirty="0">
                  <a:solidFill>
                    <a:srgbClr val="648E48"/>
                  </a:solidFill>
                  <a:uFill>
                    <a:solidFill>
                      <a:srgbClr val="E7E6E6">
                        <a:lumMod val="50000"/>
                      </a:srgbClr>
                    </a:solidFill>
                  </a:uFill>
                  <a:latin typeface="Calibri" panose="020F0502020204030204"/>
                  <a:hlinkClick r:id="rId3">
                    <a:extLst>
                      <a:ext uri="{A12FA001-AC4F-418D-AE19-62706E023703}">
                        <ahyp:hlinkClr xmlns:ahyp="http://schemas.microsoft.com/office/drawing/2018/hyperlinkcolor" val="tx"/>
                      </a:ext>
                    </a:extLst>
                  </a:hlinkClick>
                </a:rPr>
                <a:t>https://www.arduino.cc/reference/cs/language/structure/control-structure/if/</a:t>
              </a:r>
              <a:endParaRPr lang="en-US" sz="900" b="1" u="dotted" dirty="0">
                <a:solidFill>
                  <a:srgbClr val="648E48"/>
                </a:solidFill>
                <a:uFill>
                  <a:solidFill>
                    <a:srgbClr val="E7E6E6">
                      <a:lumMod val="50000"/>
                    </a:srgbClr>
                  </a:solidFill>
                </a:uFill>
                <a:latin typeface="Calibri" panose="020F0502020204030204"/>
              </a:endParaRPr>
            </a:p>
          </p:txBody>
        </p:sp>
        <p:sp>
          <p:nvSpPr>
            <p:cNvPr id="50" name="TextBox 49">
              <a:extLst>
                <a:ext uri="{FF2B5EF4-FFF2-40B4-BE49-F238E27FC236}">
                  <a16:creationId xmlns:a16="http://schemas.microsoft.com/office/drawing/2014/main" id="{D118791F-18D0-D07D-7159-674C16BC6D6E}"/>
                </a:ext>
              </a:extLst>
            </p:cNvPr>
            <p:cNvSpPr txBox="1"/>
            <p:nvPr/>
          </p:nvSpPr>
          <p:spPr>
            <a:xfrm>
              <a:off x="814488" y="2268408"/>
              <a:ext cx="3246636" cy="244909"/>
            </a:xfrm>
            <a:prstGeom prst="rect">
              <a:avLst/>
            </a:prstGeom>
            <a:noFill/>
            <a:ln>
              <a:noFill/>
            </a:ln>
          </p:spPr>
          <p:txBody>
            <a:bodyPr wrap="square" lIns="0" tIns="0" rIns="0" bIns="0" rtlCol="0" anchor="ctr" anchorCtr="0">
              <a:noAutofit/>
            </a:bodyPr>
            <a:lstStyle/>
            <a:p>
              <a:pPr marL="9525" lvl="1"/>
              <a:r>
                <a:rPr lang="en-US" sz="1400" b="1" dirty="0">
                  <a:solidFill>
                    <a:srgbClr val="000000"/>
                  </a:solidFill>
                  <a:latin typeface="Calibri" panose="020F0502020204030204"/>
                </a:rPr>
                <a:t>if</a:t>
              </a:r>
            </a:p>
          </p:txBody>
        </p:sp>
      </p:grpSp>
      <p:sp>
        <p:nvSpPr>
          <p:cNvPr id="52" name="Diamond 51">
            <a:extLst>
              <a:ext uri="{FF2B5EF4-FFF2-40B4-BE49-F238E27FC236}">
                <a16:creationId xmlns:a16="http://schemas.microsoft.com/office/drawing/2014/main" id="{4D1E6B0C-AF0D-3D14-A638-74C5E538C576}"/>
              </a:ext>
            </a:extLst>
          </p:cNvPr>
          <p:cNvSpPr/>
          <p:nvPr/>
        </p:nvSpPr>
        <p:spPr>
          <a:xfrm>
            <a:off x="7716167" y="3339525"/>
            <a:ext cx="1964102" cy="979506"/>
          </a:xfrm>
          <a:prstGeom prst="diamond">
            <a:avLst/>
          </a:prstGeom>
          <a:solidFill>
            <a:srgbClr val="FFF0D5"/>
          </a:solidFill>
          <a:ln w="38100" cap="flat" cmpd="sng" algn="ctr">
            <a:solidFill>
              <a:srgbClr val="FFB100"/>
            </a:solidFill>
            <a:prstDash val="solid"/>
            <a:miter lim="800000"/>
          </a:ln>
          <a:effectLst>
            <a:glow rad="25400">
              <a:srgbClr val="FFC000">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1" kern="0" dirty="0">
                <a:solidFill>
                  <a:schemeClr val="accent3">
                    <a:lumMod val="50000"/>
                  </a:schemeClr>
                </a:solidFill>
                <a:latin typeface="Calibri" panose="020F0502020204030204"/>
              </a:rPr>
              <a:t>If value is &gt; </a:t>
            </a:r>
            <a:r>
              <a:rPr lang="en-US" sz="900" b="1" kern="0" dirty="0" err="1">
                <a:solidFill>
                  <a:schemeClr val="accent3">
                    <a:lumMod val="50000"/>
                  </a:schemeClr>
                </a:solidFill>
                <a:latin typeface="Calibri" panose="020F0502020204030204"/>
              </a:rPr>
              <a:t>setPoint</a:t>
            </a:r>
            <a:endParaRPr kumimoji="0" lang="en-US" sz="90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endParaRPr>
          </a:p>
        </p:txBody>
      </p:sp>
      <p:sp>
        <p:nvSpPr>
          <p:cNvPr id="53" name="Rectangle 52">
            <a:extLst>
              <a:ext uri="{FF2B5EF4-FFF2-40B4-BE49-F238E27FC236}">
                <a16:creationId xmlns:a16="http://schemas.microsoft.com/office/drawing/2014/main" id="{A1ADCD44-9A7B-C500-C76B-9E230D94E694}"/>
              </a:ext>
            </a:extLst>
          </p:cNvPr>
          <p:cNvSpPr/>
          <p:nvPr/>
        </p:nvSpPr>
        <p:spPr>
          <a:xfrm>
            <a:off x="6427624" y="4147758"/>
            <a:ext cx="1252699" cy="406539"/>
          </a:xfrm>
          <a:prstGeom prst="rect">
            <a:avLst/>
          </a:prstGeom>
          <a:solidFill>
            <a:srgbClr val="FFE0D3"/>
          </a:solidFill>
          <a:ln w="38100" cap="flat" cmpd="sng" algn="ctr">
            <a:solidFill>
              <a:srgbClr val="FF61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ED7D31">
                    <a:lumMod val="75000"/>
                  </a:srgbClr>
                </a:solidFill>
                <a:latin typeface="Calibri" panose="020F0502020204030204"/>
              </a:rPr>
              <a:t>t</a:t>
            </a:r>
            <a:r>
              <a:rPr kumimoji="0" lang="en-US" sz="12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urn fan on</a:t>
            </a:r>
          </a:p>
        </p:txBody>
      </p:sp>
      <p:sp>
        <p:nvSpPr>
          <p:cNvPr id="54" name="Rounded Rectangle 53">
            <a:extLst>
              <a:ext uri="{FF2B5EF4-FFF2-40B4-BE49-F238E27FC236}">
                <a16:creationId xmlns:a16="http://schemas.microsoft.com/office/drawing/2014/main" id="{9F017BAE-CDD1-A11E-AF3F-8F3AEFC8B00F}"/>
              </a:ext>
            </a:extLst>
          </p:cNvPr>
          <p:cNvSpPr/>
          <p:nvPr/>
        </p:nvSpPr>
        <p:spPr>
          <a:xfrm>
            <a:off x="6602141" y="2752641"/>
            <a:ext cx="756733" cy="320580"/>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Start</a:t>
            </a:r>
          </a:p>
        </p:txBody>
      </p:sp>
      <p:sp>
        <p:nvSpPr>
          <p:cNvPr id="55" name="Rounded Rectangle 54">
            <a:extLst>
              <a:ext uri="{FF2B5EF4-FFF2-40B4-BE49-F238E27FC236}">
                <a16:creationId xmlns:a16="http://schemas.microsoft.com/office/drawing/2014/main" id="{E816E2E4-AF9E-C27B-3CE2-8566A204F4F9}"/>
              </a:ext>
            </a:extLst>
          </p:cNvPr>
          <p:cNvSpPr/>
          <p:nvPr/>
        </p:nvSpPr>
        <p:spPr>
          <a:xfrm>
            <a:off x="7251394" y="5662072"/>
            <a:ext cx="1083380" cy="320580"/>
          </a:xfrm>
          <a:prstGeom prst="roundRect">
            <a:avLst>
              <a:gd name="adj" fmla="val 50000"/>
            </a:avLst>
          </a:prstGeom>
          <a:solidFill>
            <a:srgbClr val="E3F0D9"/>
          </a:solidFill>
          <a:ln w="38100" cap="flat" cmpd="sng" algn="ctr">
            <a:solidFill>
              <a:srgbClr val="648E48"/>
            </a:solidFill>
            <a:prstDash val="solid"/>
            <a:miter lim="800000"/>
          </a:ln>
          <a:effectLst>
            <a:glow rad="25400">
              <a:srgbClr val="E3F0D9"/>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648E48"/>
                </a:solidFill>
                <a:effectLst/>
                <a:uLnTx/>
                <a:uFillTx/>
                <a:latin typeface="Calibri" panose="020F0502020204030204"/>
                <a:ea typeface="+mn-ea"/>
                <a:cs typeface="+mn-cs"/>
              </a:rPr>
              <a:t>Continue in code</a:t>
            </a:r>
          </a:p>
        </p:txBody>
      </p:sp>
      <p:sp>
        <p:nvSpPr>
          <p:cNvPr id="56" name="Rounded Rectangle 55">
            <a:extLst>
              <a:ext uri="{FF2B5EF4-FFF2-40B4-BE49-F238E27FC236}">
                <a16:creationId xmlns:a16="http://schemas.microsoft.com/office/drawing/2014/main" id="{889E6524-1AF8-29FA-A455-950B2C39A781}"/>
              </a:ext>
            </a:extLst>
          </p:cNvPr>
          <p:cNvSpPr/>
          <p:nvPr/>
        </p:nvSpPr>
        <p:spPr>
          <a:xfrm>
            <a:off x="6268210" y="3549063"/>
            <a:ext cx="659689" cy="234011"/>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5943B1"/>
                </a:solidFill>
                <a:effectLst/>
                <a:uLnTx/>
                <a:uFillTx/>
                <a:latin typeface="Calibri" panose="020F0502020204030204"/>
                <a:ea typeface="+mn-ea"/>
                <a:cs typeface="+mn-cs"/>
              </a:rPr>
              <a:t>(if true)</a:t>
            </a:r>
          </a:p>
        </p:txBody>
      </p:sp>
      <p:sp>
        <p:nvSpPr>
          <p:cNvPr id="57" name="Rounded Rectangle 56">
            <a:extLst>
              <a:ext uri="{FF2B5EF4-FFF2-40B4-BE49-F238E27FC236}">
                <a16:creationId xmlns:a16="http://schemas.microsoft.com/office/drawing/2014/main" id="{2EC8A0E6-DD63-F322-1A46-DD3B84DD8AEA}"/>
              </a:ext>
            </a:extLst>
          </p:cNvPr>
          <p:cNvSpPr/>
          <p:nvPr/>
        </p:nvSpPr>
        <p:spPr>
          <a:xfrm>
            <a:off x="8796626" y="5007515"/>
            <a:ext cx="690815" cy="274102"/>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5943B1"/>
                </a:solidFill>
                <a:effectLst/>
                <a:uLnTx/>
                <a:uFillTx/>
                <a:latin typeface="Calibri" panose="020F0502020204030204"/>
                <a:ea typeface="+mn-ea"/>
                <a:cs typeface="+mn-cs"/>
              </a:rPr>
              <a:t>(if false)</a:t>
            </a:r>
          </a:p>
        </p:txBody>
      </p:sp>
      <p:cxnSp>
        <p:nvCxnSpPr>
          <p:cNvPr id="58" name="Elbow Connector 57">
            <a:extLst>
              <a:ext uri="{FF2B5EF4-FFF2-40B4-BE49-F238E27FC236}">
                <a16:creationId xmlns:a16="http://schemas.microsoft.com/office/drawing/2014/main" id="{D701640D-62D6-CC22-58B7-6143497013E9}"/>
              </a:ext>
            </a:extLst>
          </p:cNvPr>
          <p:cNvCxnSpPr>
            <a:cxnSpLocks/>
            <a:stCxn id="52" idx="1"/>
            <a:endCxn id="53" idx="0"/>
          </p:cNvCxnSpPr>
          <p:nvPr/>
        </p:nvCxnSpPr>
        <p:spPr>
          <a:xfrm rot="10800000" flipV="1">
            <a:off x="7053975" y="3829278"/>
            <a:ext cx="662193" cy="318480"/>
          </a:xfrm>
          <a:prstGeom prst="bentConnector2">
            <a:avLst/>
          </a:prstGeom>
          <a:noFill/>
          <a:ln w="50800" cap="flat" cmpd="sng" algn="ctr">
            <a:solidFill>
              <a:srgbClr val="795CF1"/>
            </a:solidFill>
            <a:prstDash val="solid"/>
            <a:miter lim="800000"/>
            <a:tailEnd type="triangle"/>
          </a:ln>
          <a:effectLst>
            <a:glow rad="12700">
              <a:srgbClr val="FFFFFF"/>
            </a:glow>
          </a:effectLst>
        </p:spPr>
      </p:cxnSp>
      <p:cxnSp>
        <p:nvCxnSpPr>
          <p:cNvPr id="59" name="Elbow Connector 58">
            <a:extLst>
              <a:ext uri="{FF2B5EF4-FFF2-40B4-BE49-F238E27FC236}">
                <a16:creationId xmlns:a16="http://schemas.microsoft.com/office/drawing/2014/main" id="{03317BA2-A840-D480-561D-186A56336B52}"/>
              </a:ext>
            </a:extLst>
          </p:cNvPr>
          <p:cNvCxnSpPr>
            <a:cxnSpLocks/>
            <a:stCxn id="52" idx="2"/>
            <a:endCxn id="55" idx="0"/>
          </p:cNvCxnSpPr>
          <p:nvPr/>
        </p:nvCxnSpPr>
        <p:spPr>
          <a:xfrm rot="5400000">
            <a:off x="7574131" y="4537984"/>
            <a:ext cx="1343041" cy="905134"/>
          </a:xfrm>
          <a:prstGeom prst="bentConnector3">
            <a:avLst>
              <a:gd name="adj1" fmla="val 58361"/>
            </a:avLst>
          </a:prstGeom>
          <a:noFill/>
          <a:ln w="50800" cap="flat" cmpd="sng" algn="ctr">
            <a:solidFill>
              <a:srgbClr val="795CF1"/>
            </a:solidFill>
            <a:prstDash val="solid"/>
            <a:miter lim="800000"/>
            <a:tailEnd type="triangle"/>
          </a:ln>
          <a:effectLst>
            <a:glow rad="12700">
              <a:srgbClr val="FFFFFF"/>
            </a:glow>
          </a:effectLst>
        </p:spPr>
      </p:cxnSp>
      <p:cxnSp>
        <p:nvCxnSpPr>
          <p:cNvPr id="61" name="Elbow Connector 60">
            <a:extLst>
              <a:ext uri="{FF2B5EF4-FFF2-40B4-BE49-F238E27FC236}">
                <a16:creationId xmlns:a16="http://schemas.microsoft.com/office/drawing/2014/main" id="{67840174-A237-C874-9E95-9D38D1D4FD41}"/>
              </a:ext>
            </a:extLst>
          </p:cNvPr>
          <p:cNvCxnSpPr>
            <a:cxnSpLocks/>
            <a:stCxn id="54" idx="3"/>
            <a:endCxn id="52" idx="0"/>
          </p:cNvCxnSpPr>
          <p:nvPr/>
        </p:nvCxnSpPr>
        <p:spPr>
          <a:xfrm>
            <a:off x="7358874" y="2912931"/>
            <a:ext cx="1339344" cy="426594"/>
          </a:xfrm>
          <a:prstGeom prst="bentConnector2">
            <a:avLst/>
          </a:prstGeom>
          <a:noFill/>
          <a:ln w="50800" cap="flat" cmpd="sng" algn="ctr">
            <a:solidFill>
              <a:srgbClr val="795CF1"/>
            </a:solidFill>
            <a:prstDash val="solid"/>
            <a:miter lim="800000"/>
            <a:tailEnd type="triangle"/>
          </a:ln>
          <a:effectLst>
            <a:glow rad="12700">
              <a:srgbClr val="FFFFFF"/>
            </a:glow>
          </a:effectLst>
        </p:spPr>
      </p:cxnSp>
      <p:cxnSp>
        <p:nvCxnSpPr>
          <p:cNvPr id="62" name="Elbow Connector 61">
            <a:extLst>
              <a:ext uri="{FF2B5EF4-FFF2-40B4-BE49-F238E27FC236}">
                <a16:creationId xmlns:a16="http://schemas.microsoft.com/office/drawing/2014/main" id="{50054BFB-BCD1-740C-FFE1-B6939A319CAD}"/>
              </a:ext>
            </a:extLst>
          </p:cNvPr>
          <p:cNvCxnSpPr>
            <a:cxnSpLocks/>
            <a:stCxn id="53" idx="2"/>
            <a:endCxn id="55" idx="0"/>
          </p:cNvCxnSpPr>
          <p:nvPr/>
        </p:nvCxnSpPr>
        <p:spPr>
          <a:xfrm rot="16200000" flipH="1">
            <a:off x="6869642" y="4738629"/>
            <a:ext cx="1107775" cy="739110"/>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sp>
        <p:nvSpPr>
          <p:cNvPr id="2" name="Parallelogram 1">
            <a:extLst>
              <a:ext uri="{FF2B5EF4-FFF2-40B4-BE49-F238E27FC236}">
                <a16:creationId xmlns:a16="http://schemas.microsoft.com/office/drawing/2014/main" id="{67FE2751-7A50-A26F-76EF-E4EE74279568}"/>
              </a:ext>
            </a:extLst>
          </p:cNvPr>
          <p:cNvSpPr/>
          <p:nvPr/>
        </p:nvSpPr>
        <p:spPr>
          <a:xfrm>
            <a:off x="9771122" y="2937945"/>
            <a:ext cx="1701336"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latin typeface="Calibri" panose="020F0502020204030204"/>
              </a:rPr>
              <a:t>r</a:t>
            </a:r>
            <a:r>
              <a:rPr kumimoji="0" lang="en-US" sz="1100" b="1" i="0" u="none" strike="noStrike" kern="0" cap="none" spc="0" normalizeH="0" baseline="0" noProof="0" dirty="0" err="1">
                <a:ln>
                  <a:noFill/>
                </a:ln>
                <a:effectLst/>
                <a:uLnTx/>
                <a:uFillTx/>
                <a:latin typeface="Calibri" panose="020F0502020204030204"/>
                <a:ea typeface="+mn-ea"/>
                <a:cs typeface="+mn-cs"/>
              </a:rPr>
              <a:t>ead</a:t>
            </a:r>
            <a:r>
              <a:rPr kumimoji="0" lang="en-US" sz="1100" b="1" i="0" u="none" strike="noStrike" kern="0" cap="none" spc="0" normalizeH="0" baseline="0" noProof="0" dirty="0">
                <a:ln>
                  <a:noFill/>
                </a:ln>
                <a:effectLst/>
                <a:uLnTx/>
                <a:uFillTx/>
                <a:latin typeface="Calibri" panose="020F0502020204030204"/>
                <a:ea typeface="+mn-ea"/>
                <a:cs typeface="+mn-cs"/>
              </a:rPr>
              <a:t> sensor value</a:t>
            </a:r>
          </a:p>
        </p:txBody>
      </p:sp>
      <p:sp>
        <p:nvSpPr>
          <p:cNvPr id="6" name="Pentagon 5">
            <a:extLst>
              <a:ext uri="{FF2B5EF4-FFF2-40B4-BE49-F238E27FC236}">
                <a16:creationId xmlns:a16="http://schemas.microsoft.com/office/drawing/2014/main" id="{50A11830-E097-EA68-8797-06BFFA7A09CA}"/>
              </a:ext>
            </a:extLst>
          </p:cNvPr>
          <p:cNvSpPr/>
          <p:nvPr/>
        </p:nvSpPr>
        <p:spPr>
          <a:xfrm rot="5400000">
            <a:off x="10586854" y="1735513"/>
            <a:ext cx="614994" cy="545122"/>
          </a:xfrm>
          <a:prstGeom prst="homePlate">
            <a:avLst>
              <a:gd name="adj" fmla="val 32364"/>
            </a:avLst>
          </a:prstGeom>
          <a:solidFill>
            <a:srgbClr val="FAD7E6"/>
          </a:solidFill>
          <a:ln w="38100" cap="flat" cmpd="sng" algn="ctr">
            <a:solidFill>
              <a:srgbClr val="DC267E"/>
            </a:solidFill>
            <a:prstDash val="solid"/>
            <a:miter lim="800000"/>
          </a:ln>
          <a:effectLst>
            <a:glow rad="25400">
              <a:schemeClr val="bg1"/>
            </a:glow>
          </a:effectLst>
        </p:spPr>
        <p:txBody>
          <a:bodyPr vert="vert27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DC267E"/>
                </a:solidFill>
                <a:effectLst/>
                <a:uLnTx/>
                <a:uFillTx/>
                <a:latin typeface="Calibri" panose="020F0502020204030204"/>
                <a:ea typeface="+mn-ea"/>
                <a:cs typeface="+mn-cs"/>
              </a:rPr>
              <a:t>#</a:t>
            </a:r>
          </a:p>
        </p:txBody>
      </p:sp>
      <p:cxnSp>
        <p:nvCxnSpPr>
          <p:cNvPr id="7" name="Elbow Connector 6">
            <a:extLst>
              <a:ext uri="{FF2B5EF4-FFF2-40B4-BE49-F238E27FC236}">
                <a16:creationId xmlns:a16="http://schemas.microsoft.com/office/drawing/2014/main" id="{424680DD-4329-5904-D0C1-9B6921C38263}"/>
              </a:ext>
            </a:extLst>
          </p:cNvPr>
          <p:cNvCxnSpPr>
            <a:cxnSpLocks/>
            <a:stCxn id="6" idx="3"/>
            <a:endCxn id="2" idx="0"/>
          </p:cNvCxnSpPr>
          <p:nvPr/>
        </p:nvCxnSpPr>
        <p:spPr>
          <a:xfrm rot="5400000">
            <a:off x="10446884" y="2490478"/>
            <a:ext cx="622374" cy="272561"/>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cxnSp>
        <p:nvCxnSpPr>
          <p:cNvPr id="18" name="Elbow Connector 17">
            <a:extLst>
              <a:ext uri="{FF2B5EF4-FFF2-40B4-BE49-F238E27FC236}">
                <a16:creationId xmlns:a16="http://schemas.microsoft.com/office/drawing/2014/main" id="{CCA050BE-037B-417D-1F59-88685BC1062D}"/>
              </a:ext>
            </a:extLst>
          </p:cNvPr>
          <p:cNvCxnSpPr>
            <a:cxnSpLocks/>
            <a:stCxn id="2" idx="4"/>
            <a:endCxn id="52" idx="3"/>
          </p:cNvCxnSpPr>
          <p:nvPr/>
        </p:nvCxnSpPr>
        <p:spPr>
          <a:xfrm rot="5400000">
            <a:off x="9906154" y="3113641"/>
            <a:ext cx="489753" cy="941521"/>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23" name="Rounded Rectangle 22">
            <a:extLst>
              <a:ext uri="{FF2B5EF4-FFF2-40B4-BE49-F238E27FC236}">
                <a16:creationId xmlns:a16="http://schemas.microsoft.com/office/drawing/2014/main" id="{83E10720-468F-3704-EE1E-B8AD3DC4A5DB}"/>
              </a:ext>
            </a:extLst>
          </p:cNvPr>
          <p:cNvSpPr/>
          <p:nvPr/>
        </p:nvSpPr>
        <p:spPr>
          <a:xfrm>
            <a:off x="9590987" y="1679462"/>
            <a:ext cx="975142" cy="401580"/>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1" kern="0" dirty="0">
                <a:solidFill>
                  <a:srgbClr val="5943B1"/>
                </a:solidFill>
                <a:latin typeface="Calibri" panose="020F0502020204030204"/>
              </a:rPr>
              <a:t>from Sensor subsystem</a:t>
            </a:r>
            <a:endParaRPr kumimoji="0" lang="en-US" sz="900" b="1" i="0" u="none" strike="noStrike" kern="0" cap="none" spc="0" normalizeH="0" baseline="0" noProof="0" dirty="0">
              <a:ln>
                <a:noFill/>
              </a:ln>
              <a:solidFill>
                <a:srgbClr val="5943B1"/>
              </a:solidFill>
              <a:effectLst/>
              <a:uLnTx/>
              <a:uFillTx/>
              <a:latin typeface="Calibri" panose="020F0502020204030204"/>
              <a:ea typeface="+mn-ea"/>
              <a:cs typeface="+mn-cs"/>
            </a:endParaRPr>
          </a:p>
        </p:txBody>
      </p:sp>
      <p:sp>
        <p:nvSpPr>
          <p:cNvPr id="32" name="Parallelogram 31">
            <a:extLst>
              <a:ext uri="{FF2B5EF4-FFF2-40B4-BE49-F238E27FC236}">
                <a16:creationId xmlns:a16="http://schemas.microsoft.com/office/drawing/2014/main" id="{5AD63286-1700-3D5B-C9C1-9C279D63BE9B}"/>
              </a:ext>
            </a:extLst>
          </p:cNvPr>
          <p:cNvSpPr/>
          <p:nvPr/>
        </p:nvSpPr>
        <p:spPr>
          <a:xfrm>
            <a:off x="5285303" y="5437708"/>
            <a:ext cx="1573241"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latin typeface="Calibri" panose="020F0502020204030204"/>
              </a:rPr>
              <a:t>fan output = ON</a:t>
            </a:r>
            <a:endParaRPr kumimoji="0" lang="en-US" sz="1100" b="1" i="0" u="none" strike="noStrike" kern="0" cap="none" spc="0" normalizeH="0" baseline="0" noProof="0" dirty="0">
              <a:ln>
                <a:noFill/>
              </a:ln>
              <a:effectLst/>
              <a:uLnTx/>
              <a:uFillTx/>
              <a:latin typeface="Calibri" panose="020F0502020204030204"/>
              <a:ea typeface="+mn-ea"/>
              <a:cs typeface="+mn-cs"/>
            </a:endParaRPr>
          </a:p>
        </p:txBody>
      </p:sp>
      <p:cxnSp>
        <p:nvCxnSpPr>
          <p:cNvPr id="33" name="Elbow Connector 32">
            <a:extLst>
              <a:ext uri="{FF2B5EF4-FFF2-40B4-BE49-F238E27FC236}">
                <a16:creationId xmlns:a16="http://schemas.microsoft.com/office/drawing/2014/main" id="{00E2418B-7601-FBCD-EE77-62B6B25854F0}"/>
              </a:ext>
            </a:extLst>
          </p:cNvPr>
          <p:cNvCxnSpPr>
            <a:cxnSpLocks/>
            <a:stCxn id="53" idx="1"/>
            <a:endCxn id="32" idx="0"/>
          </p:cNvCxnSpPr>
          <p:nvPr/>
        </p:nvCxnSpPr>
        <p:spPr>
          <a:xfrm rot="10800000" flipV="1">
            <a:off x="6071924" y="4351028"/>
            <a:ext cx="355700" cy="1086680"/>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63" name="Oval 62">
            <a:extLst>
              <a:ext uri="{FF2B5EF4-FFF2-40B4-BE49-F238E27FC236}">
                <a16:creationId xmlns:a16="http://schemas.microsoft.com/office/drawing/2014/main" id="{858F9C5F-0FC7-F5A9-3254-1606229C5BBB}"/>
              </a:ext>
            </a:extLst>
          </p:cNvPr>
          <p:cNvSpPr/>
          <p:nvPr/>
        </p:nvSpPr>
        <p:spPr>
          <a:xfrm flipH="1" flipV="1">
            <a:off x="7712467" y="5021546"/>
            <a:ext cx="173635" cy="173277"/>
          </a:xfrm>
          <a:prstGeom prst="ellipse">
            <a:avLst/>
          </a:prstGeom>
          <a:solidFill>
            <a:srgbClr val="E4DFFD"/>
          </a:solidFill>
          <a:ln w="38100" cap="flat" cmpd="sng" algn="ctr">
            <a:solidFill>
              <a:srgbClr val="795CF1"/>
            </a:solidFill>
            <a:prstDash val="solid"/>
            <a:miter lim="800000"/>
          </a:ln>
          <a:effectLst>
            <a:glow rad="25400">
              <a:schemeClr val="bg1"/>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7948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81B4CE3-DA02-B361-6FE9-8FF5CA93448D}"/>
              </a:ext>
            </a:extLst>
          </p:cNvPr>
          <p:cNvGrpSpPr/>
          <p:nvPr/>
        </p:nvGrpSpPr>
        <p:grpSpPr>
          <a:xfrm>
            <a:off x="-11494" y="0"/>
            <a:ext cx="12192000" cy="6858000"/>
            <a:chOff x="0" y="-12526"/>
            <a:chExt cx="12192000" cy="6858000"/>
          </a:xfrm>
          <a:effectLst/>
        </p:grpSpPr>
        <p:grpSp>
          <p:nvGrpSpPr>
            <p:cNvPr id="9" name="Group 8">
              <a:extLst>
                <a:ext uri="{FF2B5EF4-FFF2-40B4-BE49-F238E27FC236}">
                  <a16:creationId xmlns:a16="http://schemas.microsoft.com/office/drawing/2014/main" id="{4AE95571-D748-2B05-9C5E-0547612AA98F}"/>
                </a:ext>
              </a:extLst>
            </p:cNvPr>
            <p:cNvGrpSpPr/>
            <p:nvPr/>
          </p:nvGrpSpPr>
          <p:grpSpPr>
            <a:xfrm>
              <a:off x="0" y="-12526"/>
              <a:ext cx="12192000" cy="6858000"/>
              <a:chOff x="0" y="-12526"/>
              <a:chExt cx="12192000" cy="6858000"/>
            </a:xfrm>
          </p:grpSpPr>
          <p:sp>
            <p:nvSpPr>
              <p:cNvPr id="13" name="Triangle 12">
                <a:extLst>
                  <a:ext uri="{FF2B5EF4-FFF2-40B4-BE49-F238E27FC236}">
                    <a16:creationId xmlns:a16="http://schemas.microsoft.com/office/drawing/2014/main" id="{090A4143-A740-3C28-6EE3-A779E46A96C0}"/>
                  </a:ext>
                </a:extLst>
              </p:cNvPr>
              <p:cNvSpPr/>
              <p:nvPr/>
            </p:nvSpPr>
            <p:spPr>
              <a:xfrm rot="10800000" flipH="1">
                <a:off x="1" y="-4"/>
                <a:ext cx="575037" cy="3569922"/>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riangle 13">
                <a:extLst>
                  <a:ext uri="{FF2B5EF4-FFF2-40B4-BE49-F238E27FC236}">
                    <a16:creationId xmlns:a16="http://schemas.microsoft.com/office/drawing/2014/main" id="{86D12F55-21B9-42EB-C9C5-806DFEDAED4E}"/>
                  </a:ext>
                </a:extLst>
              </p:cNvPr>
              <p:cNvSpPr/>
              <p:nvPr/>
            </p:nvSpPr>
            <p:spPr>
              <a:xfrm rot="10800000" flipH="1">
                <a:off x="1" y="0"/>
                <a:ext cx="225468" cy="2868460"/>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663B6BA-C74F-1A0E-BB81-3AC167B22FC9}"/>
                  </a:ext>
                </a:extLst>
              </p:cNvPr>
              <p:cNvSpPr/>
              <p:nvPr/>
            </p:nvSpPr>
            <p:spPr>
              <a:xfrm>
                <a:off x="0" y="-12526"/>
                <a:ext cx="12192000" cy="6858000"/>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9">
              <a:extLst>
                <a:ext uri="{FF2B5EF4-FFF2-40B4-BE49-F238E27FC236}">
                  <a16:creationId xmlns:a16="http://schemas.microsoft.com/office/drawing/2014/main" id="{70FA25DF-2E1B-9DA9-D865-331718D0BC32}"/>
                </a:ext>
              </a:extLst>
            </p:cNvPr>
            <p:cNvSpPr/>
            <p:nvPr/>
          </p:nvSpPr>
          <p:spPr>
            <a:xfrm>
              <a:off x="102296" y="250521"/>
              <a:ext cx="11987408" cy="125260"/>
            </a:xfrm>
            <a:prstGeom prst="rect">
              <a:avLst/>
            </a:prstGeom>
            <a:solidFill>
              <a:srgbClr val="5F232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002362BB-BAB8-AC08-2111-68C9A1C641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4389" y="112214"/>
              <a:ext cx="4783222" cy="401873"/>
            </a:xfrm>
            <a:prstGeom prst="rect">
              <a:avLst/>
            </a:prstGeom>
            <a:ln w="57150">
              <a:solidFill>
                <a:schemeClr val="bg1"/>
              </a:solidFill>
            </a:ln>
          </p:spPr>
        </p:pic>
        <p:sp>
          <p:nvSpPr>
            <p:cNvPr id="12" name="Rectangle 11">
              <a:extLst>
                <a:ext uri="{FF2B5EF4-FFF2-40B4-BE49-F238E27FC236}">
                  <a16:creationId xmlns:a16="http://schemas.microsoft.com/office/drawing/2014/main" id="{3589DE99-E6FD-CF76-9EB0-A709CEF1CE3F}"/>
                </a:ext>
              </a:extLst>
            </p:cNvPr>
            <p:cNvSpPr/>
            <p:nvPr/>
          </p:nvSpPr>
          <p:spPr>
            <a:xfrm>
              <a:off x="0" y="12526"/>
              <a:ext cx="12192000" cy="681740"/>
            </a:xfrm>
            <a:prstGeom prst="rect">
              <a:avLst/>
            </a:prstGeom>
            <a:gradFill flip="none" rotWithShape="1">
              <a:gsLst>
                <a:gs pos="100000">
                  <a:schemeClr val="bg1">
                    <a:alpha val="30000"/>
                  </a:schemeClr>
                </a:gs>
                <a:gs pos="0">
                  <a:schemeClr val="accent1">
                    <a:lumMod val="5000"/>
                    <a:lumOff val="95000"/>
                    <a:alpha val="0"/>
                  </a:schemeClr>
                </a:gs>
                <a:gs pos="23000">
                  <a:schemeClr val="bg1">
                    <a:alpha val="17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Box 3">
            <a:extLst>
              <a:ext uri="{FF2B5EF4-FFF2-40B4-BE49-F238E27FC236}">
                <a16:creationId xmlns:a16="http://schemas.microsoft.com/office/drawing/2014/main" id="{1E683BC6-AAFC-1F49-A4E2-21775704D049}"/>
              </a:ext>
            </a:extLst>
          </p:cNvPr>
          <p:cNvSpPr txBox="1"/>
          <p:nvPr/>
        </p:nvSpPr>
        <p:spPr>
          <a:xfrm>
            <a:off x="10282471" y="395852"/>
            <a:ext cx="1831585" cy="261610"/>
          </a:xfrm>
          <a:prstGeom prst="rect">
            <a:avLst/>
          </a:prstGeom>
          <a:noFill/>
          <a:effectLst/>
        </p:spPr>
        <p:txBody>
          <a:bodyPr wrap="square" rtlCol="0" anchor="ctr">
            <a:spAutoFit/>
          </a:bodyPr>
          <a:lstStyle/>
          <a:p>
            <a:pPr marL="238125" indent="-238125" algn="r"/>
            <a:r>
              <a:rPr lang="en-US" sz="1100" dirty="0">
                <a:solidFill>
                  <a:schemeClr val="tx1">
                    <a:lumMod val="65000"/>
                    <a:lumOff val="35000"/>
                  </a:schemeClr>
                </a:solidFill>
                <a:latin typeface="Cambria" panose="02040503050406030204" pitchFamily="18" charset="0"/>
              </a:rPr>
              <a:t>ECE 1022 </a:t>
            </a:r>
            <a:endParaRPr lang="en-US" sz="1600" b="1" dirty="0">
              <a:latin typeface="Cambria" panose="02040503050406030204" pitchFamily="18" charset="0"/>
            </a:endParaRPr>
          </a:p>
        </p:txBody>
      </p:sp>
      <p:sp>
        <p:nvSpPr>
          <p:cNvPr id="120" name="Rounded Rectangle 119">
            <a:extLst>
              <a:ext uri="{FF2B5EF4-FFF2-40B4-BE49-F238E27FC236}">
                <a16:creationId xmlns:a16="http://schemas.microsoft.com/office/drawing/2014/main" id="{EEF8321D-065C-77FC-DD3C-D588854F7FF5}"/>
              </a:ext>
            </a:extLst>
          </p:cNvPr>
          <p:cNvSpPr/>
          <p:nvPr/>
        </p:nvSpPr>
        <p:spPr>
          <a:xfrm>
            <a:off x="579120" y="655320"/>
            <a:ext cx="11033760" cy="6020557"/>
          </a:xfrm>
          <a:prstGeom prst="roundRect">
            <a:avLst>
              <a:gd name="adj" fmla="val 3070"/>
            </a:avLst>
          </a:prstGeom>
          <a:solidFill>
            <a:srgbClr val="E2EBFC"/>
          </a:solidFill>
          <a:ln w="41275" cap="rnd" cmpd="sng" algn="ctr">
            <a:solidFill>
              <a:srgbClr val="648FFF"/>
            </a:solidFill>
            <a:prstDash val="sysDash"/>
            <a:miter lim="800000"/>
          </a:ln>
          <a:effectLst/>
        </p:spPr>
        <p:txBody>
          <a:bodyPr rot="0" spcFirstLastPara="0" vert="horz" wrap="square" lIns="68580" tIns="34290" rIns="68580" bIns="34290" numCol="1" spcCol="0" rtlCol="0" fromWordArt="0" anchor="ctr" anchorCtr="0" forceAA="0" compatLnSpc="1">
            <a:prstTxWarp prst="textNoShape">
              <a:avLst/>
            </a:prstTxWarp>
            <a:noAutofit/>
          </a:bodyPr>
          <a:lstStyle/>
          <a:p>
            <a:pPr marL="0" marR="7620" lvl="0" indent="0" algn="ctr" defTabSz="914400" eaLnBrk="1" fontAlgn="auto" latinLnBrk="0" hangingPunct="1">
              <a:lnSpc>
                <a:spcPct val="112000"/>
              </a:lnSpc>
              <a:spcBef>
                <a:spcPts val="0"/>
              </a:spcBef>
              <a:spcAft>
                <a:spcPts val="0"/>
              </a:spcAft>
              <a:buClrTx/>
              <a:buSzTx/>
              <a:buFontTx/>
              <a:buNone/>
              <a:tabLst/>
              <a:defRPr/>
            </a:pPr>
            <a:endParaRPr kumimoji="0" lang="en-US" sz="825" b="0" i="0" u="none" strike="noStrike" kern="0" cap="none" spc="0" normalizeH="0" baseline="0" noProof="0" dirty="0">
              <a:ln>
                <a:noFill/>
              </a:ln>
              <a:solidFill>
                <a:srgbClr val="000000"/>
              </a:solidFill>
              <a:effectLst/>
              <a:uLnTx/>
              <a:uFillTx/>
              <a:latin typeface="Calibri" panose="020F0502020204030204"/>
              <a:ea typeface="Calibri" panose="020F0502020204030204" pitchFamily="34" charset="0"/>
              <a:cs typeface="+mn-cs"/>
            </a:endParaRPr>
          </a:p>
        </p:txBody>
      </p:sp>
      <p:sp>
        <p:nvSpPr>
          <p:cNvPr id="121" name="TextBox 120">
            <a:extLst>
              <a:ext uri="{FF2B5EF4-FFF2-40B4-BE49-F238E27FC236}">
                <a16:creationId xmlns:a16="http://schemas.microsoft.com/office/drawing/2014/main" id="{C76658A0-2D29-B12A-D044-A4EF31D59CA9}"/>
              </a:ext>
            </a:extLst>
          </p:cNvPr>
          <p:cNvSpPr txBox="1"/>
          <p:nvPr/>
        </p:nvSpPr>
        <p:spPr>
          <a:xfrm>
            <a:off x="3321002" y="951640"/>
            <a:ext cx="5527009" cy="519226"/>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4472C4">
                    <a:lumMod val="75000"/>
                  </a:srgbClr>
                </a:solidFill>
                <a:effectLst>
                  <a:glow rad="63500">
                    <a:srgbClr val="FFFFFF">
                      <a:alpha val="50000"/>
                    </a:srgbClr>
                  </a:glow>
                </a:effectLst>
                <a:uLnTx/>
                <a:uFillTx/>
                <a:latin typeface="Calibri" panose="020F0502020204030204"/>
              </a:rPr>
              <a:t>if-else statements</a:t>
            </a:r>
          </a:p>
        </p:txBody>
      </p:sp>
      <p:grpSp>
        <p:nvGrpSpPr>
          <p:cNvPr id="91" name="Group 90">
            <a:extLst>
              <a:ext uri="{FF2B5EF4-FFF2-40B4-BE49-F238E27FC236}">
                <a16:creationId xmlns:a16="http://schemas.microsoft.com/office/drawing/2014/main" id="{BA3A5F03-D307-D4FC-ED04-166DBD1975C8}"/>
              </a:ext>
            </a:extLst>
          </p:cNvPr>
          <p:cNvGrpSpPr/>
          <p:nvPr/>
        </p:nvGrpSpPr>
        <p:grpSpPr>
          <a:xfrm>
            <a:off x="1083665" y="2189250"/>
            <a:ext cx="3918143" cy="3791476"/>
            <a:chOff x="1084869" y="1701437"/>
            <a:chExt cx="3918143" cy="3791476"/>
          </a:xfrm>
          <a:effectLst/>
        </p:grpSpPr>
        <p:sp>
          <p:nvSpPr>
            <p:cNvPr id="122" name="TextBox 121">
              <a:extLst>
                <a:ext uri="{FF2B5EF4-FFF2-40B4-BE49-F238E27FC236}">
                  <a16:creationId xmlns:a16="http://schemas.microsoft.com/office/drawing/2014/main" id="{50E789BD-B885-94D7-8045-ACE104A47408}"/>
                </a:ext>
              </a:extLst>
            </p:cNvPr>
            <p:cNvSpPr txBox="1"/>
            <p:nvPr/>
          </p:nvSpPr>
          <p:spPr>
            <a:xfrm>
              <a:off x="1084869" y="1701437"/>
              <a:ext cx="3918143" cy="3791476"/>
            </a:xfrm>
            <a:prstGeom prst="rect">
              <a:avLst/>
            </a:prstGeom>
            <a:solidFill>
              <a:srgbClr val="FFFFFF">
                <a:lumMod val="85000"/>
              </a:srgbClr>
            </a:solidFill>
            <a:ln>
              <a:solidFill>
                <a:srgbClr val="FFFFFF">
                  <a:lumMod val="75000"/>
                </a:srgbClr>
              </a:solidFill>
            </a:ln>
            <a:effectLst>
              <a:glow rad="12700">
                <a:srgbClr val="000000">
                  <a:lumMod val="75000"/>
                  <a:lumOff val="25000"/>
                </a:srgbClr>
              </a:glow>
            </a:effectLst>
          </p:spPr>
          <p:txBody>
            <a:bodyPr wrap="square" rtlCol="0">
              <a:noAutofit/>
            </a:bodyPr>
            <a:lstStyle/>
            <a:p>
              <a:pPr marL="9525" marR="0" lvl="1"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000000"/>
                </a:solidFill>
                <a:effectLst/>
                <a:uLnTx/>
                <a:uFillTx/>
                <a:latin typeface="Calibri" panose="020F0502020204030204"/>
              </a:endParaRPr>
            </a:p>
          </p:txBody>
        </p:sp>
        <p:sp>
          <p:nvSpPr>
            <p:cNvPr id="123" name="TextBox 122">
              <a:extLst>
                <a:ext uri="{FF2B5EF4-FFF2-40B4-BE49-F238E27FC236}">
                  <a16:creationId xmlns:a16="http://schemas.microsoft.com/office/drawing/2014/main" id="{A513EE59-A6D9-6990-8F5B-D3321AE7285B}"/>
                </a:ext>
              </a:extLst>
            </p:cNvPr>
            <p:cNvSpPr txBox="1"/>
            <p:nvPr/>
          </p:nvSpPr>
          <p:spPr>
            <a:xfrm>
              <a:off x="1186415" y="2043488"/>
              <a:ext cx="3748196" cy="3350477"/>
            </a:xfrm>
            <a:prstGeom prst="rect">
              <a:avLst/>
            </a:prstGeom>
            <a:noFill/>
            <a:ln>
              <a:noFill/>
            </a:ln>
          </p:spPr>
          <p:txBody>
            <a:bodyPr wrap="square" lIns="0" tIns="0" rIns="0" bIns="0" rtlCol="0">
              <a:noAutofit/>
            </a:bodyPr>
            <a:lstStyle/>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Description</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checks for true condition and enters any first true if()</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or else, then exits the control structure. Only one of</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the if, else if, or else blocks will execute.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Parameter</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 Boolean expression (result will be true or false)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Syntax</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endPar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endParaRP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if(condition1)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r>
                <a:rPr kumimoji="0" lang="en-US" sz="1000" b="0" i="0" u="none" strike="noStrike" kern="0" cap="none" spc="0" normalizeH="0" baseline="0" noProof="0" dirty="0" err="1">
                  <a:ln>
                    <a:noFill/>
                  </a:ln>
                  <a:solidFill>
                    <a:srgbClr val="795CF1"/>
                  </a:solidFill>
                  <a:effectLst/>
                  <a:uLnTx/>
                  <a:uFill>
                    <a:solidFill>
                      <a:srgbClr val="E7E6E6">
                        <a:lumMod val="50000"/>
                      </a:srgbClr>
                    </a:solidFill>
                  </a:uFill>
                  <a:latin typeface="Calibri" panose="020F0502020204030204"/>
                </a:rPr>
                <a:t>doThing</a:t>
              </a: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else if(condition2)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doThing2();</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else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doThing3();</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endPar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endParaRP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Notes</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 multiple conditions can nest inside the parentheses</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 multiple statements can be inside the brackets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endPar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endParaRPr>
            </a:p>
            <a:p>
              <a:pPr marL="9525" marR="0" lvl="1" indent="0" algn="ctr"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800" b="1" i="0" u="none" strike="noStrike" kern="0" cap="none" spc="0" normalizeH="0" baseline="0" noProof="0" dirty="0">
                  <a:ln>
                    <a:noFill/>
                  </a:ln>
                  <a:solidFill>
                    <a:srgbClr val="648E48"/>
                  </a:solidFill>
                  <a:effectLst/>
                  <a:uLnTx/>
                  <a:uFill>
                    <a:solidFill>
                      <a:srgbClr val="E7E6E6">
                        <a:lumMod val="50000"/>
                      </a:srgbClr>
                    </a:solidFill>
                  </a:uFill>
                  <a:latin typeface="Calibri" panose="020F0502020204030204"/>
                  <a:hlinkClick r:id="rId4">
                    <a:extLst>
                      <a:ext uri="{A12FA001-AC4F-418D-AE19-62706E023703}">
                        <ahyp:hlinkClr xmlns:ahyp="http://schemas.microsoft.com/office/drawing/2018/hyperlinkcolor" val="tx"/>
                      </a:ext>
                    </a:extLst>
                  </a:hlinkClick>
                </a:rPr>
                <a:t>https://www.arduino.cc/reference/cs/language/structure/control-structure/else/</a:t>
              </a:r>
              <a:endParaRPr kumimoji="0" lang="en-US" sz="800" b="1" i="0" u="none" strike="noStrike" kern="0" cap="none" spc="0" normalizeH="0" baseline="0" noProof="0" dirty="0">
                <a:ln>
                  <a:noFill/>
                </a:ln>
                <a:solidFill>
                  <a:srgbClr val="648E48"/>
                </a:solidFill>
                <a:effectLst/>
                <a:uLnTx/>
                <a:uFill>
                  <a:solidFill>
                    <a:srgbClr val="E7E6E6">
                      <a:lumMod val="50000"/>
                    </a:srgbClr>
                  </a:solidFill>
                </a:uFill>
                <a:latin typeface="Calibri" panose="020F0502020204030204"/>
              </a:endParaRPr>
            </a:p>
          </p:txBody>
        </p:sp>
        <p:sp>
          <p:nvSpPr>
            <p:cNvPr id="124" name="TextBox 123">
              <a:extLst>
                <a:ext uri="{FF2B5EF4-FFF2-40B4-BE49-F238E27FC236}">
                  <a16:creationId xmlns:a16="http://schemas.microsoft.com/office/drawing/2014/main" id="{070D3E30-FBA6-BBED-FE57-7E5EBE4E089F}"/>
                </a:ext>
              </a:extLst>
            </p:cNvPr>
            <p:cNvSpPr txBox="1"/>
            <p:nvPr/>
          </p:nvSpPr>
          <p:spPr>
            <a:xfrm>
              <a:off x="1189740" y="1753291"/>
              <a:ext cx="3221852" cy="243039"/>
            </a:xfrm>
            <a:prstGeom prst="rect">
              <a:avLst/>
            </a:prstGeom>
            <a:noFill/>
            <a:ln>
              <a:noFill/>
            </a:ln>
          </p:spPr>
          <p:txBody>
            <a:bodyPr wrap="square" lIns="0" tIns="0" rIns="0" bIns="0" rtlCol="0" anchor="ctr" anchorCtr="0">
              <a:noAutofit/>
            </a:bodyPr>
            <a:lstStyle/>
            <a:p>
              <a:pPr marL="9525" marR="0" lvl="1"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Calibri" panose="020F0502020204030204"/>
                </a:rPr>
                <a:t>If</a:t>
              </a:r>
              <a:r>
                <a:rPr lang="en-US" sz="1400" b="1" kern="0" dirty="0">
                  <a:solidFill>
                    <a:srgbClr val="000000"/>
                  </a:solidFill>
                  <a:latin typeface="Calibri" panose="020F0502020204030204"/>
                </a:rPr>
                <a:t>, else if,</a:t>
              </a:r>
              <a:r>
                <a:rPr kumimoji="0" lang="en-US" sz="1400" b="1" i="0" u="none" strike="noStrike" kern="0" cap="none" spc="0" normalizeH="0" baseline="0" noProof="0" dirty="0">
                  <a:ln>
                    <a:noFill/>
                  </a:ln>
                  <a:solidFill>
                    <a:srgbClr val="000000"/>
                  </a:solidFill>
                  <a:effectLst/>
                  <a:uLnTx/>
                  <a:uFillTx/>
                  <a:latin typeface="Calibri" panose="020F0502020204030204"/>
                </a:rPr>
                <a:t> and else</a:t>
              </a:r>
            </a:p>
          </p:txBody>
        </p:sp>
      </p:grpSp>
      <p:sp>
        <p:nvSpPr>
          <p:cNvPr id="126" name="Diamond 125">
            <a:extLst>
              <a:ext uri="{FF2B5EF4-FFF2-40B4-BE49-F238E27FC236}">
                <a16:creationId xmlns:a16="http://schemas.microsoft.com/office/drawing/2014/main" id="{366D4D36-C4FA-5BC8-6241-44AB52B2DFEB}"/>
              </a:ext>
            </a:extLst>
          </p:cNvPr>
          <p:cNvSpPr/>
          <p:nvPr/>
        </p:nvSpPr>
        <p:spPr>
          <a:xfrm>
            <a:off x="7532207" y="2163446"/>
            <a:ext cx="1127285" cy="789041"/>
          </a:xfrm>
          <a:prstGeom prst="diamond">
            <a:avLst/>
          </a:prstGeom>
          <a:solidFill>
            <a:srgbClr val="FFF0D5"/>
          </a:solidFill>
          <a:ln w="38100" cap="flat" cmpd="sng" algn="ctr">
            <a:solidFill>
              <a:srgbClr val="FFB100"/>
            </a:solidFill>
            <a:prstDash val="solid"/>
            <a:miter lim="800000"/>
          </a:ln>
          <a:effectLst>
            <a:glow rad="25400">
              <a:srgbClr val="FFC000">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rPr>
              <a:t>If</a:t>
            </a:r>
            <a:r>
              <a:rPr lang="en-US" sz="1000" b="1" kern="0" dirty="0">
                <a:solidFill>
                  <a:schemeClr val="accent3">
                    <a:lumMod val="50000"/>
                  </a:schemeClr>
                </a:solidFill>
                <a:latin typeface="Calibri" panose="020F0502020204030204"/>
              </a:rPr>
              <a:t> sensor value &gt; setpoint1</a:t>
            </a:r>
            <a:endParaRPr kumimoji="0" lang="en-US" sz="100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endParaRPr>
          </a:p>
        </p:txBody>
      </p:sp>
      <p:sp>
        <p:nvSpPr>
          <p:cNvPr id="127" name="Rounded Rectangle 126">
            <a:extLst>
              <a:ext uri="{FF2B5EF4-FFF2-40B4-BE49-F238E27FC236}">
                <a16:creationId xmlns:a16="http://schemas.microsoft.com/office/drawing/2014/main" id="{7DAE9B21-93D2-CF37-5ADE-0541866A3B46}"/>
              </a:ext>
            </a:extLst>
          </p:cNvPr>
          <p:cNvSpPr/>
          <p:nvPr/>
        </p:nvSpPr>
        <p:spPr>
          <a:xfrm>
            <a:off x="6743834" y="1657966"/>
            <a:ext cx="750956" cy="318133"/>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Start</a:t>
            </a:r>
          </a:p>
        </p:txBody>
      </p:sp>
      <p:sp>
        <p:nvSpPr>
          <p:cNvPr id="128" name="Rounded Rectangle 127">
            <a:extLst>
              <a:ext uri="{FF2B5EF4-FFF2-40B4-BE49-F238E27FC236}">
                <a16:creationId xmlns:a16="http://schemas.microsoft.com/office/drawing/2014/main" id="{6076EB3F-90EA-FAB6-7960-F7EB6EFB3F17}"/>
              </a:ext>
            </a:extLst>
          </p:cNvPr>
          <p:cNvSpPr/>
          <p:nvPr/>
        </p:nvSpPr>
        <p:spPr>
          <a:xfrm>
            <a:off x="6966876" y="6172047"/>
            <a:ext cx="1235168" cy="444905"/>
          </a:xfrm>
          <a:prstGeom prst="roundRect">
            <a:avLst>
              <a:gd name="adj" fmla="val 50000"/>
            </a:avLst>
          </a:prstGeom>
          <a:solidFill>
            <a:srgbClr val="E3F0D9"/>
          </a:solidFill>
          <a:ln w="38100" cap="flat" cmpd="sng" algn="ctr">
            <a:solidFill>
              <a:srgbClr val="648E48"/>
            </a:solidFill>
            <a:prstDash val="solid"/>
            <a:miter lim="800000"/>
          </a:ln>
          <a:effectLst>
            <a:glow rad="25400">
              <a:srgbClr val="E3F0D9"/>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648E48"/>
                </a:solidFill>
                <a:effectLst/>
                <a:uLnTx/>
                <a:uFillTx/>
                <a:latin typeface="Calibri" panose="020F0502020204030204"/>
                <a:ea typeface="+mn-ea"/>
                <a:cs typeface="+mn-cs"/>
              </a:rPr>
              <a:t>Continue in code</a:t>
            </a:r>
          </a:p>
        </p:txBody>
      </p:sp>
      <p:cxnSp>
        <p:nvCxnSpPr>
          <p:cNvPr id="129" name="Elbow Connector 128">
            <a:extLst>
              <a:ext uri="{FF2B5EF4-FFF2-40B4-BE49-F238E27FC236}">
                <a16:creationId xmlns:a16="http://schemas.microsoft.com/office/drawing/2014/main" id="{852A4E81-06FB-674C-323C-BAE8FC5C22EA}"/>
              </a:ext>
            </a:extLst>
          </p:cNvPr>
          <p:cNvCxnSpPr>
            <a:cxnSpLocks/>
            <a:stCxn id="126" idx="1"/>
            <a:endCxn id="131" idx="0"/>
          </p:cNvCxnSpPr>
          <p:nvPr/>
        </p:nvCxnSpPr>
        <p:spPr>
          <a:xfrm rot="10800000" flipV="1">
            <a:off x="6427935" y="2557967"/>
            <a:ext cx="1104272" cy="562352"/>
          </a:xfrm>
          <a:prstGeom prst="bentConnector2">
            <a:avLst/>
          </a:prstGeom>
          <a:noFill/>
          <a:ln w="50800" cap="flat" cmpd="sng" algn="ctr">
            <a:solidFill>
              <a:srgbClr val="795CF1"/>
            </a:solidFill>
            <a:prstDash val="solid"/>
            <a:miter lim="800000"/>
            <a:tailEnd type="triangle"/>
          </a:ln>
          <a:effectLst>
            <a:glow rad="12700">
              <a:srgbClr val="FFFFFF"/>
            </a:glow>
          </a:effectLst>
        </p:spPr>
      </p:cxnSp>
      <p:cxnSp>
        <p:nvCxnSpPr>
          <p:cNvPr id="130" name="Elbow Connector 129">
            <a:extLst>
              <a:ext uri="{FF2B5EF4-FFF2-40B4-BE49-F238E27FC236}">
                <a16:creationId xmlns:a16="http://schemas.microsoft.com/office/drawing/2014/main" id="{0E62B003-39FB-AC59-3490-AD739F9EF620}"/>
              </a:ext>
            </a:extLst>
          </p:cNvPr>
          <p:cNvCxnSpPr>
            <a:cxnSpLocks/>
            <a:stCxn id="127" idx="3"/>
            <a:endCxn id="126" idx="0"/>
          </p:cNvCxnSpPr>
          <p:nvPr/>
        </p:nvCxnSpPr>
        <p:spPr>
          <a:xfrm>
            <a:off x="7494790" y="1817032"/>
            <a:ext cx="601060" cy="346413"/>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131" name="Rectangle 130">
            <a:extLst>
              <a:ext uri="{FF2B5EF4-FFF2-40B4-BE49-F238E27FC236}">
                <a16:creationId xmlns:a16="http://schemas.microsoft.com/office/drawing/2014/main" id="{09FD2032-786E-44F0-0B2E-2469E3F707EF}"/>
              </a:ext>
            </a:extLst>
          </p:cNvPr>
          <p:cNvSpPr/>
          <p:nvPr/>
        </p:nvSpPr>
        <p:spPr>
          <a:xfrm>
            <a:off x="5963415" y="3120319"/>
            <a:ext cx="929040" cy="519226"/>
          </a:xfrm>
          <a:prstGeom prst="rect">
            <a:avLst/>
          </a:prstGeom>
          <a:solidFill>
            <a:srgbClr val="FFE0D3"/>
          </a:solidFill>
          <a:ln w="38100" cap="flat" cmpd="sng" algn="ctr">
            <a:solidFill>
              <a:srgbClr val="FF6100"/>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b="1" kern="0" dirty="0">
                <a:solidFill>
                  <a:srgbClr val="ED7D31">
                    <a:lumMod val="75000"/>
                  </a:srgbClr>
                </a:solidFill>
                <a:latin typeface="Calibri" panose="020F0502020204030204"/>
              </a:rPr>
              <a:t>turn on fan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turn off heat</a:t>
            </a:r>
          </a:p>
        </p:txBody>
      </p:sp>
      <p:sp>
        <p:nvSpPr>
          <p:cNvPr id="132" name="Rounded Rectangle 131">
            <a:extLst>
              <a:ext uri="{FF2B5EF4-FFF2-40B4-BE49-F238E27FC236}">
                <a16:creationId xmlns:a16="http://schemas.microsoft.com/office/drawing/2014/main" id="{F244FFA3-65A9-4F4E-E7FB-60236563B58A}"/>
              </a:ext>
            </a:extLst>
          </p:cNvPr>
          <p:cNvSpPr/>
          <p:nvPr/>
        </p:nvSpPr>
        <p:spPr>
          <a:xfrm>
            <a:off x="7337442" y="2662457"/>
            <a:ext cx="494877" cy="253237"/>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43B1"/>
                </a:solidFill>
                <a:effectLst/>
                <a:uLnTx/>
                <a:uFillTx/>
                <a:latin typeface="Calibri" panose="020F0502020204030204"/>
                <a:ea typeface="+mn-ea"/>
                <a:cs typeface="+mn-cs"/>
              </a:rPr>
              <a:t>true</a:t>
            </a:r>
          </a:p>
        </p:txBody>
      </p:sp>
      <p:sp>
        <p:nvSpPr>
          <p:cNvPr id="133" name="Diamond 132">
            <a:extLst>
              <a:ext uri="{FF2B5EF4-FFF2-40B4-BE49-F238E27FC236}">
                <a16:creationId xmlns:a16="http://schemas.microsoft.com/office/drawing/2014/main" id="{7EBD1D51-396B-12A7-302B-09587937523F}"/>
              </a:ext>
            </a:extLst>
          </p:cNvPr>
          <p:cNvSpPr/>
          <p:nvPr/>
        </p:nvSpPr>
        <p:spPr>
          <a:xfrm>
            <a:off x="8786825" y="3500164"/>
            <a:ext cx="1159399" cy="789041"/>
          </a:xfrm>
          <a:prstGeom prst="diamond">
            <a:avLst/>
          </a:prstGeom>
          <a:solidFill>
            <a:srgbClr val="FFF0D5"/>
          </a:solidFill>
          <a:ln w="38100" cap="flat" cmpd="sng" algn="ctr">
            <a:solidFill>
              <a:srgbClr val="FFB100"/>
            </a:solidFill>
            <a:prstDash val="solid"/>
            <a:miter lim="800000"/>
          </a:ln>
          <a:effectLst>
            <a:glow rad="25400">
              <a:srgbClr val="FFC000">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rPr>
              <a:t>If</a:t>
            </a:r>
            <a:r>
              <a:rPr lang="en-US" sz="1050" b="1" kern="0" dirty="0">
                <a:solidFill>
                  <a:schemeClr val="accent3">
                    <a:lumMod val="50000"/>
                  </a:schemeClr>
                </a:solidFill>
                <a:latin typeface="Calibri" panose="020F0502020204030204"/>
              </a:rPr>
              <a:t> sensor value &lt; setpoint2</a:t>
            </a:r>
            <a:endParaRPr kumimoji="0" lang="en-US" sz="105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endParaRPr>
          </a:p>
        </p:txBody>
      </p:sp>
      <p:cxnSp>
        <p:nvCxnSpPr>
          <p:cNvPr id="134" name="Elbow Connector 133">
            <a:extLst>
              <a:ext uri="{FF2B5EF4-FFF2-40B4-BE49-F238E27FC236}">
                <a16:creationId xmlns:a16="http://schemas.microsoft.com/office/drawing/2014/main" id="{25CD2709-F609-6E58-5A2B-2B6E519BD333}"/>
              </a:ext>
            </a:extLst>
          </p:cNvPr>
          <p:cNvCxnSpPr>
            <a:cxnSpLocks/>
            <a:stCxn id="126" idx="2"/>
            <a:endCxn id="133" idx="0"/>
          </p:cNvCxnSpPr>
          <p:nvPr/>
        </p:nvCxnSpPr>
        <p:spPr>
          <a:xfrm rot="16200000" flipH="1">
            <a:off x="8457349" y="2590987"/>
            <a:ext cx="547677" cy="1270675"/>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cxnSp>
        <p:nvCxnSpPr>
          <p:cNvPr id="135" name="Elbow Connector 134">
            <a:extLst>
              <a:ext uri="{FF2B5EF4-FFF2-40B4-BE49-F238E27FC236}">
                <a16:creationId xmlns:a16="http://schemas.microsoft.com/office/drawing/2014/main" id="{3846F8D5-14D8-FD83-B05D-BF7DA05D631B}"/>
              </a:ext>
            </a:extLst>
          </p:cNvPr>
          <p:cNvCxnSpPr>
            <a:cxnSpLocks/>
            <a:stCxn id="133" idx="1"/>
            <a:endCxn id="136" idx="0"/>
          </p:cNvCxnSpPr>
          <p:nvPr/>
        </p:nvCxnSpPr>
        <p:spPr>
          <a:xfrm rot="10800000" flipV="1">
            <a:off x="8118199" y="3894684"/>
            <a:ext cx="668626" cy="766645"/>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136" name="Rectangle 135">
            <a:extLst>
              <a:ext uri="{FF2B5EF4-FFF2-40B4-BE49-F238E27FC236}">
                <a16:creationId xmlns:a16="http://schemas.microsoft.com/office/drawing/2014/main" id="{BC04E431-BEEF-00E6-5992-E439924AD217}"/>
              </a:ext>
            </a:extLst>
          </p:cNvPr>
          <p:cNvSpPr/>
          <p:nvPr/>
        </p:nvSpPr>
        <p:spPr>
          <a:xfrm>
            <a:off x="7671654" y="4661330"/>
            <a:ext cx="893089" cy="493555"/>
          </a:xfrm>
          <a:prstGeom prst="rect">
            <a:avLst/>
          </a:prstGeom>
          <a:solidFill>
            <a:srgbClr val="FFE0D3"/>
          </a:solidFill>
          <a:ln w="38100" cap="flat" cmpd="sng" algn="ctr">
            <a:solidFill>
              <a:srgbClr val="FF6100"/>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b="1" kern="0" dirty="0">
                <a:solidFill>
                  <a:srgbClr val="ED7D31">
                    <a:lumMod val="75000"/>
                  </a:srgbClr>
                </a:solidFill>
                <a:latin typeface="Calibri" panose="020F0502020204030204"/>
              </a:rPr>
              <a:t>turn off fan</a:t>
            </a:r>
          </a:p>
          <a:p>
            <a:pPr marL="0" marR="0" lvl="0" indent="0" algn="ctr" defTabSz="914400" eaLnBrk="1" fontAlgn="auto" latinLnBrk="0" hangingPunct="1">
              <a:lnSpc>
                <a:spcPct val="100000"/>
              </a:lnSpc>
              <a:spcBef>
                <a:spcPts val="0"/>
              </a:spcBef>
              <a:spcAft>
                <a:spcPts val="0"/>
              </a:spcAft>
              <a:buClrTx/>
              <a:buSzTx/>
              <a:buFontTx/>
              <a:buNone/>
              <a:tabLst/>
              <a:defRPr/>
            </a:pPr>
            <a:r>
              <a:rPr lang="en-US" sz="1050" b="1" kern="0" dirty="0">
                <a:solidFill>
                  <a:srgbClr val="ED7D31">
                    <a:lumMod val="75000"/>
                  </a:srgbClr>
                </a:solidFill>
                <a:latin typeface="Calibri" panose="020F0502020204030204"/>
              </a:rPr>
              <a:t>t</a:t>
            </a:r>
            <a:r>
              <a:rPr kumimoji="0" lang="en-US" sz="105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urn on heat</a:t>
            </a:r>
          </a:p>
        </p:txBody>
      </p:sp>
      <p:sp>
        <p:nvSpPr>
          <p:cNvPr id="137" name="Diamond 136">
            <a:extLst>
              <a:ext uri="{FF2B5EF4-FFF2-40B4-BE49-F238E27FC236}">
                <a16:creationId xmlns:a16="http://schemas.microsoft.com/office/drawing/2014/main" id="{ABC2103E-9BF3-F46B-D329-C1B187912266}"/>
              </a:ext>
            </a:extLst>
          </p:cNvPr>
          <p:cNvSpPr/>
          <p:nvPr/>
        </p:nvSpPr>
        <p:spPr>
          <a:xfrm>
            <a:off x="9633648" y="4703872"/>
            <a:ext cx="1127285" cy="789041"/>
          </a:xfrm>
          <a:prstGeom prst="diamond">
            <a:avLst/>
          </a:prstGeom>
          <a:solidFill>
            <a:srgbClr val="FFF0D5"/>
          </a:solidFill>
          <a:ln w="38100" cap="flat" cmpd="sng" algn="ctr">
            <a:solidFill>
              <a:srgbClr val="FFB100"/>
            </a:solidFill>
            <a:prstDash val="solid"/>
            <a:miter lim="800000"/>
          </a:ln>
          <a:effectLst>
            <a:glow rad="25400">
              <a:srgbClr val="FFC000">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rPr>
              <a:t>else</a:t>
            </a:r>
          </a:p>
        </p:txBody>
      </p:sp>
      <p:sp>
        <p:nvSpPr>
          <p:cNvPr id="138" name="Rectangle 137">
            <a:extLst>
              <a:ext uri="{FF2B5EF4-FFF2-40B4-BE49-F238E27FC236}">
                <a16:creationId xmlns:a16="http://schemas.microsoft.com/office/drawing/2014/main" id="{35DAE189-AD02-DC11-B738-A6F33D2287CF}"/>
              </a:ext>
            </a:extLst>
          </p:cNvPr>
          <p:cNvSpPr/>
          <p:nvPr/>
        </p:nvSpPr>
        <p:spPr>
          <a:xfrm>
            <a:off x="8724628" y="5706326"/>
            <a:ext cx="818621" cy="329037"/>
          </a:xfrm>
          <a:prstGeom prst="rect">
            <a:avLst/>
          </a:prstGeom>
          <a:solidFill>
            <a:srgbClr val="FFE0D3"/>
          </a:solidFill>
          <a:ln w="38100" cap="flat" cmpd="sng" algn="ctr">
            <a:solidFill>
              <a:srgbClr val="FF6100"/>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b="1" kern="0" dirty="0">
                <a:solidFill>
                  <a:srgbClr val="ED7D31">
                    <a:lumMod val="75000"/>
                  </a:srgbClr>
                </a:solidFill>
                <a:latin typeface="Calibri" panose="020F0502020204030204"/>
              </a:rPr>
              <a:t>do nothing</a:t>
            </a:r>
            <a:endParaRPr kumimoji="0" lang="en-US" sz="105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139" name="Rounded Rectangle 138">
            <a:extLst>
              <a:ext uri="{FF2B5EF4-FFF2-40B4-BE49-F238E27FC236}">
                <a16:creationId xmlns:a16="http://schemas.microsoft.com/office/drawing/2014/main" id="{79D614FD-D833-56D5-BAC0-AFF6B36F8575}"/>
              </a:ext>
            </a:extLst>
          </p:cNvPr>
          <p:cNvSpPr/>
          <p:nvPr/>
        </p:nvSpPr>
        <p:spPr>
          <a:xfrm>
            <a:off x="8229560" y="2966522"/>
            <a:ext cx="506041" cy="227687"/>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43B1"/>
                </a:solidFill>
                <a:effectLst/>
                <a:uLnTx/>
                <a:uFillTx/>
                <a:latin typeface="Calibri" panose="020F0502020204030204"/>
                <a:ea typeface="+mn-ea"/>
                <a:cs typeface="+mn-cs"/>
              </a:rPr>
              <a:t>false</a:t>
            </a:r>
          </a:p>
        </p:txBody>
      </p:sp>
      <p:cxnSp>
        <p:nvCxnSpPr>
          <p:cNvPr id="140" name="Elbow Connector 139">
            <a:extLst>
              <a:ext uri="{FF2B5EF4-FFF2-40B4-BE49-F238E27FC236}">
                <a16:creationId xmlns:a16="http://schemas.microsoft.com/office/drawing/2014/main" id="{4FCAEF89-30C1-5D8B-57EF-82902B3CDF92}"/>
              </a:ext>
            </a:extLst>
          </p:cNvPr>
          <p:cNvCxnSpPr>
            <a:cxnSpLocks/>
            <a:stCxn id="133" idx="2"/>
            <a:endCxn id="137" idx="0"/>
          </p:cNvCxnSpPr>
          <p:nvPr/>
        </p:nvCxnSpPr>
        <p:spPr>
          <a:xfrm rot="16200000" flipH="1">
            <a:off x="9574575" y="4081155"/>
            <a:ext cx="414667" cy="830766"/>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sp>
        <p:nvSpPr>
          <p:cNvPr id="141" name="Rounded Rectangle 140">
            <a:extLst>
              <a:ext uri="{FF2B5EF4-FFF2-40B4-BE49-F238E27FC236}">
                <a16:creationId xmlns:a16="http://schemas.microsoft.com/office/drawing/2014/main" id="{16178F8D-0049-DBE6-3A59-B90899AD3159}"/>
              </a:ext>
            </a:extLst>
          </p:cNvPr>
          <p:cNvSpPr/>
          <p:nvPr/>
        </p:nvSpPr>
        <p:spPr>
          <a:xfrm>
            <a:off x="9402705" y="4211678"/>
            <a:ext cx="506041" cy="227687"/>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43B1"/>
                </a:solidFill>
                <a:effectLst/>
                <a:uLnTx/>
                <a:uFillTx/>
                <a:latin typeface="Calibri" panose="020F0502020204030204"/>
                <a:ea typeface="+mn-ea"/>
                <a:cs typeface="+mn-cs"/>
              </a:rPr>
              <a:t>false</a:t>
            </a:r>
          </a:p>
        </p:txBody>
      </p:sp>
      <p:sp>
        <p:nvSpPr>
          <p:cNvPr id="142" name="Rounded Rectangle 141">
            <a:extLst>
              <a:ext uri="{FF2B5EF4-FFF2-40B4-BE49-F238E27FC236}">
                <a16:creationId xmlns:a16="http://schemas.microsoft.com/office/drawing/2014/main" id="{1C07B235-0DBD-1330-19B3-B75B44A1A1EF}"/>
              </a:ext>
            </a:extLst>
          </p:cNvPr>
          <p:cNvSpPr/>
          <p:nvPr/>
        </p:nvSpPr>
        <p:spPr>
          <a:xfrm>
            <a:off x="8208525" y="3969106"/>
            <a:ext cx="494877" cy="253237"/>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5943B1"/>
                </a:solidFill>
                <a:effectLst/>
                <a:uLnTx/>
                <a:uFillTx/>
                <a:latin typeface="Calibri" panose="020F0502020204030204"/>
                <a:ea typeface="+mn-ea"/>
                <a:cs typeface="+mn-cs"/>
              </a:rPr>
              <a:t>true</a:t>
            </a:r>
          </a:p>
        </p:txBody>
      </p:sp>
      <p:cxnSp>
        <p:nvCxnSpPr>
          <p:cNvPr id="143" name="Elbow Connector 142">
            <a:extLst>
              <a:ext uri="{FF2B5EF4-FFF2-40B4-BE49-F238E27FC236}">
                <a16:creationId xmlns:a16="http://schemas.microsoft.com/office/drawing/2014/main" id="{9BDC5DEE-53E2-823C-DA16-50DE6ECF33AB}"/>
              </a:ext>
            </a:extLst>
          </p:cNvPr>
          <p:cNvCxnSpPr>
            <a:cxnSpLocks/>
            <a:stCxn id="137" idx="2"/>
            <a:endCxn id="138" idx="3"/>
          </p:cNvCxnSpPr>
          <p:nvPr/>
        </p:nvCxnSpPr>
        <p:spPr>
          <a:xfrm rot="5400000">
            <a:off x="9681304" y="5354858"/>
            <a:ext cx="377932" cy="654042"/>
          </a:xfrm>
          <a:prstGeom prst="bentConnector2">
            <a:avLst/>
          </a:prstGeom>
          <a:noFill/>
          <a:ln w="50800" cap="flat" cmpd="sng" algn="ctr">
            <a:solidFill>
              <a:srgbClr val="795CF1"/>
            </a:solidFill>
            <a:prstDash val="solid"/>
            <a:miter lim="800000"/>
            <a:tailEnd type="triangle"/>
          </a:ln>
          <a:effectLst>
            <a:glow rad="12700">
              <a:srgbClr val="FFFFFF"/>
            </a:glow>
          </a:effectLst>
        </p:spPr>
      </p:cxnSp>
      <p:cxnSp>
        <p:nvCxnSpPr>
          <p:cNvPr id="144" name="Elbow Connector 143">
            <a:extLst>
              <a:ext uri="{FF2B5EF4-FFF2-40B4-BE49-F238E27FC236}">
                <a16:creationId xmlns:a16="http://schemas.microsoft.com/office/drawing/2014/main" id="{B881A213-84F6-038D-DB8C-9D602E3B0569}"/>
              </a:ext>
            </a:extLst>
          </p:cNvPr>
          <p:cNvCxnSpPr>
            <a:cxnSpLocks/>
            <a:stCxn id="131" idx="2"/>
            <a:endCxn id="128" idx="0"/>
          </p:cNvCxnSpPr>
          <p:nvPr/>
        </p:nvCxnSpPr>
        <p:spPr>
          <a:xfrm rot="16200000" flipH="1">
            <a:off x="5739946" y="4327533"/>
            <a:ext cx="2532502" cy="1156525"/>
          </a:xfrm>
          <a:prstGeom prst="bentConnector3">
            <a:avLst>
              <a:gd name="adj1" fmla="val 88308"/>
            </a:avLst>
          </a:prstGeom>
          <a:noFill/>
          <a:ln w="50800" cap="flat" cmpd="sng" algn="ctr">
            <a:solidFill>
              <a:srgbClr val="795CF1"/>
            </a:solidFill>
            <a:prstDash val="solid"/>
            <a:miter lim="800000"/>
            <a:tailEnd type="triangle"/>
          </a:ln>
          <a:effectLst>
            <a:glow rad="12700">
              <a:srgbClr val="FFFFFF"/>
            </a:glow>
          </a:effectLst>
        </p:spPr>
      </p:cxnSp>
      <p:cxnSp>
        <p:nvCxnSpPr>
          <p:cNvPr id="145" name="Elbow Connector 144">
            <a:extLst>
              <a:ext uri="{FF2B5EF4-FFF2-40B4-BE49-F238E27FC236}">
                <a16:creationId xmlns:a16="http://schemas.microsoft.com/office/drawing/2014/main" id="{97E64D90-86AA-8BF6-9C26-F1B2DF57C497}"/>
              </a:ext>
            </a:extLst>
          </p:cNvPr>
          <p:cNvCxnSpPr>
            <a:cxnSpLocks/>
            <a:stCxn id="136" idx="2"/>
            <a:endCxn id="128" idx="0"/>
          </p:cNvCxnSpPr>
          <p:nvPr/>
        </p:nvCxnSpPr>
        <p:spPr>
          <a:xfrm rot="5400000">
            <a:off x="7342749" y="5396597"/>
            <a:ext cx="1017162" cy="533739"/>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cxnSp>
        <p:nvCxnSpPr>
          <p:cNvPr id="146" name="Elbow Connector 145">
            <a:extLst>
              <a:ext uri="{FF2B5EF4-FFF2-40B4-BE49-F238E27FC236}">
                <a16:creationId xmlns:a16="http://schemas.microsoft.com/office/drawing/2014/main" id="{6D937E1F-72C2-BF22-6A8F-69F22F85A258}"/>
              </a:ext>
            </a:extLst>
          </p:cNvPr>
          <p:cNvCxnSpPr>
            <a:cxnSpLocks/>
            <a:stCxn id="138" idx="1"/>
            <a:endCxn id="128" idx="0"/>
          </p:cNvCxnSpPr>
          <p:nvPr/>
        </p:nvCxnSpPr>
        <p:spPr>
          <a:xfrm rot="10800000" flipV="1">
            <a:off x="7584460" y="5870845"/>
            <a:ext cx="1140168" cy="301202"/>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2" name="Parallelogram 1">
            <a:extLst>
              <a:ext uri="{FF2B5EF4-FFF2-40B4-BE49-F238E27FC236}">
                <a16:creationId xmlns:a16="http://schemas.microsoft.com/office/drawing/2014/main" id="{AEE11DEB-9208-A2A8-85E2-6277D96F208B}"/>
              </a:ext>
            </a:extLst>
          </p:cNvPr>
          <p:cNvSpPr/>
          <p:nvPr/>
        </p:nvSpPr>
        <p:spPr>
          <a:xfrm>
            <a:off x="9415671" y="1953338"/>
            <a:ext cx="1701336"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latin typeface="Calibri" panose="020F0502020204030204"/>
              </a:rPr>
              <a:t>r</a:t>
            </a:r>
            <a:r>
              <a:rPr kumimoji="0" lang="en-US" sz="1100" b="1" i="0" u="none" strike="noStrike" kern="0" cap="none" spc="0" normalizeH="0" baseline="0" noProof="0" dirty="0" err="1">
                <a:ln>
                  <a:noFill/>
                </a:ln>
                <a:effectLst/>
                <a:uLnTx/>
                <a:uFillTx/>
                <a:latin typeface="Calibri" panose="020F0502020204030204"/>
                <a:ea typeface="+mn-ea"/>
                <a:cs typeface="+mn-cs"/>
              </a:rPr>
              <a:t>ead</a:t>
            </a:r>
            <a:r>
              <a:rPr kumimoji="0" lang="en-US" sz="1100" b="1" i="0" u="none" strike="noStrike" kern="0" cap="none" spc="0" normalizeH="0" baseline="0" noProof="0" dirty="0">
                <a:ln>
                  <a:noFill/>
                </a:ln>
                <a:effectLst/>
                <a:uLnTx/>
                <a:uFillTx/>
                <a:latin typeface="Calibri" panose="020F0502020204030204"/>
                <a:ea typeface="+mn-ea"/>
                <a:cs typeface="+mn-cs"/>
              </a:rPr>
              <a:t> sensor value</a:t>
            </a:r>
          </a:p>
        </p:txBody>
      </p:sp>
      <p:sp>
        <p:nvSpPr>
          <p:cNvPr id="3" name="Pentagon 2">
            <a:extLst>
              <a:ext uri="{FF2B5EF4-FFF2-40B4-BE49-F238E27FC236}">
                <a16:creationId xmlns:a16="http://schemas.microsoft.com/office/drawing/2014/main" id="{43FD594A-B03B-63C4-E7D6-EB7819B3CF79}"/>
              </a:ext>
            </a:extLst>
          </p:cNvPr>
          <p:cNvSpPr/>
          <p:nvPr/>
        </p:nvSpPr>
        <p:spPr>
          <a:xfrm rot="5400000">
            <a:off x="9510845" y="1059516"/>
            <a:ext cx="614994" cy="545122"/>
          </a:xfrm>
          <a:prstGeom prst="homePlate">
            <a:avLst>
              <a:gd name="adj" fmla="val 32364"/>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DC267E"/>
                </a:solidFill>
                <a:effectLst/>
                <a:uLnTx/>
                <a:uFillTx/>
                <a:latin typeface="Calibri" panose="020F0502020204030204"/>
                <a:ea typeface="+mn-ea"/>
                <a:cs typeface="+mn-cs"/>
              </a:rPr>
              <a:t>#</a:t>
            </a:r>
          </a:p>
        </p:txBody>
      </p:sp>
      <p:cxnSp>
        <p:nvCxnSpPr>
          <p:cNvPr id="6" name="Elbow Connector 5">
            <a:extLst>
              <a:ext uri="{FF2B5EF4-FFF2-40B4-BE49-F238E27FC236}">
                <a16:creationId xmlns:a16="http://schemas.microsoft.com/office/drawing/2014/main" id="{284400FF-520B-E75B-3A7A-F31D1D4879FD}"/>
              </a:ext>
            </a:extLst>
          </p:cNvPr>
          <p:cNvCxnSpPr>
            <a:cxnSpLocks/>
            <a:stCxn id="3" idx="3"/>
            <a:endCxn id="2" idx="0"/>
          </p:cNvCxnSpPr>
          <p:nvPr/>
        </p:nvCxnSpPr>
        <p:spPr>
          <a:xfrm rot="16200000" flipH="1">
            <a:off x="9885458" y="1572457"/>
            <a:ext cx="313764" cy="447997"/>
          </a:xfrm>
          <a:prstGeom prst="bentConnector3">
            <a:avLst>
              <a:gd name="adj1" fmla="val 24435"/>
            </a:avLst>
          </a:prstGeom>
          <a:noFill/>
          <a:ln w="50800" cap="flat" cmpd="sng" algn="ctr">
            <a:solidFill>
              <a:srgbClr val="795CF1"/>
            </a:solidFill>
            <a:prstDash val="solid"/>
            <a:miter lim="800000"/>
            <a:tailEnd type="triangle"/>
          </a:ln>
          <a:effectLst>
            <a:glow rad="12700">
              <a:srgbClr val="FFFFFF"/>
            </a:glow>
          </a:effectLst>
        </p:spPr>
      </p:cxnSp>
      <p:cxnSp>
        <p:nvCxnSpPr>
          <p:cNvPr id="7" name="Elbow Connector 6">
            <a:extLst>
              <a:ext uri="{FF2B5EF4-FFF2-40B4-BE49-F238E27FC236}">
                <a16:creationId xmlns:a16="http://schemas.microsoft.com/office/drawing/2014/main" id="{D1351A8A-90A7-026E-A4AC-5D5C5C596144}"/>
              </a:ext>
            </a:extLst>
          </p:cNvPr>
          <p:cNvCxnSpPr>
            <a:cxnSpLocks/>
            <a:stCxn id="2" idx="4"/>
            <a:endCxn id="133" idx="3"/>
          </p:cNvCxnSpPr>
          <p:nvPr/>
        </p:nvCxnSpPr>
        <p:spPr>
          <a:xfrm rot="5400000">
            <a:off x="9336399" y="2964744"/>
            <a:ext cx="1539767" cy="320115"/>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16" name="Rounded Rectangle 15">
            <a:extLst>
              <a:ext uri="{FF2B5EF4-FFF2-40B4-BE49-F238E27FC236}">
                <a16:creationId xmlns:a16="http://schemas.microsoft.com/office/drawing/2014/main" id="{F4195E73-FBA1-94EC-4AA3-17AB26B80077}"/>
              </a:ext>
            </a:extLst>
          </p:cNvPr>
          <p:cNvSpPr/>
          <p:nvPr/>
        </p:nvSpPr>
        <p:spPr>
          <a:xfrm>
            <a:off x="10158320" y="914332"/>
            <a:ext cx="1271680" cy="548340"/>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dirty="0">
                <a:solidFill>
                  <a:srgbClr val="5943B1"/>
                </a:solidFill>
                <a:latin typeface="Calibri" panose="020F0502020204030204"/>
              </a:rPr>
              <a:t>from Sensor subsystem</a:t>
            </a:r>
            <a:endParaRPr kumimoji="0" lang="en-US" sz="1400" b="1" i="0" u="none" strike="noStrike" kern="0" cap="none" spc="0" normalizeH="0" baseline="0" noProof="0" dirty="0">
              <a:ln>
                <a:noFill/>
              </a:ln>
              <a:solidFill>
                <a:srgbClr val="5943B1"/>
              </a:solidFill>
              <a:effectLst/>
              <a:uLnTx/>
              <a:uFillTx/>
              <a:latin typeface="Calibri" panose="020F0502020204030204"/>
              <a:ea typeface="+mn-ea"/>
              <a:cs typeface="+mn-cs"/>
            </a:endParaRPr>
          </a:p>
        </p:txBody>
      </p:sp>
      <p:cxnSp>
        <p:nvCxnSpPr>
          <p:cNvPr id="20" name="Elbow Connector 19">
            <a:extLst>
              <a:ext uri="{FF2B5EF4-FFF2-40B4-BE49-F238E27FC236}">
                <a16:creationId xmlns:a16="http://schemas.microsoft.com/office/drawing/2014/main" id="{DD25DDBA-7A57-590C-4BAE-43EE1B51EAF7}"/>
              </a:ext>
            </a:extLst>
          </p:cNvPr>
          <p:cNvCxnSpPr>
            <a:cxnSpLocks/>
            <a:stCxn id="2" idx="4"/>
            <a:endCxn id="126" idx="3"/>
          </p:cNvCxnSpPr>
          <p:nvPr/>
        </p:nvCxnSpPr>
        <p:spPr>
          <a:xfrm rot="5400000">
            <a:off x="9361392" y="1653019"/>
            <a:ext cx="203049" cy="1606847"/>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39" name="Parallelogram 38">
            <a:extLst>
              <a:ext uri="{FF2B5EF4-FFF2-40B4-BE49-F238E27FC236}">
                <a16:creationId xmlns:a16="http://schemas.microsoft.com/office/drawing/2014/main" id="{E772398B-F944-9D2D-5A2E-65075589283B}"/>
              </a:ext>
            </a:extLst>
          </p:cNvPr>
          <p:cNvSpPr/>
          <p:nvPr/>
        </p:nvSpPr>
        <p:spPr>
          <a:xfrm>
            <a:off x="5319147" y="2540798"/>
            <a:ext cx="871858"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dirty="0">
                <a:latin typeface="Calibri" panose="020F0502020204030204"/>
              </a:rPr>
              <a:t>fan ON</a:t>
            </a:r>
            <a:endParaRPr kumimoji="0" lang="en-US" sz="1000" b="1" i="0" u="none" strike="noStrike" kern="0" cap="none" spc="0" normalizeH="0" baseline="0" noProof="0" dirty="0">
              <a:ln>
                <a:noFill/>
              </a:ln>
              <a:effectLst/>
              <a:uLnTx/>
              <a:uFillTx/>
              <a:latin typeface="Calibri" panose="020F0502020204030204"/>
              <a:ea typeface="+mn-ea"/>
              <a:cs typeface="+mn-cs"/>
            </a:endParaRPr>
          </a:p>
        </p:txBody>
      </p:sp>
      <p:sp>
        <p:nvSpPr>
          <p:cNvPr id="40" name="Parallelogram 39">
            <a:extLst>
              <a:ext uri="{FF2B5EF4-FFF2-40B4-BE49-F238E27FC236}">
                <a16:creationId xmlns:a16="http://schemas.microsoft.com/office/drawing/2014/main" id="{BA8CB272-B077-D4FA-AAD3-29140A70B511}"/>
              </a:ext>
            </a:extLst>
          </p:cNvPr>
          <p:cNvSpPr/>
          <p:nvPr/>
        </p:nvSpPr>
        <p:spPr>
          <a:xfrm>
            <a:off x="6841849" y="4000080"/>
            <a:ext cx="871858"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dirty="0">
                <a:latin typeface="Calibri" panose="020F0502020204030204"/>
              </a:rPr>
              <a:t>fan OFF</a:t>
            </a:r>
            <a:endParaRPr kumimoji="0" lang="en-US" sz="1000" b="1" i="0" u="none" strike="noStrike" kern="0" cap="none" spc="0" normalizeH="0" baseline="0" noProof="0" dirty="0">
              <a:ln>
                <a:noFill/>
              </a:ln>
              <a:effectLst/>
              <a:uLnTx/>
              <a:uFillTx/>
              <a:latin typeface="Calibri" panose="020F0502020204030204"/>
              <a:ea typeface="+mn-ea"/>
              <a:cs typeface="+mn-cs"/>
            </a:endParaRPr>
          </a:p>
        </p:txBody>
      </p:sp>
      <p:sp>
        <p:nvSpPr>
          <p:cNvPr id="46" name="Parallelogram 45">
            <a:extLst>
              <a:ext uri="{FF2B5EF4-FFF2-40B4-BE49-F238E27FC236}">
                <a16:creationId xmlns:a16="http://schemas.microsoft.com/office/drawing/2014/main" id="{F93FA8D5-5D93-88CC-3BE5-92BE68D04F40}"/>
              </a:ext>
            </a:extLst>
          </p:cNvPr>
          <p:cNvSpPr/>
          <p:nvPr/>
        </p:nvSpPr>
        <p:spPr>
          <a:xfrm>
            <a:off x="5236683" y="3759605"/>
            <a:ext cx="871858"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dirty="0">
                <a:latin typeface="Calibri" panose="020F0502020204030204"/>
              </a:rPr>
              <a:t>heat OFF</a:t>
            </a:r>
            <a:endParaRPr kumimoji="0" lang="en-US" sz="1000" b="1" i="0" u="none" strike="noStrike" kern="0" cap="none" spc="0" normalizeH="0" baseline="0" noProof="0" dirty="0">
              <a:ln>
                <a:noFill/>
              </a:ln>
              <a:effectLst/>
              <a:uLnTx/>
              <a:uFillTx/>
              <a:latin typeface="Calibri" panose="020F0502020204030204"/>
              <a:ea typeface="+mn-ea"/>
              <a:cs typeface="+mn-cs"/>
            </a:endParaRPr>
          </a:p>
        </p:txBody>
      </p:sp>
      <p:sp>
        <p:nvSpPr>
          <p:cNvPr id="55" name="Parallelogram 54">
            <a:extLst>
              <a:ext uri="{FF2B5EF4-FFF2-40B4-BE49-F238E27FC236}">
                <a16:creationId xmlns:a16="http://schemas.microsoft.com/office/drawing/2014/main" id="{F83C33A7-FD28-BE53-FC29-CBCDAC43C7C9}"/>
              </a:ext>
            </a:extLst>
          </p:cNvPr>
          <p:cNvSpPr/>
          <p:nvPr/>
        </p:nvSpPr>
        <p:spPr>
          <a:xfrm>
            <a:off x="6602459" y="5226149"/>
            <a:ext cx="871858"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b="1" kern="0" dirty="0">
                <a:latin typeface="Calibri" panose="020F0502020204030204"/>
              </a:rPr>
              <a:t>heat ON</a:t>
            </a:r>
            <a:endParaRPr kumimoji="0" lang="en-US" sz="1000" b="1" i="0" u="none" strike="noStrike" kern="0" cap="none" spc="0" normalizeH="0" baseline="0" noProof="0" dirty="0">
              <a:ln>
                <a:noFill/>
              </a:ln>
              <a:effectLst/>
              <a:uLnTx/>
              <a:uFillTx/>
              <a:latin typeface="Calibri" panose="020F0502020204030204"/>
              <a:ea typeface="+mn-ea"/>
              <a:cs typeface="+mn-cs"/>
            </a:endParaRPr>
          </a:p>
        </p:txBody>
      </p:sp>
      <p:cxnSp>
        <p:nvCxnSpPr>
          <p:cNvPr id="73" name="Elbow Connector 72">
            <a:extLst>
              <a:ext uri="{FF2B5EF4-FFF2-40B4-BE49-F238E27FC236}">
                <a16:creationId xmlns:a16="http://schemas.microsoft.com/office/drawing/2014/main" id="{6B001FBA-F15C-6708-62C6-0135094C42A4}"/>
              </a:ext>
            </a:extLst>
          </p:cNvPr>
          <p:cNvCxnSpPr>
            <a:cxnSpLocks/>
            <a:stCxn id="131" idx="1"/>
            <a:endCxn id="39" idx="3"/>
          </p:cNvCxnSpPr>
          <p:nvPr/>
        </p:nvCxnSpPr>
        <p:spPr>
          <a:xfrm rot="10800000">
            <a:off x="5661719" y="2942378"/>
            <a:ext cx="301696" cy="437554"/>
          </a:xfrm>
          <a:prstGeom prst="bentConnector2">
            <a:avLst/>
          </a:prstGeom>
          <a:noFill/>
          <a:ln w="50800" cap="flat" cmpd="sng" algn="ctr">
            <a:solidFill>
              <a:srgbClr val="795CF1"/>
            </a:solidFill>
            <a:prstDash val="solid"/>
            <a:miter lim="800000"/>
            <a:tailEnd type="triangle"/>
          </a:ln>
          <a:effectLst>
            <a:glow rad="12700">
              <a:srgbClr val="FFFFFF"/>
            </a:glow>
          </a:effectLst>
        </p:spPr>
      </p:cxnSp>
      <p:cxnSp>
        <p:nvCxnSpPr>
          <p:cNvPr id="76" name="Elbow Connector 75">
            <a:extLst>
              <a:ext uri="{FF2B5EF4-FFF2-40B4-BE49-F238E27FC236}">
                <a16:creationId xmlns:a16="http://schemas.microsoft.com/office/drawing/2014/main" id="{CD6067AD-F530-5663-29C9-FFCA1B4A7D15}"/>
              </a:ext>
            </a:extLst>
          </p:cNvPr>
          <p:cNvCxnSpPr>
            <a:cxnSpLocks/>
            <a:stCxn id="131" idx="1"/>
            <a:endCxn id="46" idx="0"/>
          </p:cNvCxnSpPr>
          <p:nvPr/>
        </p:nvCxnSpPr>
        <p:spPr>
          <a:xfrm rot="10800000" flipV="1">
            <a:off x="5672613" y="3379931"/>
            <a:ext cx="290803" cy="379673"/>
          </a:xfrm>
          <a:prstGeom prst="bentConnector2">
            <a:avLst/>
          </a:prstGeom>
          <a:noFill/>
          <a:ln w="50800" cap="flat" cmpd="sng" algn="ctr">
            <a:solidFill>
              <a:srgbClr val="795CF1"/>
            </a:solidFill>
            <a:prstDash val="solid"/>
            <a:miter lim="800000"/>
            <a:tailEnd type="triangle"/>
          </a:ln>
          <a:effectLst>
            <a:glow rad="12700">
              <a:srgbClr val="FFFFFF"/>
            </a:glow>
          </a:effectLst>
        </p:spPr>
      </p:cxnSp>
      <p:cxnSp>
        <p:nvCxnSpPr>
          <p:cNvPr id="79" name="Elbow Connector 78">
            <a:extLst>
              <a:ext uri="{FF2B5EF4-FFF2-40B4-BE49-F238E27FC236}">
                <a16:creationId xmlns:a16="http://schemas.microsoft.com/office/drawing/2014/main" id="{97C9B618-A9FB-6EA1-1F39-146AE0CF7E5A}"/>
              </a:ext>
            </a:extLst>
          </p:cNvPr>
          <p:cNvCxnSpPr>
            <a:cxnSpLocks/>
            <a:stCxn id="136" idx="1"/>
            <a:endCxn id="40" idx="3"/>
          </p:cNvCxnSpPr>
          <p:nvPr/>
        </p:nvCxnSpPr>
        <p:spPr>
          <a:xfrm rot="10800000">
            <a:off x="7184422" y="4401660"/>
            <a:ext cx="487233" cy="506448"/>
          </a:xfrm>
          <a:prstGeom prst="bentConnector2">
            <a:avLst/>
          </a:prstGeom>
          <a:noFill/>
          <a:ln w="50800" cap="flat" cmpd="sng" algn="ctr">
            <a:solidFill>
              <a:srgbClr val="795CF1"/>
            </a:solidFill>
            <a:prstDash val="solid"/>
            <a:miter lim="800000"/>
            <a:tailEnd type="triangle"/>
          </a:ln>
          <a:effectLst>
            <a:glow rad="12700">
              <a:srgbClr val="FFFFFF"/>
            </a:glow>
          </a:effectLst>
        </p:spPr>
      </p:cxnSp>
      <p:cxnSp>
        <p:nvCxnSpPr>
          <p:cNvPr id="82" name="Elbow Connector 81">
            <a:extLst>
              <a:ext uri="{FF2B5EF4-FFF2-40B4-BE49-F238E27FC236}">
                <a16:creationId xmlns:a16="http://schemas.microsoft.com/office/drawing/2014/main" id="{914CC031-EE18-6143-03D9-77F33726CF1A}"/>
              </a:ext>
            </a:extLst>
          </p:cNvPr>
          <p:cNvCxnSpPr>
            <a:cxnSpLocks/>
            <a:stCxn id="136" idx="1"/>
            <a:endCxn id="55" idx="0"/>
          </p:cNvCxnSpPr>
          <p:nvPr/>
        </p:nvCxnSpPr>
        <p:spPr>
          <a:xfrm rot="10800000" flipV="1">
            <a:off x="7038388" y="4908107"/>
            <a:ext cx="633266" cy="318041"/>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87" name="Oval 86">
            <a:extLst>
              <a:ext uri="{FF2B5EF4-FFF2-40B4-BE49-F238E27FC236}">
                <a16:creationId xmlns:a16="http://schemas.microsoft.com/office/drawing/2014/main" id="{DA3224D1-8B52-8E6F-D7C6-211E1C1DEE46}"/>
              </a:ext>
            </a:extLst>
          </p:cNvPr>
          <p:cNvSpPr/>
          <p:nvPr/>
        </p:nvSpPr>
        <p:spPr>
          <a:xfrm flipH="1" flipV="1">
            <a:off x="7106606" y="4813236"/>
            <a:ext cx="173635" cy="173277"/>
          </a:xfrm>
          <a:prstGeom prst="ellipse">
            <a:avLst/>
          </a:prstGeom>
          <a:solidFill>
            <a:srgbClr val="E4DFFD"/>
          </a:solidFill>
          <a:ln w="38100" cap="flat" cmpd="sng" algn="ctr">
            <a:solidFill>
              <a:srgbClr val="795CF1"/>
            </a:solidFill>
            <a:prstDash val="solid"/>
            <a:miter lim="800000"/>
          </a:ln>
          <a:effectLst>
            <a:glow rad="25400">
              <a:schemeClr val="bg1"/>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3C78C84F-133E-C78F-312B-579F14E158B3}"/>
              </a:ext>
            </a:extLst>
          </p:cNvPr>
          <p:cNvSpPr/>
          <p:nvPr/>
        </p:nvSpPr>
        <p:spPr>
          <a:xfrm flipH="1" flipV="1">
            <a:off x="5574265" y="3298390"/>
            <a:ext cx="173635" cy="173277"/>
          </a:xfrm>
          <a:prstGeom prst="ellipse">
            <a:avLst/>
          </a:prstGeom>
          <a:solidFill>
            <a:srgbClr val="E4DFFD"/>
          </a:solidFill>
          <a:ln w="38100" cap="flat" cmpd="sng" algn="ctr">
            <a:solidFill>
              <a:srgbClr val="795CF1"/>
            </a:solidFill>
            <a:prstDash val="solid"/>
            <a:miter lim="800000"/>
          </a:ln>
          <a:effectLst>
            <a:glow rad="25400">
              <a:schemeClr val="bg1"/>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B1C3FE23-367A-A905-6C06-01416531DE04}"/>
              </a:ext>
            </a:extLst>
          </p:cNvPr>
          <p:cNvSpPr/>
          <p:nvPr/>
        </p:nvSpPr>
        <p:spPr>
          <a:xfrm flipH="1" flipV="1">
            <a:off x="7493177" y="5779662"/>
            <a:ext cx="173635" cy="173277"/>
          </a:xfrm>
          <a:prstGeom prst="ellipse">
            <a:avLst/>
          </a:prstGeom>
          <a:solidFill>
            <a:srgbClr val="E4DFFD"/>
          </a:solidFill>
          <a:ln w="38100" cap="flat" cmpd="sng" algn="ctr">
            <a:solidFill>
              <a:srgbClr val="795CF1"/>
            </a:solidFill>
            <a:prstDash val="solid"/>
            <a:miter lim="800000"/>
          </a:ln>
          <a:effectLst>
            <a:glow rad="25400">
              <a:schemeClr val="bg1"/>
            </a:glo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468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81B4CE3-DA02-B361-6FE9-8FF5CA93448D}"/>
              </a:ext>
            </a:extLst>
          </p:cNvPr>
          <p:cNvGrpSpPr/>
          <p:nvPr/>
        </p:nvGrpSpPr>
        <p:grpSpPr>
          <a:xfrm>
            <a:off x="0" y="-12526"/>
            <a:ext cx="12192000" cy="6858000"/>
            <a:chOff x="0" y="-12526"/>
            <a:chExt cx="12192000" cy="6858000"/>
          </a:xfrm>
          <a:effectLst/>
        </p:grpSpPr>
        <p:grpSp>
          <p:nvGrpSpPr>
            <p:cNvPr id="9" name="Group 8">
              <a:extLst>
                <a:ext uri="{FF2B5EF4-FFF2-40B4-BE49-F238E27FC236}">
                  <a16:creationId xmlns:a16="http://schemas.microsoft.com/office/drawing/2014/main" id="{4AE95571-D748-2B05-9C5E-0547612AA98F}"/>
                </a:ext>
              </a:extLst>
            </p:cNvPr>
            <p:cNvGrpSpPr/>
            <p:nvPr/>
          </p:nvGrpSpPr>
          <p:grpSpPr>
            <a:xfrm>
              <a:off x="0" y="-12526"/>
              <a:ext cx="12192000" cy="6858000"/>
              <a:chOff x="0" y="-12526"/>
              <a:chExt cx="12192000" cy="6858000"/>
            </a:xfrm>
          </p:grpSpPr>
          <p:sp>
            <p:nvSpPr>
              <p:cNvPr id="13" name="Triangle 12">
                <a:extLst>
                  <a:ext uri="{FF2B5EF4-FFF2-40B4-BE49-F238E27FC236}">
                    <a16:creationId xmlns:a16="http://schemas.microsoft.com/office/drawing/2014/main" id="{090A4143-A740-3C28-6EE3-A779E46A96C0}"/>
                  </a:ext>
                </a:extLst>
              </p:cNvPr>
              <p:cNvSpPr/>
              <p:nvPr/>
            </p:nvSpPr>
            <p:spPr>
              <a:xfrm rot="10800000" flipH="1">
                <a:off x="1" y="-4"/>
                <a:ext cx="575037" cy="3569922"/>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riangle 13">
                <a:extLst>
                  <a:ext uri="{FF2B5EF4-FFF2-40B4-BE49-F238E27FC236}">
                    <a16:creationId xmlns:a16="http://schemas.microsoft.com/office/drawing/2014/main" id="{86D12F55-21B9-42EB-C9C5-806DFEDAED4E}"/>
                  </a:ext>
                </a:extLst>
              </p:cNvPr>
              <p:cNvSpPr/>
              <p:nvPr/>
            </p:nvSpPr>
            <p:spPr>
              <a:xfrm rot="10800000" flipH="1">
                <a:off x="1" y="0"/>
                <a:ext cx="225468" cy="2868460"/>
              </a:xfrm>
              <a:prstGeom prst="triangle">
                <a:avLst>
                  <a:gd name="adj" fmla="val 1"/>
                </a:avLst>
              </a:prstGeom>
              <a:solidFill>
                <a:schemeClr val="accent2">
                  <a:alpha val="6137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663B6BA-C74F-1A0E-BB81-3AC167B22FC9}"/>
                  </a:ext>
                </a:extLst>
              </p:cNvPr>
              <p:cNvSpPr/>
              <p:nvPr/>
            </p:nvSpPr>
            <p:spPr>
              <a:xfrm>
                <a:off x="0" y="-12526"/>
                <a:ext cx="12192000" cy="6858000"/>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ectangle 9">
              <a:extLst>
                <a:ext uri="{FF2B5EF4-FFF2-40B4-BE49-F238E27FC236}">
                  <a16:creationId xmlns:a16="http://schemas.microsoft.com/office/drawing/2014/main" id="{70FA25DF-2E1B-9DA9-D865-331718D0BC32}"/>
                </a:ext>
              </a:extLst>
            </p:cNvPr>
            <p:cNvSpPr/>
            <p:nvPr/>
          </p:nvSpPr>
          <p:spPr>
            <a:xfrm>
              <a:off x="102296" y="250521"/>
              <a:ext cx="11987408" cy="125260"/>
            </a:xfrm>
            <a:prstGeom prst="rect">
              <a:avLst/>
            </a:prstGeom>
            <a:solidFill>
              <a:srgbClr val="5F232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002362BB-BAB8-AC08-2111-68C9A1C641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4389" y="112214"/>
              <a:ext cx="4783222" cy="401873"/>
            </a:xfrm>
            <a:prstGeom prst="rect">
              <a:avLst/>
            </a:prstGeom>
            <a:ln w="57150">
              <a:solidFill>
                <a:schemeClr val="bg1"/>
              </a:solidFill>
            </a:ln>
          </p:spPr>
        </p:pic>
        <p:sp>
          <p:nvSpPr>
            <p:cNvPr id="12" name="Rectangle 11">
              <a:extLst>
                <a:ext uri="{FF2B5EF4-FFF2-40B4-BE49-F238E27FC236}">
                  <a16:creationId xmlns:a16="http://schemas.microsoft.com/office/drawing/2014/main" id="{3589DE99-E6FD-CF76-9EB0-A709CEF1CE3F}"/>
                </a:ext>
              </a:extLst>
            </p:cNvPr>
            <p:cNvSpPr/>
            <p:nvPr/>
          </p:nvSpPr>
          <p:spPr>
            <a:xfrm>
              <a:off x="0" y="12526"/>
              <a:ext cx="12192000" cy="681740"/>
            </a:xfrm>
            <a:prstGeom prst="rect">
              <a:avLst/>
            </a:prstGeom>
            <a:gradFill flip="none" rotWithShape="1">
              <a:gsLst>
                <a:gs pos="100000">
                  <a:schemeClr val="bg1">
                    <a:alpha val="30000"/>
                  </a:schemeClr>
                </a:gs>
                <a:gs pos="0">
                  <a:schemeClr val="accent1">
                    <a:lumMod val="5000"/>
                    <a:lumOff val="95000"/>
                    <a:alpha val="0"/>
                  </a:schemeClr>
                </a:gs>
                <a:gs pos="23000">
                  <a:schemeClr val="bg1">
                    <a:alpha val="17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Box 3">
            <a:extLst>
              <a:ext uri="{FF2B5EF4-FFF2-40B4-BE49-F238E27FC236}">
                <a16:creationId xmlns:a16="http://schemas.microsoft.com/office/drawing/2014/main" id="{1E683BC6-AAFC-1F49-A4E2-21775704D049}"/>
              </a:ext>
            </a:extLst>
          </p:cNvPr>
          <p:cNvSpPr txBox="1"/>
          <p:nvPr/>
        </p:nvSpPr>
        <p:spPr>
          <a:xfrm>
            <a:off x="10282471" y="395852"/>
            <a:ext cx="1831585" cy="261610"/>
          </a:xfrm>
          <a:prstGeom prst="rect">
            <a:avLst/>
          </a:prstGeom>
          <a:noFill/>
          <a:effectLst/>
        </p:spPr>
        <p:txBody>
          <a:bodyPr wrap="square" rtlCol="0" anchor="ctr">
            <a:spAutoFit/>
          </a:bodyPr>
          <a:lstStyle/>
          <a:p>
            <a:pPr marL="238125" indent="-238125" algn="r"/>
            <a:r>
              <a:rPr lang="en-US" sz="1100" dirty="0">
                <a:solidFill>
                  <a:schemeClr val="tx1">
                    <a:lumMod val="65000"/>
                    <a:lumOff val="35000"/>
                  </a:schemeClr>
                </a:solidFill>
                <a:latin typeface="Cambria" panose="02040503050406030204" pitchFamily="18" charset="0"/>
              </a:rPr>
              <a:t>ECE 1022 </a:t>
            </a:r>
            <a:endParaRPr lang="en-US" sz="1600" b="1" dirty="0">
              <a:latin typeface="Cambria" panose="02040503050406030204" pitchFamily="18" charset="0"/>
            </a:endParaRPr>
          </a:p>
        </p:txBody>
      </p:sp>
      <p:sp>
        <p:nvSpPr>
          <p:cNvPr id="50" name="Rounded Rectangle 49">
            <a:extLst>
              <a:ext uri="{FF2B5EF4-FFF2-40B4-BE49-F238E27FC236}">
                <a16:creationId xmlns:a16="http://schemas.microsoft.com/office/drawing/2014/main" id="{A4ABB7C0-1495-0A49-C5CB-584760423B40}"/>
              </a:ext>
            </a:extLst>
          </p:cNvPr>
          <p:cNvSpPr/>
          <p:nvPr/>
        </p:nvSpPr>
        <p:spPr>
          <a:xfrm>
            <a:off x="410914" y="1040788"/>
            <a:ext cx="11370171" cy="5475787"/>
          </a:xfrm>
          <a:prstGeom prst="roundRect">
            <a:avLst>
              <a:gd name="adj" fmla="val 3070"/>
            </a:avLst>
          </a:prstGeom>
          <a:solidFill>
            <a:srgbClr val="E2EBFC"/>
          </a:solidFill>
          <a:ln w="41275" cap="rnd" cmpd="sng" algn="ctr">
            <a:solidFill>
              <a:srgbClr val="648FFF"/>
            </a:solidFill>
            <a:prstDash val="sysDash"/>
            <a:miter lim="800000"/>
          </a:ln>
          <a:effectLst/>
        </p:spPr>
        <p:txBody>
          <a:bodyPr rot="0" spcFirstLastPara="0" vert="horz" wrap="square" lIns="68580" tIns="34290" rIns="68580" bIns="34290" numCol="1" spcCol="0" rtlCol="0" fromWordArt="0" anchor="ctr" anchorCtr="0" forceAA="0" compatLnSpc="1">
            <a:prstTxWarp prst="textNoShape">
              <a:avLst/>
            </a:prstTxWarp>
            <a:noAutofit/>
          </a:bodyPr>
          <a:lstStyle/>
          <a:p>
            <a:pPr marL="0" marR="7620" lvl="0" indent="0" algn="ctr" defTabSz="914400" eaLnBrk="1" fontAlgn="auto" latinLnBrk="0" hangingPunct="1">
              <a:lnSpc>
                <a:spcPct val="112000"/>
              </a:lnSpc>
              <a:spcBef>
                <a:spcPts val="0"/>
              </a:spcBef>
              <a:spcAft>
                <a:spcPts val="0"/>
              </a:spcAft>
              <a:buClrTx/>
              <a:buSzTx/>
              <a:buFontTx/>
              <a:buNone/>
              <a:tabLst/>
              <a:defRPr/>
            </a:pPr>
            <a:endParaRPr kumimoji="0" lang="en-US" sz="825" b="0" i="0" u="none" strike="noStrike" kern="0" cap="none" spc="0" normalizeH="0" baseline="0" noProof="0" dirty="0">
              <a:ln>
                <a:noFill/>
              </a:ln>
              <a:solidFill>
                <a:srgbClr val="000000"/>
              </a:solidFill>
              <a:effectLst/>
              <a:uLnTx/>
              <a:uFillTx/>
              <a:latin typeface="Calibri" panose="020F0502020204030204"/>
              <a:ea typeface="Calibri" panose="020F0502020204030204" pitchFamily="34" charset="0"/>
              <a:cs typeface="+mn-cs"/>
            </a:endParaRPr>
          </a:p>
        </p:txBody>
      </p:sp>
      <p:sp>
        <p:nvSpPr>
          <p:cNvPr id="51" name="TextBox 50">
            <a:extLst>
              <a:ext uri="{FF2B5EF4-FFF2-40B4-BE49-F238E27FC236}">
                <a16:creationId xmlns:a16="http://schemas.microsoft.com/office/drawing/2014/main" id="{78D6750C-637B-3BAB-E6AE-023762EEA7CD}"/>
              </a:ext>
            </a:extLst>
          </p:cNvPr>
          <p:cNvSpPr txBox="1"/>
          <p:nvPr/>
        </p:nvSpPr>
        <p:spPr>
          <a:xfrm>
            <a:off x="3311236" y="1172688"/>
            <a:ext cx="5569526" cy="523220"/>
          </a:xfrm>
          <a:prstGeom prst="rect">
            <a:avLst/>
          </a:prstGeom>
          <a:noFill/>
          <a:effectLst/>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4472C4">
                    <a:lumMod val="75000"/>
                  </a:srgbClr>
                </a:solidFill>
                <a:effectLst>
                  <a:glow rad="63500">
                    <a:srgbClr val="FFFFFF">
                      <a:alpha val="50000"/>
                    </a:srgbClr>
                  </a:glow>
                </a:effectLst>
                <a:uLnTx/>
                <a:uFillTx/>
                <a:latin typeface="Calibri" panose="020F0502020204030204"/>
              </a:rPr>
              <a:t>while loops</a:t>
            </a:r>
          </a:p>
        </p:txBody>
      </p:sp>
      <p:grpSp>
        <p:nvGrpSpPr>
          <p:cNvPr id="44" name="Group 43">
            <a:extLst>
              <a:ext uri="{FF2B5EF4-FFF2-40B4-BE49-F238E27FC236}">
                <a16:creationId xmlns:a16="http://schemas.microsoft.com/office/drawing/2014/main" id="{20B278C0-8FBF-A6DA-C3E1-D77BCEA1DE99}"/>
              </a:ext>
            </a:extLst>
          </p:cNvPr>
          <p:cNvGrpSpPr/>
          <p:nvPr/>
        </p:nvGrpSpPr>
        <p:grpSpPr>
          <a:xfrm>
            <a:off x="785971" y="1838588"/>
            <a:ext cx="3948283" cy="3997493"/>
            <a:chOff x="2146316" y="2143744"/>
            <a:chExt cx="3948283" cy="3997493"/>
          </a:xfrm>
          <a:effectLst/>
        </p:grpSpPr>
        <p:sp>
          <p:nvSpPr>
            <p:cNvPr id="52" name="TextBox 51">
              <a:extLst>
                <a:ext uri="{FF2B5EF4-FFF2-40B4-BE49-F238E27FC236}">
                  <a16:creationId xmlns:a16="http://schemas.microsoft.com/office/drawing/2014/main" id="{7362A76A-9ED7-299F-50F7-E38C515F5BDC}"/>
                </a:ext>
              </a:extLst>
            </p:cNvPr>
            <p:cNvSpPr txBox="1"/>
            <p:nvPr/>
          </p:nvSpPr>
          <p:spPr>
            <a:xfrm>
              <a:off x="2146316" y="2143744"/>
              <a:ext cx="3948283" cy="3997493"/>
            </a:xfrm>
            <a:prstGeom prst="rect">
              <a:avLst/>
            </a:prstGeom>
            <a:solidFill>
              <a:srgbClr val="FFFFFF">
                <a:lumMod val="85000"/>
              </a:srgbClr>
            </a:solidFill>
            <a:ln>
              <a:solidFill>
                <a:srgbClr val="FFFFFF">
                  <a:lumMod val="75000"/>
                </a:srgbClr>
              </a:solidFill>
            </a:ln>
            <a:effectLst>
              <a:glow rad="12700">
                <a:srgbClr val="000000">
                  <a:lumMod val="75000"/>
                  <a:lumOff val="25000"/>
                </a:srgbClr>
              </a:glow>
            </a:effectLst>
          </p:spPr>
          <p:txBody>
            <a:bodyPr wrap="square" rtlCol="0">
              <a:noAutofit/>
            </a:bodyPr>
            <a:lstStyle/>
            <a:p>
              <a:pPr marL="9525" marR="0" lvl="1"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000000"/>
                </a:solidFill>
                <a:effectLst/>
                <a:uLnTx/>
                <a:uFillTx/>
                <a:latin typeface="Calibri" panose="020F0502020204030204"/>
              </a:endParaRPr>
            </a:p>
          </p:txBody>
        </p:sp>
        <p:sp>
          <p:nvSpPr>
            <p:cNvPr id="53" name="TextBox 52">
              <a:extLst>
                <a:ext uri="{FF2B5EF4-FFF2-40B4-BE49-F238E27FC236}">
                  <a16:creationId xmlns:a16="http://schemas.microsoft.com/office/drawing/2014/main" id="{F25E70F4-913F-78FA-2F30-F91C8E7A4FF5}"/>
                </a:ext>
              </a:extLst>
            </p:cNvPr>
            <p:cNvSpPr txBox="1"/>
            <p:nvPr/>
          </p:nvSpPr>
          <p:spPr>
            <a:xfrm>
              <a:off x="2248643" y="2488426"/>
              <a:ext cx="3777029" cy="3281477"/>
            </a:xfrm>
            <a:prstGeom prst="rect">
              <a:avLst/>
            </a:prstGeom>
            <a:noFill/>
            <a:ln>
              <a:noFill/>
            </a:ln>
          </p:spPr>
          <p:txBody>
            <a:bodyPr wrap="square" lIns="0" tIns="0" rIns="0" bIns="0" rtlCol="0">
              <a:noAutofit/>
            </a:bodyPr>
            <a:lstStyle/>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Description</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checks for true condition and executes code block.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Loops within code block until condition is false 	</a:t>
              </a: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Parameter</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 Boolean expression (result will be true or false)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Syntax</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endPar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endParaRP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while(condition)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r>
                <a:rPr kumimoji="0" lang="en-US" sz="1000" b="0" i="0" u="none" strike="noStrike" kern="0" cap="none" spc="0" normalizeH="0" baseline="0" noProof="0" dirty="0" err="1">
                  <a:ln>
                    <a:noFill/>
                  </a:ln>
                  <a:solidFill>
                    <a:srgbClr val="795CF1"/>
                  </a:solidFill>
                  <a:effectLst/>
                  <a:uLnTx/>
                  <a:uFill>
                    <a:solidFill>
                      <a:srgbClr val="E7E6E6">
                        <a:lumMod val="50000"/>
                      </a:srgbClr>
                    </a:solidFill>
                  </a:uFill>
                  <a:latin typeface="Calibri" panose="020F0502020204030204"/>
                </a:rPr>
                <a:t>doThing</a:t>
              </a: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Example</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endPar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endParaRP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while(</a:t>
              </a:r>
              <a:r>
                <a:rPr kumimoji="0" lang="en-US" sz="1000" b="0" i="0" u="none" strike="noStrike" kern="0" cap="none" spc="0" normalizeH="0" baseline="0" noProof="0" dirty="0" err="1">
                  <a:ln>
                    <a:noFill/>
                  </a:ln>
                  <a:solidFill>
                    <a:srgbClr val="795CF1"/>
                  </a:solidFill>
                  <a:effectLst/>
                  <a:uLnTx/>
                  <a:uFill>
                    <a:solidFill>
                      <a:srgbClr val="E7E6E6">
                        <a:lumMod val="50000"/>
                      </a:srgbClr>
                    </a:solidFill>
                  </a:uFill>
                  <a:latin typeface="Calibri" panose="020F0502020204030204"/>
                </a:rPr>
                <a:t>buttonState</a:t>
              </a: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==HIGH)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value++;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constrain(value, 0</a:t>
              </a:r>
              <a:r>
                <a:rPr lang="en-US" sz="1000" kern="0" dirty="0">
                  <a:solidFill>
                    <a:srgbClr val="795CF1"/>
                  </a:solidFill>
                  <a:uFill>
                    <a:solidFill>
                      <a:srgbClr val="E7E6E6">
                        <a:lumMod val="50000"/>
                      </a:srgbClr>
                    </a:solidFill>
                  </a:uFill>
                  <a:latin typeface="Calibri" panose="020F0502020204030204"/>
                </a:rPr>
                <a:t>, 100)</a:t>
              </a:r>
              <a:endPar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endParaRP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r>
                <a:rPr kumimoji="0" lang="en-US" sz="1000" b="0" i="0" u="none" strike="noStrike" kern="0" cap="none" spc="0" normalizeH="0" baseline="0" noProof="0" dirty="0" err="1">
                  <a:ln>
                    <a:noFill/>
                  </a:ln>
                  <a:solidFill>
                    <a:srgbClr val="795CF1"/>
                  </a:solidFill>
                  <a:effectLst/>
                  <a:uLnTx/>
                  <a:uFill>
                    <a:solidFill>
                      <a:srgbClr val="E7E6E6">
                        <a:lumMod val="50000"/>
                      </a:srgbClr>
                    </a:solidFill>
                  </a:uFill>
                  <a:latin typeface="Calibri" panose="020F0502020204030204"/>
                </a:rPr>
                <a:t>updateUserDisplay</a:t>
              </a: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(value);</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delay(50);</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rPr>
                <a:t>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endParaRPr kumimoji="0" lang="en-US" sz="1000" b="0" i="0" u="none" strike="noStrike" kern="0" cap="none" spc="0" normalizeH="0" baseline="0" noProof="0" dirty="0">
                <a:ln>
                  <a:noFill/>
                </a:ln>
                <a:solidFill>
                  <a:srgbClr val="795CF1"/>
                </a:solidFill>
                <a:effectLst/>
                <a:uLnTx/>
                <a:uFill>
                  <a:solidFill>
                    <a:srgbClr val="E7E6E6">
                      <a:lumMod val="50000"/>
                    </a:srgbClr>
                  </a:solidFill>
                </a:uFill>
                <a:latin typeface="Calibri" panose="020F0502020204030204"/>
              </a:endParaRP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a:t>
              </a:r>
              <a:r>
                <a:rPr kumimoji="0" lang="en-US" sz="1000" b="1"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Notes</a:t>
              </a: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 multiple conditions can nest inside the parentheses</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rPr>
                <a:t>				• multiple statements can be inside the brackets	</a:t>
              </a:r>
            </a:p>
            <a:p>
              <a:pPr marL="9525" marR="0" lvl="1" indent="0"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endParaRPr kumimoji="0" lang="en-US" sz="1000" b="0" i="0" u="dotted" strike="noStrike" kern="0" cap="none" spc="0" normalizeH="0" baseline="0" noProof="0" dirty="0">
                <a:ln>
                  <a:noFill/>
                </a:ln>
                <a:solidFill>
                  <a:srgbClr val="000000"/>
                </a:solidFill>
                <a:effectLst/>
                <a:uLnTx/>
                <a:uFill>
                  <a:solidFill>
                    <a:srgbClr val="E7E6E6">
                      <a:lumMod val="50000"/>
                    </a:srgbClr>
                  </a:solidFill>
                </a:uFill>
                <a:latin typeface="Calibri" panose="020F0502020204030204"/>
              </a:endParaRPr>
            </a:p>
            <a:p>
              <a:pPr marL="9525" marR="0" lvl="1" indent="0" algn="ctr" defTabSz="914400" eaLnBrk="1" fontAlgn="auto" latinLnBrk="0" hangingPunct="1">
                <a:lnSpc>
                  <a:spcPct val="100000"/>
                </a:lnSpc>
                <a:spcBef>
                  <a:spcPts val="0"/>
                </a:spcBef>
                <a:spcAft>
                  <a:spcPts val="0"/>
                </a:spcAft>
                <a:buClrTx/>
                <a:buSzTx/>
                <a:buFontTx/>
                <a:buNone/>
                <a:tabLst>
                  <a:tab pos="168275" algn="l"/>
                  <a:tab pos="336550" algn="l"/>
                  <a:tab pos="569913" algn="l"/>
                  <a:tab pos="909638" algn="l"/>
                  <a:tab pos="3652838" algn="l"/>
                  <a:tab pos="3941763" algn="l"/>
                </a:tabLst>
                <a:defRPr/>
              </a:pPr>
              <a:r>
                <a:rPr kumimoji="0" lang="en-US" sz="800" b="1" i="0" u="none" strike="noStrike" kern="0" cap="none" spc="0" normalizeH="0" baseline="0" noProof="0" dirty="0">
                  <a:ln>
                    <a:noFill/>
                  </a:ln>
                  <a:solidFill>
                    <a:srgbClr val="648E48"/>
                  </a:solidFill>
                  <a:effectLst/>
                  <a:uLnTx/>
                  <a:uFill>
                    <a:solidFill>
                      <a:srgbClr val="E7E6E6">
                        <a:lumMod val="50000"/>
                      </a:srgbClr>
                    </a:solidFill>
                  </a:uFill>
                  <a:latin typeface="Calibri" panose="020F0502020204030204"/>
                  <a:hlinkClick r:id="rId4">
                    <a:extLst>
                      <a:ext uri="{A12FA001-AC4F-418D-AE19-62706E023703}">
                        <ahyp:hlinkClr xmlns:ahyp="http://schemas.microsoft.com/office/drawing/2018/hyperlinkcolor" val="tx"/>
                      </a:ext>
                    </a:extLst>
                  </a:hlinkClick>
                </a:rPr>
                <a:t>https://www.arduino.cc/reference/cs/language/structure/control-structure/while/</a:t>
              </a:r>
              <a:endParaRPr kumimoji="0" lang="en-US" sz="800" b="1" i="0" u="none" strike="noStrike" kern="0" cap="none" spc="0" normalizeH="0" baseline="0" noProof="0" dirty="0">
                <a:ln>
                  <a:noFill/>
                </a:ln>
                <a:solidFill>
                  <a:srgbClr val="648E48"/>
                </a:solidFill>
                <a:effectLst/>
                <a:uLnTx/>
                <a:uFill>
                  <a:solidFill>
                    <a:srgbClr val="E7E6E6">
                      <a:lumMod val="50000"/>
                    </a:srgbClr>
                  </a:solidFill>
                </a:uFill>
                <a:latin typeface="Calibri" panose="020F0502020204030204"/>
              </a:endParaRPr>
            </a:p>
          </p:txBody>
        </p:sp>
        <p:sp>
          <p:nvSpPr>
            <p:cNvPr id="54" name="TextBox 53">
              <a:extLst>
                <a:ext uri="{FF2B5EF4-FFF2-40B4-BE49-F238E27FC236}">
                  <a16:creationId xmlns:a16="http://schemas.microsoft.com/office/drawing/2014/main" id="{E33CE90C-9A6E-EB23-9270-E412F9E4C704}"/>
                </a:ext>
              </a:extLst>
            </p:cNvPr>
            <p:cNvSpPr txBox="1"/>
            <p:nvPr/>
          </p:nvSpPr>
          <p:spPr>
            <a:xfrm>
              <a:off x="2251994" y="2195997"/>
              <a:ext cx="3246636" cy="244909"/>
            </a:xfrm>
            <a:prstGeom prst="rect">
              <a:avLst/>
            </a:prstGeom>
            <a:noFill/>
            <a:ln>
              <a:noFill/>
            </a:ln>
          </p:spPr>
          <p:txBody>
            <a:bodyPr wrap="square" lIns="0" tIns="0" rIns="0" bIns="0" rtlCol="0" anchor="ctr" anchorCtr="0">
              <a:noAutofit/>
            </a:bodyPr>
            <a:lstStyle/>
            <a:p>
              <a:pPr marL="9525" marR="0" lvl="1"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Calibri" panose="020F0502020204030204"/>
                </a:rPr>
                <a:t>while</a:t>
              </a:r>
            </a:p>
          </p:txBody>
        </p:sp>
      </p:grpSp>
      <p:sp>
        <p:nvSpPr>
          <p:cNvPr id="56" name="Hexagon 55">
            <a:extLst>
              <a:ext uri="{FF2B5EF4-FFF2-40B4-BE49-F238E27FC236}">
                <a16:creationId xmlns:a16="http://schemas.microsoft.com/office/drawing/2014/main" id="{14BBE42E-2D77-3E36-9DE6-CF90B5E9C0A1}"/>
              </a:ext>
            </a:extLst>
          </p:cNvPr>
          <p:cNvSpPr/>
          <p:nvPr/>
        </p:nvSpPr>
        <p:spPr>
          <a:xfrm>
            <a:off x="7925846" y="3271900"/>
            <a:ext cx="1450877" cy="529530"/>
          </a:xfrm>
          <a:prstGeom prst="hexagon">
            <a:avLst/>
          </a:prstGeom>
          <a:solidFill>
            <a:srgbClr val="FFF0D5"/>
          </a:solidFill>
          <a:ln w="38100" cap="flat" cmpd="sng" algn="ctr">
            <a:solidFill>
              <a:srgbClr val="FFB100"/>
            </a:solidFill>
            <a:prstDash val="solid"/>
            <a:miter lim="800000"/>
          </a:ln>
          <a:effectLst>
            <a:glow rad="25400">
              <a:srgbClr val="FFC000">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rPr>
              <a:t>While</a:t>
            </a:r>
            <a:r>
              <a:rPr lang="en-US" sz="1400" b="1" kern="0" dirty="0">
                <a:solidFill>
                  <a:schemeClr val="accent3">
                    <a:lumMod val="50000"/>
                  </a:schemeClr>
                </a:solidFill>
                <a:latin typeface="Calibri" panose="020F0502020204030204"/>
              </a:rPr>
              <a:t> button is pressed</a:t>
            </a:r>
            <a:endParaRPr kumimoji="0" lang="en-US" sz="1400" b="1" i="0" u="none" strike="noStrike" kern="0" cap="none" spc="0" normalizeH="0" baseline="0" noProof="0" dirty="0">
              <a:ln>
                <a:noFill/>
              </a:ln>
              <a:solidFill>
                <a:schemeClr val="accent3">
                  <a:lumMod val="50000"/>
                </a:schemeClr>
              </a:solidFill>
              <a:effectLst/>
              <a:uLnTx/>
              <a:uFillTx/>
              <a:latin typeface="Calibri" panose="020F0502020204030204"/>
              <a:ea typeface="+mn-ea"/>
              <a:cs typeface="+mn-cs"/>
            </a:endParaRPr>
          </a:p>
        </p:txBody>
      </p:sp>
      <p:sp>
        <p:nvSpPr>
          <p:cNvPr id="57" name="Rounded Rectangle 56">
            <a:extLst>
              <a:ext uri="{FF2B5EF4-FFF2-40B4-BE49-F238E27FC236}">
                <a16:creationId xmlns:a16="http://schemas.microsoft.com/office/drawing/2014/main" id="{1D7D8FD3-53B2-49BB-0B23-54EA37A8CB91}"/>
              </a:ext>
            </a:extLst>
          </p:cNvPr>
          <p:cNvSpPr/>
          <p:nvPr/>
        </p:nvSpPr>
        <p:spPr>
          <a:xfrm>
            <a:off x="7128943" y="2431752"/>
            <a:ext cx="756733" cy="320580"/>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Start</a:t>
            </a:r>
          </a:p>
        </p:txBody>
      </p:sp>
      <p:sp>
        <p:nvSpPr>
          <p:cNvPr id="58" name="Rounded Rectangle 57">
            <a:extLst>
              <a:ext uri="{FF2B5EF4-FFF2-40B4-BE49-F238E27FC236}">
                <a16:creationId xmlns:a16="http://schemas.microsoft.com/office/drawing/2014/main" id="{C5461BDE-B763-C7FD-B008-4CF8803A6B73}"/>
              </a:ext>
            </a:extLst>
          </p:cNvPr>
          <p:cNvSpPr/>
          <p:nvPr/>
        </p:nvSpPr>
        <p:spPr>
          <a:xfrm>
            <a:off x="9126087" y="5294624"/>
            <a:ext cx="1121066" cy="308255"/>
          </a:xfrm>
          <a:prstGeom prst="roundRect">
            <a:avLst>
              <a:gd name="adj" fmla="val 50000"/>
            </a:avLst>
          </a:prstGeom>
          <a:solidFill>
            <a:srgbClr val="E3F0D9"/>
          </a:solidFill>
          <a:ln w="38100" cap="flat" cmpd="sng" algn="ctr">
            <a:solidFill>
              <a:srgbClr val="648E48"/>
            </a:solidFill>
            <a:prstDash val="solid"/>
            <a:miter lim="800000"/>
          </a:ln>
          <a:effectLst>
            <a:glow rad="25400">
              <a:srgbClr val="E3F0D9"/>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648E48"/>
                </a:solidFill>
                <a:effectLst/>
                <a:uLnTx/>
                <a:uFillTx/>
                <a:latin typeface="Calibri" panose="020F0502020204030204"/>
                <a:ea typeface="+mn-ea"/>
                <a:cs typeface="+mn-cs"/>
              </a:rPr>
              <a:t>Continue in code</a:t>
            </a:r>
          </a:p>
        </p:txBody>
      </p:sp>
      <p:cxnSp>
        <p:nvCxnSpPr>
          <p:cNvPr id="59" name="Elbow Connector 58">
            <a:extLst>
              <a:ext uri="{FF2B5EF4-FFF2-40B4-BE49-F238E27FC236}">
                <a16:creationId xmlns:a16="http://schemas.microsoft.com/office/drawing/2014/main" id="{436E9A4F-9CBC-CC96-5FB7-D3D1C22FE364}"/>
              </a:ext>
            </a:extLst>
          </p:cNvPr>
          <p:cNvCxnSpPr>
            <a:cxnSpLocks/>
            <a:stCxn id="61" idx="1"/>
            <a:endCxn id="56" idx="3"/>
          </p:cNvCxnSpPr>
          <p:nvPr/>
        </p:nvCxnSpPr>
        <p:spPr>
          <a:xfrm rot="10800000" flipH="1">
            <a:off x="7183312" y="3536665"/>
            <a:ext cx="742533" cy="1517606"/>
          </a:xfrm>
          <a:prstGeom prst="bentConnector3">
            <a:avLst>
              <a:gd name="adj1" fmla="val -30787"/>
            </a:avLst>
          </a:prstGeom>
          <a:noFill/>
          <a:ln w="50800" cap="flat" cmpd="sng" algn="ctr">
            <a:solidFill>
              <a:srgbClr val="795CF1"/>
            </a:solidFill>
            <a:prstDash val="solid"/>
            <a:miter lim="800000"/>
            <a:tailEnd type="triangle"/>
          </a:ln>
          <a:effectLst>
            <a:glow rad="12700">
              <a:srgbClr val="FFFFFF"/>
            </a:glow>
          </a:effectLst>
        </p:spPr>
      </p:cxnSp>
      <p:cxnSp>
        <p:nvCxnSpPr>
          <p:cNvPr id="60" name="Elbow Connector 59">
            <a:extLst>
              <a:ext uri="{FF2B5EF4-FFF2-40B4-BE49-F238E27FC236}">
                <a16:creationId xmlns:a16="http://schemas.microsoft.com/office/drawing/2014/main" id="{67CBA741-0D63-19B2-6F02-709AA1058007}"/>
              </a:ext>
            </a:extLst>
          </p:cNvPr>
          <p:cNvCxnSpPr>
            <a:cxnSpLocks/>
            <a:stCxn id="57" idx="3"/>
          </p:cNvCxnSpPr>
          <p:nvPr/>
        </p:nvCxnSpPr>
        <p:spPr>
          <a:xfrm>
            <a:off x="7885676" y="2592042"/>
            <a:ext cx="760856" cy="644369"/>
          </a:xfrm>
          <a:prstGeom prst="bentConnector3">
            <a:avLst>
              <a:gd name="adj1" fmla="val 99254"/>
            </a:avLst>
          </a:prstGeom>
          <a:noFill/>
          <a:ln w="50800" cap="flat" cmpd="sng" algn="ctr">
            <a:solidFill>
              <a:srgbClr val="795CF1"/>
            </a:solidFill>
            <a:prstDash val="solid"/>
            <a:miter lim="800000"/>
            <a:tailEnd type="triangle"/>
          </a:ln>
          <a:effectLst>
            <a:glow rad="12700">
              <a:srgbClr val="FFFFFF"/>
            </a:glow>
          </a:effectLst>
        </p:spPr>
      </p:cxnSp>
      <p:sp>
        <p:nvSpPr>
          <p:cNvPr id="61" name="Rectangle 60">
            <a:extLst>
              <a:ext uri="{FF2B5EF4-FFF2-40B4-BE49-F238E27FC236}">
                <a16:creationId xmlns:a16="http://schemas.microsoft.com/office/drawing/2014/main" id="{CD8E3901-ED9E-B2A0-FFAA-0E7E1906B6FF}"/>
              </a:ext>
            </a:extLst>
          </p:cNvPr>
          <p:cNvSpPr/>
          <p:nvPr/>
        </p:nvSpPr>
        <p:spPr>
          <a:xfrm>
            <a:off x="7183313" y="4604727"/>
            <a:ext cx="1450876" cy="899087"/>
          </a:xfrm>
          <a:prstGeom prst="rect">
            <a:avLst/>
          </a:prstGeom>
          <a:solidFill>
            <a:srgbClr val="FFE0D3"/>
          </a:solidFill>
          <a:ln w="38100" cap="flat" cmpd="sng" algn="ctr">
            <a:solidFill>
              <a:srgbClr val="FF6100"/>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Increment value.</a:t>
            </a:r>
          </a:p>
          <a:p>
            <a:pPr marL="0" marR="0" lvl="0" indent="0" algn="ctr" defTabSz="914400" eaLnBrk="1" fontAlgn="auto" latinLnBrk="0" hangingPunct="1">
              <a:lnSpc>
                <a:spcPct val="100000"/>
              </a:lnSpc>
              <a:spcBef>
                <a:spcPts val="0"/>
              </a:spcBef>
              <a:spcAft>
                <a:spcPts val="0"/>
              </a:spcAft>
              <a:buClrTx/>
              <a:buSzTx/>
              <a:buFontTx/>
              <a:buNone/>
              <a:tabLst/>
              <a:defRPr/>
            </a:pPr>
            <a:r>
              <a:rPr lang="en-US" sz="1050" b="1" kern="0" dirty="0">
                <a:solidFill>
                  <a:srgbClr val="ED7D31">
                    <a:lumMod val="75000"/>
                  </a:srgbClr>
                </a:solidFill>
                <a:latin typeface="Calibri" panose="020F0502020204030204"/>
              </a:rPr>
              <a:t>Constrain Value.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Update </a:t>
            </a:r>
            <a:r>
              <a:rPr lang="en-US" sz="1050" b="1" kern="0" dirty="0">
                <a:solidFill>
                  <a:srgbClr val="ED7D31">
                    <a:lumMod val="75000"/>
                  </a:srgbClr>
                </a:solidFill>
                <a:latin typeface="Calibri" panose="020F0502020204030204"/>
              </a:rPr>
              <a:t>Screen</a:t>
            </a:r>
            <a:r>
              <a:rPr kumimoji="0" lang="en-US" sz="105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a:t>
            </a:r>
          </a:p>
          <a:p>
            <a:pPr marL="0" marR="0" lvl="0" indent="0" algn="ctr" defTabSz="914400" eaLnBrk="1" fontAlgn="auto" latinLnBrk="0" hangingPunct="1">
              <a:lnSpc>
                <a:spcPct val="100000"/>
              </a:lnSpc>
              <a:spcBef>
                <a:spcPts val="0"/>
              </a:spcBef>
              <a:spcAft>
                <a:spcPts val="0"/>
              </a:spcAft>
              <a:buClrTx/>
              <a:buSzTx/>
              <a:buFontTx/>
              <a:buNone/>
              <a:tabLst/>
              <a:defRPr/>
            </a:pPr>
            <a:r>
              <a:rPr lang="en-US" sz="1050" b="1" kern="0" dirty="0">
                <a:solidFill>
                  <a:srgbClr val="ED7D31">
                    <a:lumMod val="75000"/>
                  </a:srgbClr>
                </a:solidFill>
                <a:latin typeface="Calibri" panose="020F0502020204030204"/>
              </a:rPr>
              <a:t>Delay 50ms</a:t>
            </a:r>
            <a:endParaRPr kumimoji="0" lang="en-US" sz="105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62" name="Rounded Rectangle 61">
            <a:extLst>
              <a:ext uri="{FF2B5EF4-FFF2-40B4-BE49-F238E27FC236}">
                <a16:creationId xmlns:a16="http://schemas.microsoft.com/office/drawing/2014/main" id="{54E00FB1-0975-7102-A052-D06A2991EF92}"/>
              </a:ext>
            </a:extLst>
          </p:cNvPr>
          <p:cNvSpPr/>
          <p:nvPr/>
        </p:nvSpPr>
        <p:spPr>
          <a:xfrm>
            <a:off x="7761246" y="3939324"/>
            <a:ext cx="543482" cy="231074"/>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5943B1"/>
                </a:solidFill>
                <a:effectLst/>
                <a:uLnTx/>
                <a:uFillTx/>
                <a:latin typeface="Calibri" panose="020F0502020204030204"/>
                <a:ea typeface="+mn-ea"/>
                <a:cs typeface="+mn-cs"/>
              </a:rPr>
              <a:t>true</a:t>
            </a:r>
          </a:p>
        </p:txBody>
      </p:sp>
      <p:cxnSp>
        <p:nvCxnSpPr>
          <p:cNvPr id="63" name="Elbow Connector 62">
            <a:extLst>
              <a:ext uri="{FF2B5EF4-FFF2-40B4-BE49-F238E27FC236}">
                <a16:creationId xmlns:a16="http://schemas.microsoft.com/office/drawing/2014/main" id="{C0090385-C7D1-8D01-2080-6E1AE13EFC59}"/>
              </a:ext>
            </a:extLst>
          </p:cNvPr>
          <p:cNvCxnSpPr>
            <a:cxnSpLocks/>
            <a:stCxn id="56" idx="0"/>
            <a:endCxn id="58" idx="0"/>
          </p:cNvCxnSpPr>
          <p:nvPr/>
        </p:nvCxnSpPr>
        <p:spPr>
          <a:xfrm>
            <a:off x="9376723" y="3536665"/>
            <a:ext cx="309897" cy="1757959"/>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64" name="Rounded Rectangle 63">
            <a:extLst>
              <a:ext uri="{FF2B5EF4-FFF2-40B4-BE49-F238E27FC236}">
                <a16:creationId xmlns:a16="http://schemas.microsoft.com/office/drawing/2014/main" id="{9EB28CD8-5B31-AF3A-DF24-1B7A18837BFB}"/>
              </a:ext>
            </a:extLst>
          </p:cNvPr>
          <p:cNvSpPr/>
          <p:nvPr/>
        </p:nvSpPr>
        <p:spPr>
          <a:xfrm>
            <a:off x="9776306" y="3512079"/>
            <a:ext cx="516968" cy="219925"/>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5943B1"/>
                </a:solidFill>
                <a:effectLst/>
                <a:uLnTx/>
                <a:uFillTx/>
                <a:latin typeface="Calibri" panose="020F0502020204030204"/>
                <a:ea typeface="+mn-ea"/>
                <a:cs typeface="+mn-cs"/>
              </a:rPr>
              <a:t>false</a:t>
            </a:r>
          </a:p>
        </p:txBody>
      </p:sp>
      <p:cxnSp>
        <p:nvCxnSpPr>
          <p:cNvPr id="65" name="Elbow Connector 64">
            <a:extLst>
              <a:ext uri="{FF2B5EF4-FFF2-40B4-BE49-F238E27FC236}">
                <a16:creationId xmlns:a16="http://schemas.microsoft.com/office/drawing/2014/main" id="{3713E6DA-E865-5644-DED5-5E612A02C476}"/>
              </a:ext>
            </a:extLst>
          </p:cNvPr>
          <p:cNvCxnSpPr>
            <a:cxnSpLocks/>
            <a:endCxn id="61" idx="0"/>
          </p:cNvCxnSpPr>
          <p:nvPr/>
        </p:nvCxnSpPr>
        <p:spPr>
          <a:xfrm rot="5400000">
            <a:off x="7883069" y="3883500"/>
            <a:ext cx="746910" cy="695545"/>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sp>
        <p:nvSpPr>
          <p:cNvPr id="29" name="Parallelogram 28">
            <a:extLst>
              <a:ext uri="{FF2B5EF4-FFF2-40B4-BE49-F238E27FC236}">
                <a16:creationId xmlns:a16="http://schemas.microsoft.com/office/drawing/2014/main" id="{8E3A9808-04E7-4911-A14A-AF460F4EF4ED}"/>
              </a:ext>
            </a:extLst>
          </p:cNvPr>
          <p:cNvSpPr/>
          <p:nvPr/>
        </p:nvSpPr>
        <p:spPr>
          <a:xfrm>
            <a:off x="9429697" y="2629147"/>
            <a:ext cx="1701336"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latin typeface="Calibri" panose="020F0502020204030204"/>
              </a:rPr>
              <a:t>r</a:t>
            </a:r>
            <a:r>
              <a:rPr kumimoji="0" lang="en-US" sz="1100" b="1" i="0" u="none" strike="noStrike" kern="0" cap="none" spc="0" normalizeH="0" baseline="0" noProof="0" dirty="0" err="1">
                <a:ln>
                  <a:noFill/>
                </a:ln>
                <a:effectLst/>
                <a:uLnTx/>
                <a:uFillTx/>
                <a:latin typeface="Calibri" panose="020F0502020204030204"/>
                <a:ea typeface="+mn-ea"/>
                <a:cs typeface="+mn-cs"/>
              </a:rPr>
              <a:t>ead</a:t>
            </a:r>
            <a:r>
              <a:rPr kumimoji="0" lang="en-US" sz="1100" b="1" i="0" u="none" strike="noStrike" kern="0" cap="none" spc="0" normalizeH="0" baseline="0" noProof="0" dirty="0">
                <a:ln>
                  <a:noFill/>
                </a:ln>
                <a:effectLst/>
                <a:uLnTx/>
                <a:uFillTx/>
                <a:latin typeface="Calibri" panose="020F0502020204030204"/>
                <a:ea typeface="+mn-ea"/>
                <a:cs typeface="+mn-cs"/>
              </a:rPr>
              <a:t> button state</a:t>
            </a:r>
          </a:p>
        </p:txBody>
      </p:sp>
      <p:sp>
        <p:nvSpPr>
          <p:cNvPr id="30" name="Pentagon 29">
            <a:extLst>
              <a:ext uri="{FF2B5EF4-FFF2-40B4-BE49-F238E27FC236}">
                <a16:creationId xmlns:a16="http://schemas.microsoft.com/office/drawing/2014/main" id="{663AC54A-5BF3-DFF1-FBDD-1AFD4B6760D4}"/>
              </a:ext>
            </a:extLst>
          </p:cNvPr>
          <p:cNvSpPr/>
          <p:nvPr/>
        </p:nvSpPr>
        <p:spPr>
          <a:xfrm rot="5400000">
            <a:off x="10442876" y="1485702"/>
            <a:ext cx="614994" cy="545122"/>
          </a:xfrm>
          <a:prstGeom prst="homePlate">
            <a:avLst>
              <a:gd name="adj" fmla="val 32364"/>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3600" b="1" kern="0" dirty="0">
                <a:solidFill>
                  <a:srgbClr val="DC267E"/>
                </a:solidFill>
                <a:latin typeface="Calibri" panose="020F0502020204030204"/>
              </a:rPr>
              <a:t>#</a:t>
            </a:r>
            <a:endParaRPr kumimoji="0" lang="en-US" sz="36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cxnSp>
        <p:nvCxnSpPr>
          <p:cNvPr id="31" name="Elbow Connector 30">
            <a:extLst>
              <a:ext uri="{FF2B5EF4-FFF2-40B4-BE49-F238E27FC236}">
                <a16:creationId xmlns:a16="http://schemas.microsoft.com/office/drawing/2014/main" id="{F470C4E8-F35B-A6A2-FFF3-412938CB8DDC}"/>
              </a:ext>
            </a:extLst>
          </p:cNvPr>
          <p:cNvCxnSpPr>
            <a:cxnSpLocks/>
            <a:stCxn id="30" idx="3"/>
            <a:endCxn id="29" idx="0"/>
          </p:cNvCxnSpPr>
          <p:nvPr/>
        </p:nvCxnSpPr>
        <p:spPr>
          <a:xfrm rot="5400000">
            <a:off x="10233676" y="2112449"/>
            <a:ext cx="563387" cy="470008"/>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sp>
        <p:nvSpPr>
          <p:cNvPr id="32" name="Rounded Rectangle 31">
            <a:extLst>
              <a:ext uri="{FF2B5EF4-FFF2-40B4-BE49-F238E27FC236}">
                <a16:creationId xmlns:a16="http://schemas.microsoft.com/office/drawing/2014/main" id="{9F3CFB77-F4A0-387C-D1A4-6126966F2C36}"/>
              </a:ext>
            </a:extLst>
          </p:cNvPr>
          <p:cNvSpPr/>
          <p:nvPr/>
        </p:nvSpPr>
        <p:spPr>
          <a:xfrm>
            <a:off x="9078209" y="1297409"/>
            <a:ext cx="1298867" cy="529530"/>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5943B1"/>
                </a:solidFill>
                <a:latin typeface="Calibri" panose="020F0502020204030204"/>
              </a:rPr>
              <a:t>from User Input subsystem</a:t>
            </a:r>
            <a:endParaRPr kumimoji="0" lang="en-US" sz="1200" b="1" i="0" u="none" strike="noStrike" kern="0" cap="none" spc="0" normalizeH="0" baseline="0" noProof="0" dirty="0">
              <a:ln>
                <a:noFill/>
              </a:ln>
              <a:solidFill>
                <a:srgbClr val="5943B1"/>
              </a:solidFill>
              <a:effectLst/>
              <a:uLnTx/>
              <a:uFillTx/>
              <a:latin typeface="Calibri" panose="020F0502020204030204"/>
              <a:ea typeface="+mn-ea"/>
              <a:cs typeface="+mn-cs"/>
            </a:endParaRPr>
          </a:p>
        </p:txBody>
      </p:sp>
      <p:cxnSp>
        <p:nvCxnSpPr>
          <p:cNvPr id="33" name="Elbow Connector 32">
            <a:extLst>
              <a:ext uri="{FF2B5EF4-FFF2-40B4-BE49-F238E27FC236}">
                <a16:creationId xmlns:a16="http://schemas.microsoft.com/office/drawing/2014/main" id="{A98B3D08-D51D-0FA3-1515-20C23ECA3E92}"/>
              </a:ext>
            </a:extLst>
          </p:cNvPr>
          <p:cNvCxnSpPr>
            <a:cxnSpLocks/>
            <a:stCxn id="29" idx="5"/>
            <a:endCxn id="56" idx="5"/>
          </p:cNvCxnSpPr>
          <p:nvPr/>
        </p:nvCxnSpPr>
        <p:spPr>
          <a:xfrm rot="10800000" flipV="1">
            <a:off x="9244342" y="2829936"/>
            <a:ext cx="278713" cy="441963"/>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46" name="Parallelogram 45">
            <a:extLst>
              <a:ext uri="{FF2B5EF4-FFF2-40B4-BE49-F238E27FC236}">
                <a16:creationId xmlns:a16="http://schemas.microsoft.com/office/drawing/2014/main" id="{7287E0B6-949D-8B1B-8CDC-40F05F67D159}"/>
              </a:ext>
            </a:extLst>
          </p:cNvPr>
          <p:cNvSpPr/>
          <p:nvPr/>
        </p:nvSpPr>
        <p:spPr>
          <a:xfrm>
            <a:off x="5354151" y="5635291"/>
            <a:ext cx="1829159" cy="40158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kern="0" dirty="0">
                <a:latin typeface="Calibri" panose="020F0502020204030204"/>
              </a:rPr>
              <a:t>user display updated</a:t>
            </a:r>
            <a:endParaRPr kumimoji="0" lang="en-US" sz="1100" b="1" i="0" u="none" strike="noStrike" kern="0" cap="none" spc="0" normalizeH="0" baseline="0" noProof="0" dirty="0">
              <a:ln>
                <a:noFill/>
              </a:ln>
              <a:effectLst/>
              <a:uLnTx/>
              <a:uFillTx/>
              <a:latin typeface="Calibri" panose="020F0502020204030204"/>
              <a:ea typeface="+mn-ea"/>
              <a:cs typeface="+mn-cs"/>
            </a:endParaRPr>
          </a:p>
        </p:txBody>
      </p:sp>
      <p:sp>
        <p:nvSpPr>
          <p:cNvPr id="47" name="Pentagon 46">
            <a:extLst>
              <a:ext uri="{FF2B5EF4-FFF2-40B4-BE49-F238E27FC236}">
                <a16:creationId xmlns:a16="http://schemas.microsoft.com/office/drawing/2014/main" id="{B71FDAC4-C079-6AEA-55AD-0DAB086623A1}"/>
              </a:ext>
            </a:extLst>
          </p:cNvPr>
          <p:cNvSpPr/>
          <p:nvPr/>
        </p:nvSpPr>
        <p:spPr>
          <a:xfrm rot="5400000">
            <a:off x="5344206" y="4143529"/>
            <a:ext cx="695046" cy="675156"/>
          </a:xfrm>
          <a:prstGeom prst="homePlate">
            <a:avLst>
              <a:gd name="adj" fmla="val 32364"/>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DC267E"/>
                </a:solidFill>
                <a:effectLst/>
                <a:uLnTx/>
                <a:uFillTx/>
                <a:latin typeface="Calibri" panose="020F0502020204030204"/>
                <a:ea typeface="+mn-ea"/>
                <a:cs typeface="+mn-cs"/>
              </a:rPr>
              <a:t>#</a:t>
            </a:r>
            <a:r>
              <a:rPr lang="en-US" sz="3600" b="1" kern="0" baseline="-25000" dirty="0">
                <a:solidFill>
                  <a:srgbClr val="DC267E"/>
                </a:solidFill>
                <a:latin typeface="Calibri" panose="020F0502020204030204"/>
              </a:rPr>
              <a:t>2</a:t>
            </a:r>
            <a:endParaRPr kumimoji="0" lang="en-US" sz="36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cxnSp>
        <p:nvCxnSpPr>
          <p:cNvPr id="48" name="Elbow Connector 47">
            <a:extLst>
              <a:ext uri="{FF2B5EF4-FFF2-40B4-BE49-F238E27FC236}">
                <a16:creationId xmlns:a16="http://schemas.microsoft.com/office/drawing/2014/main" id="{D7D822F7-871F-886A-B389-D17B47B6EE34}"/>
              </a:ext>
            </a:extLst>
          </p:cNvPr>
          <p:cNvCxnSpPr>
            <a:cxnSpLocks/>
            <a:stCxn id="61" idx="2"/>
            <a:endCxn id="46" idx="2"/>
          </p:cNvCxnSpPr>
          <p:nvPr/>
        </p:nvCxnSpPr>
        <p:spPr>
          <a:xfrm rot="5400000">
            <a:off x="7333219" y="5260548"/>
            <a:ext cx="332267" cy="818798"/>
          </a:xfrm>
          <a:prstGeom prst="bentConnector2">
            <a:avLst/>
          </a:prstGeom>
          <a:noFill/>
          <a:ln w="50800" cap="flat" cmpd="sng" algn="ctr">
            <a:solidFill>
              <a:srgbClr val="795CF1"/>
            </a:solidFill>
            <a:prstDash val="solid"/>
            <a:miter lim="800000"/>
            <a:tailEnd type="triangle"/>
          </a:ln>
          <a:effectLst>
            <a:glow rad="12700">
              <a:srgbClr val="FFFFFF"/>
            </a:glow>
          </a:effectLst>
        </p:spPr>
      </p:cxnSp>
      <p:sp>
        <p:nvSpPr>
          <p:cNvPr id="66" name="Rounded Rectangle 65">
            <a:extLst>
              <a:ext uri="{FF2B5EF4-FFF2-40B4-BE49-F238E27FC236}">
                <a16:creationId xmlns:a16="http://schemas.microsoft.com/office/drawing/2014/main" id="{1D5A2BEE-32C3-4B9A-EAF9-F14079F8E0AF}"/>
              </a:ext>
            </a:extLst>
          </p:cNvPr>
          <p:cNvSpPr/>
          <p:nvPr/>
        </p:nvSpPr>
        <p:spPr>
          <a:xfrm>
            <a:off x="5012276" y="3457321"/>
            <a:ext cx="1241744" cy="529530"/>
          </a:xfrm>
          <a:prstGeom prst="roundRect">
            <a:avLst>
              <a:gd name="adj" fmla="val 27761"/>
            </a:avLst>
          </a:prstGeom>
          <a:solidFill>
            <a:srgbClr val="E4DFFD"/>
          </a:solidFill>
          <a:ln w="31750" cap="flat" cmpd="sng" algn="ctr">
            <a:solidFill>
              <a:srgbClr val="795CF1"/>
            </a:solidFill>
            <a:prstDash val="sysDot"/>
            <a:miter lim="800000"/>
          </a:ln>
          <a:effectLst>
            <a:glow rad="25400">
              <a:srgbClr val="70AD47">
                <a:lumMod val="20000"/>
                <a:lumOff val="80000"/>
              </a:srgbClr>
            </a:glo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5943B1"/>
                </a:solidFill>
                <a:latin typeface="Calibri" panose="020F0502020204030204"/>
              </a:rPr>
              <a:t>to User Output subsystem</a:t>
            </a:r>
            <a:endParaRPr kumimoji="0" lang="en-US" sz="1200" b="1" i="0" u="none" strike="noStrike" kern="0" cap="none" spc="0" normalizeH="0" baseline="0" noProof="0" dirty="0">
              <a:ln>
                <a:noFill/>
              </a:ln>
              <a:solidFill>
                <a:srgbClr val="5943B1"/>
              </a:solidFill>
              <a:effectLst/>
              <a:uLnTx/>
              <a:uFillTx/>
              <a:latin typeface="Calibri" panose="020F0502020204030204"/>
              <a:ea typeface="+mn-ea"/>
              <a:cs typeface="+mn-cs"/>
            </a:endParaRPr>
          </a:p>
        </p:txBody>
      </p:sp>
      <p:cxnSp>
        <p:nvCxnSpPr>
          <p:cNvPr id="67" name="Elbow Connector 66">
            <a:extLst>
              <a:ext uri="{FF2B5EF4-FFF2-40B4-BE49-F238E27FC236}">
                <a16:creationId xmlns:a16="http://schemas.microsoft.com/office/drawing/2014/main" id="{34733F5F-C78C-CDD7-1859-F2AF656715AA}"/>
              </a:ext>
            </a:extLst>
          </p:cNvPr>
          <p:cNvCxnSpPr>
            <a:cxnSpLocks/>
            <a:stCxn id="46" idx="0"/>
            <a:endCxn id="47" idx="3"/>
          </p:cNvCxnSpPr>
          <p:nvPr/>
        </p:nvCxnSpPr>
        <p:spPr>
          <a:xfrm rot="16200000" flipV="1">
            <a:off x="5576900" y="4943460"/>
            <a:ext cx="806661" cy="577002"/>
          </a:xfrm>
          <a:prstGeom prst="bentConnector3">
            <a:avLst>
              <a:gd name="adj1" fmla="val 50000"/>
            </a:avLst>
          </a:prstGeom>
          <a:noFill/>
          <a:ln w="50800" cap="flat" cmpd="sng" algn="ctr">
            <a:solidFill>
              <a:srgbClr val="795CF1"/>
            </a:solidFill>
            <a:prstDash val="solid"/>
            <a:miter lim="800000"/>
            <a:tailEnd type="triangle"/>
          </a:ln>
          <a:effectLst>
            <a:glow rad="12700">
              <a:srgbClr val="FFFFFF"/>
            </a:glow>
          </a:effectLst>
        </p:spPr>
      </p:cxnSp>
    </p:spTree>
    <p:extLst>
      <p:ext uri="{BB962C8B-B14F-4D97-AF65-F5344CB8AC3E}">
        <p14:creationId xmlns:p14="http://schemas.microsoft.com/office/powerpoint/2010/main" val="1814275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Rounded Rectangle 207">
            <a:extLst>
              <a:ext uri="{FF2B5EF4-FFF2-40B4-BE49-F238E27FC236}">
                <a16:creationId xmlns:a16="http://schemas.microsoft.com/office/drawing/2014/main" id="{BF798216-DF03-4B22-7C8B-A6DDB2057180}"/>
              </a:ext>
            </a:extLst>
          </p:cNvPr>
          <p:cNvSpPr/>
          <p:nvPr/>
        </p:nvSpPr>
        <p:spPr>
          <a:xfrm>
            <a:off x="2106301" y="3450274"/>
            <a:ext cx="9974919" cy="3219460"/>
          </a:xfrm>
          <a:prstGeom prst="roundRect">
            <a:avLst>
              <a:gd name="adj" fmla="val 12187"/>
            </a:avLst>
          </a:prstGeom>
          <a:solidFill>
            <a:schemeClr val="accent5">
              <a:lumMod val="20000"/>
              <a:lumOff val="80000"/>
              <a:alpha val="43000"/>
            </a:schemeClr>
          </a:solidFill>
          <a:ln w="31750" cap="flat" cmpd="sng" algn="ctr">
            <a:solidFill>
              <a:schemeClr val="accent1"/>
            </a:solidFill>
            <a:prstDash val="sysDot"/>
            <a:miter lim="800000"/>
          </a:ln>
          <a:effectLst/>
        </p:spPr>
        <p:txBody>
          <a:bodyPr lIns="91440" tIns="91440" rIns="91440" bIns="9144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schemeClr val="accent1">
                    <a:lumMod val="75000"/>
                  </a:schemeClr>
                </a:solidFill>
                <a:latin typeface="Calibri" panose="020F0502020204030204"/>
              </a:rPr>
              <a:t>loop() code</a:t>
            </a:r>
            <a:endParaRPr kumimoji="0" lang="en-US" sz="1200" b="1" i="0" u="none" strike="noStrike" kern="0" cap="none" spc="0" normalizeH="0" baseline="0" noProof="0" dirty="0">
              <a:ln>
                <a:noFill/>
              </a:ln>
              <a:solidFill>
                <a:schemeClr val="accent1">
                  <a:lumMod val="75000"/>
                </a:schemeClr>
              </a:solidFill>
              <a:effectLst/>
              <a:uLnTx/>
              <a:uFillTx/>
              <a:latin typeface="Calibri" panose="020F0502020204030204"/>
              <a:ea typeface="+mn-ea"/>
              <a:cs typeface="+mn-cs"/>
            </a:endParaRPr>
          </a:p>
        </p:txBody>
      </p:sp>
      <p:sp>
        <p:nvSpPr>
          <p:cNvPr id="116" name="Rounded Rectangle 115">
            <a:extLst>
              <a:ext uri="{FF2B5EF4-FFF2-40B4-BE49-F238E27FC236}">
                <a16:creationId xmlns:a16="http://schemas.microsoft.com/office/drawing/2014/main" id="{88607CDC-0089-9406-ACCD-245862233D22}"/>
              </a:ext>
            </a:extLst>
          </p:cNvPr>
          <p:cNvSpPr/>
          <p:nvPr/>
        </p:nvSpPr>
        <p:spPr>
          <a:xfrm>
            <a:off x="7891975" y="108514"/>
            <a:ext cx="4189246" cy="2962768"/>
          </a:xfrm>
          <a:prstGeom prst="roundRect">
            <a:avLst>
              <a:gd name="adj" fmla="val 12187"/>
            </a:avLst>
          </a:prstGeom>
          <a:solidFill>
            <a:schemeClr val="accent5">
              <a:lumMod val="20000"/>
              <a:lumOff val="80000"/>
              <a:alpha val="43000"/>
            </a:schemeClr>
          </a:solidFill>
          <a:ln w="31750" cap="flat" cmpd="sng" algn="ctr">
            <a:solidFill>
              <a:schemeClr val="accent1"/>
            </a:solidFill>
            <a:prstDash val="sysDot"/>
            <a:miter lim="800000"/>
          </a:ln>
          <a:effectLst/>
        </p:spPr>
        <p:txBody>
          <a:bodyPr lIns="91440" tIns="91440" rIns="91440" bIns="9144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schemeClr val="accent1">
                    <a:lumMod val="75000"/>
                  </a:schemeClr>
                </a:solidFill>
                <a:latin typeface="Calibri" panose="020F0502020204030204"/>
              </a:rPr>
              <a:t>setup() code</a:t>
            </a:r>
            <a:endParaRPr kumimoji="0" lang="en-US" sz="1200" b="1" i="0" u="none" strike="noStrike" kern="0" cap="none" spc="0" normalizeH="0" baseline="0" noProof="0" dirty="0">
              <a:ln>
                <a:noFill/>
              </a:ln>
              <a:solidFill>
                <a:schemeClr val="accent1">
                  <a:lumMod val="75000"/>
                </a:schemeClr>
              </a:solidFill>
              <a:effectLst/>
              <a:uLnTx/>
              <a:uFillTx/>
              <a:latin typeface="Calibri" panose="020F0502020204030204"/>
              <a:ea typeface="+mn-ea"/>
              <a:cs typeface="+mn-cs"/>
            </a:endParaRPr>
          </a:p>
        </p:txBody>
      </p:sp>
      <p:sp>
        <p:nvSpPr>
          <p:cNvPr id="7" name="Rounded Rectangle 6">
            <a:extLst>
              <a:ext uri="{FF2B5EF4-FFF2-40B4-BE49-F238E27FC236}">
                <a16:creationId xmlns:a16="http://schemas.microsoft.com/office/drawing/2014/main" id="{71F92639-9B30-16D3-6889-975A83D8573B}"/>
              </a:ext>
            </a:extLst>
          </p:cNvPr>
          <p:cNvSpPr/>
          <p:nvPr/>
        </p:nvSpPr>
        <p:spPr>
          <a:xfrm>
            <a:off x="389745" y="1358579"/>
            <a:ext cx="7348032" cy="1636287"/>
          </a:xfrm>
          <a:prstGeom prst="roundRect">
            <a:avLst>
              <a:gd name="adj" fmla="val 12187"/>
            </a:avLst>
          </a:prstGeom>
          <a:solidFill>
            <a:schemeClr val="accent5">
              <a:lumMod val="20000"/>
              <a:lumOff val="80000"/>
              <a:alpha val="43000"/>
            </a:schemeClr>
          </a:solidFill>
          <a:ln w="31750" cap="flat" cmpd="sng" algn="ctr">
            <a:solidFill>
              <a:schemeClr val="accent1"/>
            </a:solidFill>
            <a:prstDash val="sysDot"/>
            <a:miter lim="800000"/>
          </a:ln>
          <a:effectLst/>
        </p:spPr>
        <p:txBody>
          <a:bodyPr lIns="91440" tIns="91440" rIns="91440" bIns="9144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schemeClr val="accent1">
                    <a:lumMod val="75000"/>
                  </a:schemeClr>
                </a:solidFill>
                <a:latin typeface="Calibri" panose="020F0502020204030204"/>
              </a:rPr>
              <a:t>global code</a:t>
            </a:r>
            <a:endParaRPr kumimoji="0" lang="en-US" sz="1200" b="1" i="0" u="none" strike="noStrike" kern="0" cap="none" spc="0" normalizeH="0" baseline="0" noProof="0" dirty="0">
              <a:ln>
                <a:noFill/>
              </a:ln>
              <a:solidFill>
                <a:schemeClr val="accent1">
                  <a:lumMod val="75000"/>
                </a:schemeClr>
              </a:solidFill>
              <a:effectLst/>
              <a:uLnTx/>
              <a:uFillTx/>
              <a:latin typeface="Calibri" panose="020F0502020204030204"/>
              <a:ea typeface="+mn-ea"/>
              <a:cs typeface="+mn-cs"/>
            </a:endParaRPr>
          </a:p>
        </p:txBody>
      </p:sp>
      <p:sp>
        <p:nvSpPr>
          <p:cNvPr id="71" name="Rounded Rectangle 70">
            <a:extLst>
              <a:ext uri="{FF2B5EF4-FFF2-40B4-BE49-F238E27FC236}">
                <a16:creationId xmlns:a16="http://schemas.microsoft.com/office/drawing/2014/main" id="{EE22782B-8CE7-074C-124B-4D8E7EDB3A57}"/>
              </a:ext>
            </a:extLst>
          </p:cNvPr>
          <p:cNvSpPr/>
          <p:nvPr/>
        </p:nvSpPr>
        <p:spPr>
          <a:xfrm>
            <a:off x="727273" y="1993662"/>
            <a:ext cx="1296637" cy="491379"/>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tIns="0" bIns="0" rtlCol="0" anchor="ctr">
            <a:normAutofit fontScale="925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Start</a:t>
            </a:r>
          </a:p>
        </p:txBody>
      </p:sp>
      <p:cxnSp>
        <p:nvCxnSpPr>
          <p:cNvPr id="72" name="Elbow Connector 71">
            <a:extLst>
              <a:ext uri="{FF2B5EF4-FFF2-40B4-BE49-F238E27FC236}">
                <a16:creationId xmlns:a16="http://schemas.microsoft.com/office/drawing/2014/main" id="{A3A826E8-08BA-6CB7-8E12-AEF9A1E75BBB}"/>
              </a:ext>
            </a:extLst>
          </p:cNvPr>
          <p:cNvCxnSpPr>
            <a:cxnSpLocks/>
            <a:stCxn id="71" idx="3"/>
            <a:endCxn id="19" idx="5"/>
          </p:cNvCxnSpPr>
          <p:nvPr/>
        </p:nvCxnSpPr>
        <p:spPr>
          <a:xfrm>
            <a:off x="2023910" y="2239352"/>
            <a:ext cx="645614" cy="6012"/>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73" name="Rectangle 72">
            <a:extLst>
              <a:ext uri="{FF2B5EF4-FFF2-40B4-BE49-F238E27FC236}">
                <a16:creationId xmlns:a16="http://schemas.microsoft.com/office/drawing/2014/main" id="{44DE6462-C60A-FAEB-43F8-3DCAB550634C}"/>
              </a:ext>
            </a:extLst>
          </p:cNvPr>
          <p:cNvSpPr/>
          <p:nvPr/>
        </p:nvSpPr>
        <p:spPr>
          <a:xfrm>
            <a:off x="5110663" y="1756313"/>
            <a:ext cx="2350615" cy="966075"/>
          </a:xfrm>
          <a:prstGeom prst="rect">
            <a:avLst/>
          </a:prstGeom>
          <a:solidFill>
            <a:srgbClr val="FFE0D3"/>
          </a:solidFill>
          <a:ln w="38100" cap="flat" cmpd="sng" algn="ctr">
            <a:solidFill>
              <a:srgbClr val="FF6100"/>
            </a:solidFill>
            <a:prstDash val="solid"/>
            <a:miter lim="800000"/>
          </a:ln>
          <a:effectLst/>
        </p:spPr>
        <p:txBody>
          <a:bodyPr rtlCol="0" anchor="ctr">
            <a:normAutofit/>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Set things up (pins, variables, objects, etc.)</a:t>
            </a:r>
          </a:p>
        </p:txBody>
      </p:sp>
      <p:sp>
        <p:nvSpPr>
          <p:cNvPr id="77" name="Rectangle 76">
            <a:extLst>
              <a:ext uri="{FF2B5EF4-FFF2-40B4-BE49-F238E27FC236}">
                <a16:creationId xmlns:a16="http://schemas.microsoft.com/office/drawing/2014/main" id="{D4FEC316-17B0-EEB5-551A-5AC8D7A8BAB5}"/>
              </a:ext>
            </a:extLst>
          </p:cNvPr>
          <p:cNvSpPr/>
          <p:nvPr/>
        </p:nvSpPr>
        <p:spPr>
          <a:xfrm>
            <a:off x="9262243" y="3884092"/>
            <a:ext cx="2427724" cy="748202"/>
          </a:xfrm>
          <a:prstGeom prst="rect">
            <a:avLst/>
          </a:prstGeom>
          <a:solidFill>
            <a:srgbClr val="FFE0D3"/>
          </a:solidFill>
          <a:ln w="38100" cap="flat" cmpd="sng" algn="ctr">
            <a:solidFill>
              <a:srgbClr val="FF6100"/>
            </a:solidFill>
            <a:prstDash val="solid"/>
            <a:miter lim="800000"/>
          </a:ln>
          <a:effectLst/>
        </p:spPr>
        <p:txBody>
          <a:bodyPr rtlCol="0" anchor="ctr">
            <a:normAutofit fontScale="92500" lnSpcReduction="10000"/>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Read sensor</a:t>
            </a:r>
          </a:p>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Filter data</a:t>
            </a:r>
          </a:p>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store values in 8x8 vector</a:t>
            </a:r>
          </a:p>
        </p:txBody>
      </p:sp>
      <p:cxnSp>
        <p:nvCxnSpPr>
          <p:cNvPr id="80" name="Elbow Connector 79">
            <a:extLst>
              <a:ext uri="{FF2B5EF4-FFF2-40B4-BE49-F238E27FC236}">
                <a16:creationId xmlns:a16="http://schemas.microsoft.com/office/drawing/2014/main" id="{4BD7E702-D001-9CC9-3644-ADC3ACF36336}"/>
              </a:ext>
            </a:extLst>
          </p:cNvPr>
          <p:cNvCxnSpPr>
            <a:cxnSpLocks/>
            <a:stCxn id="73" idx="3"/>
            <a:endCxn id="59" idx="3"/>
          </p:cNvCxnSpPr>
          <p:nvPr/>
        </p:nvCxnSpPr>
        <p:spPr>
          <a:xfrm flipV="1">
            <a:off x="7461278" y="2239350"/>
            <a:ext cx="614027" cy="1"/>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cxnSp>
        <p:nvCxnSpPr>
          <p:cNvPr id="81" name="Elbow Connector 80">
            <a:extLst>
              <a:ext uri="{FF2B5EF4-FFF2-40B4-BE49-F238E27FC236}">
                <a16:creationId xmlns:a16="http://schemas.microsoft.com/office/drawing/2014/main" id="{348D5A49-AC3B-F753-1397-0661355A1DD7}"/>
              </a:ext>
            </a:extLst>
          </p:cNvPr>
          <p:cNvCxnSpPr>
            <a:cxnSpLocks/>
            <a:stCxn id="59" idx="1"/>
            <a:endCxn id="77" idx="0"/>
          </p:cNvCxnSpPr>
          <p:nvPr/>
        </p:nvCxnSpPr>
        <p:spPr>
          <a:xfrm rot="5400000">
            <a:off x="9889279" y="3156330"/>
            <a:ext cx="1314589" cy="140935"/>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82" name="Rectangle 81">
            <a:extLst>
              <a:ext uri="{FF2B5EF4-FFF2-40B4-BE49-F238E27FC236}">
                <a16:creationId xmlns:a16="http://schemas.microsoft.com/office/drawing/2014/main" id="{88BA2C49-B74A-B071-8242-BE01FD910F04}"/>
              </a:ext>
            </a:extLst>
          </p:cNvPr>
          <p:cNvSpPr/>
          <p:nvPr/>
        </p:nvSpPr>
        <p:spPr>
          <a:xfrm>
            <a:off x="5590596" y="5232294"/>
            <a:ext cx="2484709" cy="539244"/>
          </a:xfrm>
          <a:prstGeom prst="rect">
            <a:avLst/>
          </a:prstGeom>
          <a:solidFill>
            <a:srgbClr val="FFE0D3"/>
          </a:solidFill>
          <a:ln w="38100" cap="flat" cmpd="sng" algn="ctr">
            <a:solidFill>
              <a:srgbClr val="FF6100"/>
            </a:solidFill>
            <a:prstDash val="solid"/>
            <a:miter lim="800000"/>
          </a:ln>
          <a:effectLst/>
        </p:spPr>
        <p:txBody>
          <a:bodyPr rtlCol="0" anchor="ctr">
            <a:normAutofit fontScale="92500" lnSpcReduction="10000"/>
          </a:bodyPr>
          <a:lstStyle/>
          <a:p>
            <a:pPr marL="12700" marR="0" lvl="0" indent="-127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Determine if Off-Center</a:t>
            </a:r>
          </a:p>
          <a:p>
            <a:pPr marL="12700" marR="0" lvl="0" indent="-127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update “direction” variable</a:t>
            </a:r>
          </a:p>
        </p:txBody>
      </p:sp>
      <p:cxnSp>
        <p:nvCxnSpPr>
          <p:cNvPr id="89" name="Elbow Connector 88">
            <a:extLst>
              <a:ext uri="{FF2B5EF4-FFF2-40B4-BE49-F238E27FC236}">
                <a16:creationId xmlns:a16="http://schemas.microsoft.com/office/drawing/2014/main" id="{3A3527F2-6E2C-092F-5716-093497A6456F}"/>
              </a:ext>
            </a:extLst>
          </p:cNvPr>
          <p:cNvCxnSpPr>
            <a:cxnSpLocks/>
            <a:stCxn id="110" idx="0"/>
            <a:endCxn id="79" idx="2"/>
          </p:cNvCxnSpPr>
          <p:nvPr/>
        </p:nvCxnSpPr>
        <p:spPr>
          <a:xfrm rot="5400000" flipH="1" flipV="1">
            <a:off x="3553490" y="4801714"/>
            <a:ext cx="617472" cy="2259"/>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6" name="TextBox 5">
            <a:extLst>
              <a:ext uri="{FF2B5EF4-FFF2-40B4-BE49-F238E27FC236}">
                <a16:creationId xmlns:a16="http://schemas.microsoft.com/office/drawing/2014/main" id="{2F41E9F1-357A-A9E1-C6AD-C58BF335BFD3}"/>
              </a:ext>
            </a:extLst>
          </p:cNvPr>
          <p:cNvSpPr txBox="1"/>
          <p:nvPr/>
        </p:nvSpPr>
        <p:spPr>
          <a:xfrm>
            <a:off x="67786" y="52266"/>
            <a:ext cx="6374918" cy="984885"/>
          </a:xfrm>
          <a:prstGeom prst="rect">
            <a:avLst/>
          </a:prstGeom>
          <a:noFill/>
          <a:effectLst/>
        </p:spPr>
        <p:txBody>
          <a:bodyPr wrap="square" rtlCol="0" anchor="ctr">
            <a:spAutoFit/>
          </a:bodyPr>
          <a:lstStyle/>
          <a:p>
            <a:r>
              <a:rPr lang="en-US" sz="4000" b="1" dirty="0">
                <a:solidFill>
                  <a:srgbClr val="4472C4">
                    <a:lumMod val="75000"/>
                  </a:srgbClr>
                </a:solidFill>
                <a:effectLst>
                  <a:glow rad="25400">
                    <a:srgbClr val="FFFFFF">
                      <a:alpha val="80000"/>
                    </a:srgbClr>
                  </a:glow>
                </a:effectLst>
                <a:latin typeface="Calibri" panose="020F0502020204030204"/>
              </a:rPr>
              <a:t>Heat-Tracking Fan</a:t>
            </a:r>
          </a:p>
          <a:p>
            <a:r>
              <a:rPr lang="en-US" b="1" dirty="0">
                <a:solidFill>
                  <a:srgbClr val="4472C4">
                    <a:lumMod val="75000"/>
                  </a:srgbClr>
                </a:solidFill>
                <a:effectLst>
                  <a:glow rad="25400">
                    <a:srgbClr val="FFFFFF">
                      <a:alpha val="80000"/>
                    </a:srgbClr>
                  </a:glow>
                </a:effectLst>
                <a:latin typeface="Calibri" panose="020F0502020204030204"/>
              </a:rPr>
              <a:t>Pseudocode Flowchart (LEVEL 0)</a:t>
            </a:r>
          </a:p>
        </p:txBody>
      </p:sp>
      <p:sp>
        <p:nvSpPr>
          <p:cNvPr id="19" name="Parallelogram 18">
            <a:extLst>
              <a:ext uri="{FF2B5EF4-FFF2-40B4-BE49-F238E27FC236}">
                <a16:creationId xmlns:a16="http://schemas.microsoft.com/office/drawing/2014/main" id="{C42EA842-3CF1-C521-8980-839D056B1729}"/>
              </a:ext>
            </a:extLst>
          </p:cNvPr>
          <p:cNvSpPr/>
          <p:nvPr/>
        </p:nvSpPr>
        <p:spPr>
          <a:xfrm>
            <a:off x="2447731" y="1768339"/>
            <a:ext cx="2350429" cy="95405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sng"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Include libraries</a:t>
            </a:r>
          </a:p>
        </p:txBody>
      </p:sp>
      <p:cxnSp>
        <p:nvCxnSpPr>
          <p:cNvPr id="44" name="Elbow Connector 43">
            <a:extLst>
              <a:ext uri="{FF2B5EF4-FFF2-40B4-BE49-F238E27FC236}">
                <a16:creationId xmlns:a16="http://schemas.microsoft.com/office/drawing/2014/main" id="{E79D08B3-2012-1F6E-3B8A-CC99FCC1D087}"/>
              </a:ext>
            </a:extLst>
          </p:cNvPr>
          <p:cNvCxnSpPr>
            <a:cxnSpLocks/>
            <a:stCxn id="19" idx="2"/>
            <a:endCxn id="73" idx="1"/>
          </p:cNvCxnSpPr>
          <p:nvPr/>
        </p:nvCxnSpPr>
        <p:spPr>
          <a:xfrm flipV="1">
            <a:off x="4576367" y="2239351"/>
            <a:ext cx="534296" cy="6013"/>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59" name="Hexagon 58">
            <a:extLst>
              <a:ext uri="{FF2B5EF4-FFF2-40B4-BE49-F238E27FC236}">
                <a16:creationId xmlns:a16="http://schemas.microsoft.com/office/drawing/2014/main" id="{E36DD138-5F57-5F21-79CB-7FCA22A944A8}"/>
              </a:ext>
            </a:extLst>
          </p:cNvPr>
          <p:cNvSpPr/>
          <p:nvPr/>
        </p:nvSpPr>
        <p:spPr>
          <a:xfrm>
            <a:off x="8075305" y="1909196"/>
            <a:ext cx="2706812" cy="660307"/>
          </a:xfrm>
          <a:prstGeom prst="hexagon">
            <a:avLst/>
          </a:prstGeom>
          <a:solidFill>
            <a:srgbClr val="FFF0D5"/>
          </a:solidFill>
          <a:ln w="38100" cap="flat" cmpd="sng" algn="ctr">
            <a:solidFill>
              <a:srgbClr val="FFB100"/>
            </a:solidFill>
            <a:prstDash val="solid"/>
            <a:miter lim="800000"/>
          </a:ln>
          <a:effectLst>
            <a:glow rad="25400">
              <a:schemeClr val="bg1"/>
            </a:glow>
          </a:effectLst>
        </p:spPr>
        <p:txBody>
          <a:bodyPr lIns="0" tIns="0" rIns="0" bIns="0" rtlCol="0" anchor="ctr">
            <a:normAutofit/>
          </a:bodyPr>
          <a:lstStyle/>
          <a:p>
            <a:pPr algn="ctr">
              <a:defRPr/>
            </a:pPr>
            <a:r>
              <a:rPr lang="en-US" sz="2000" b="1" kern="0" dirty="0">
                <a:solidFill>
                  <a:schemeClr val="accent4">
                    <a:lumMod val="50000"/>
                  </a:schemeClr>
                </a:solidFill>
                <a:latin typeface="Calibri" panose="020F0502020204030204"/>
              </a:rPr>
              <a:t>Check sensor status</a:t>
            </a:r>
            <a:endParaRPr kumimoji="0" lang="en-US" sz="2000" b="1" i="0" u="none" strike="noStrike" kern="0" cap="none" spc="0" normalizeH="0" baseline="0" noProof="0" dirty="0">
              <a:ln>
                <a:noFill/>
              </a:ln>
              <a:solidFill>
                <a:schemeClr val="accent4">
                  <a:lumMod val="50000"/>
                </a:schemeClr>
              </a:solidFill>
              <a:effectLst/>
              <a:uLnTx/>
              <a:uFillTx/>
              <a:latin typeface="Calibri" panose="020F0502020204030204"/>
              <a:ea typeface="+mn-ea"/>
              <a:cs typeface="+mn-cs"/>
            </a:endParaRPr>
          </a:p>
        </p:txBody>
      </p:sp>
      <p:cxnSp>
        <p:nvCxnSpPr>
          <p:cNvPr id="69" name="Elbow Connector 68">
            <a:extLst>
              <a:ext uri="{FF2B5EF4-FFF2-40B4-BE49-F238E27FC236}">
                <a16:creationId xmlns:a16="http://schemas.microsoft.com/office/drawing/2014/main" id="{F543090F-F338-94DB-3837-C258A7CEBF8D}"/>
              </a:ext>
            </a:extLst>
          </p:cNvPr>
          <p:cNvCxnSpPr>
            <a:cxnSpLocks/>
            <a:stCxn id="92" idx="5"/>
            <a:endCxn id="59" idx="4"/>
          </p:cNvCxnSpPr>
          <p:nvPr/>
        </p:nvCxnSpPr>
        <p:spPr>
          <a:xfrm rot="10800000" flipV="1">
            <a:off x="8240383" y="1322540"/>
            <a:ext cx="971289" cy="586656"/>
          </a:xfrm>
          <a:prstGeom prst="bentConnector2">
            <a:avLst/>
          </a:prstGeom>
          <a:noFill/>
          <a:ln w="66675" cap="flat" cmpd="sng" algn="ctr">
            <a:solidFill>
              <a:srgbClr val="FFB100"/>
            </a:solidFill>
            <a:prstDash val="solid"/>
            <a:miter lim="800000"/>
            <a:tailEnd type="triangle"/>
          </a:ln>
          <a:effectLst>
            <a:glow rad="12700">
              <a:srgbClr val="FFFFFF"/>
            </a:glow>
          </a:effectLst>
        </p:spPr>
      </p:cxnSp>
      <p:cxnSp>
        <p:nvCxnSpPr>
          <p:cNvPr id="170" name="Elbow Connector 169">
            <a:extLst>
              <a:ext uri="{FF2B5EF4-FFF2-40B4-BE49-F238E27FC236}">
                <a16:creationId xmlns:a16="http://schemas.microsoft.com/office/drawing/2014/main" id="{634B65D9-04D4-C6C6-C8CD-DAE71D5200EC}"/>
              </a:ext>
            </a:extLst>
          </p:cNvPr>
          <p:cNvCxnSpPr>
            <a:cxnSpLocks/>
            <a:stCxn id="79" idx="0"/>
            <a:endCxn id="77" idx="0"/>
          </p:cNvCxnSpPr>
          <p:nvPr/>
        </p:nvCxnSpPr>
        <p:spPr>
          <a:xfrm rot="5400000" flipH="1" flipV="1">
            <a:off x="7110412" y="637036"/>
            <a:ext cx="118636" cy="6612749"/>
          </a:xfrm>
          <a:prstGeom prst="bentConnector3">
            <a:avLst>
              <a:gd name="adj1" fmla="val 648426"/>
            </a:avLst>
          </a:prstGeom>
          <a:noFill/>
          <a:ln w="66675" cap="flat" cmpd="sng" algn="ctr">
            <a:solidFill>
              <a:srgbClr val="795CF1"/>
            </a:solidFill>
            <a:prstDash val="solid"/>
            <a:miter lim="800000"/>
            <a:tailEnd type="triangle"/>
          </a:ln>
          <a:effectLst>
            <a:glow rad="12700">
              <a:srgbClr val="FFFFFF"/>
            </a:glow>
          </a:effectLst>
        </p:spPr>
      </p:cxnSp>
      <p:sp>
        <p:nvSpPr>
          <p:cNvPr id="62" name="Rounded Rectangle 61">
            <a:extLst>
              <a:ext uri="{FF2B5EF4-FFF2-40B4-BE49-F238E27FC236}">
                <a16:creationId xmlns:a16="http://schemas.microsoft.com/office/drawing/2014/main" id="{3F652557-DE68-5E1A-1648-70B00B60E436}"/>
              </a:ext>
            </a:extLst>
          </p:cNvPr>
          <p:cNvSpPr/>
          <p:nvPr/>
        </p:nvSpPr>
        <p:spPr>
          <a:xfrm rot="10800000" flipH="1" flipV="1">
            <a:off x="11151503" y="1358579"/>
            <a:ext cx="650752" cy="748201"/>
          </a:xfrm>
          <a:prstGeom prst="roundRect">
            <a:avLst/>
          </a:prstGeom>
          <a:solidFill>
            <a:srgbClr val="E4DFFD"/>
          </a:solidFill>
          <a:ln w="25400" cap="flat" cmpd="sng" algn="ctr">
            <a:solidFill>
              <a:srgbClr val="795CF1"/>
            </a:solidFill>
            <a:prstDash val="sysDot"/>
            <a:miter lim="800000"/>
          </a:ln>
          <a:effectLst>
            <a:glow rad="25400">
              <a:schemeClr val="bg1"/>
            </a:glow>
          </a:effectLst>
        </p:spPr>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795CF1"/>
                </a:solidFill>
                <a:latin typeface="Calibri" panose="020F0502020204030204"/>
              </a:rPr>
              <a:t>status == false</a:t>
            </a:r>
            <a:endParaRPr kumimoji="0" lang="en-US" sz="1200" b="1" i="0" u="none" strike="noStrike" kern="0" cap="none" spc="0" normalizeH="0" baseline="0" noProof="0" dirty="0">
              <a:ln>
                <a:noFill/>
              </a:ln>
              <a:solidFill>
                <a:srgbClr val="795CF1"/>
              </a:solidFill>
              <a:effectLst/>
              <a:uLnTx/>
              <a:uFillTx/>
              <a:latin typeface="Calibri" panose="020F0502020204030204"/>
              <a:ea typeface="+mn-ea"/>
              <a:cs typeface="+mn-cs"/>
            </a:endParaRPr>
          </a:p>
        </p:txBody>
      </p:sp>
      <p:sp>
        <p:nvSpPr>
          <p:cNvPr id="37" name="Rounded Rectangle 36">
            <a:extLst>
              <a:ext uri="{FF2B5EF4-FFF2-40B4-BE49-F238E27FC236}">
                <a16:creationId xmlns:a16="http://schemas.microsoft.com/office/drawing/2014/main" id="{C917BE55-9FBD-1575-ED50-65EC573EEE0E}"/>
              </a:ext>
            </a:extLst>
          </p:cNvPr>
          <p:cNvSpPr/>
          <p:nvPr/>
        </p:nvSpPr>
        <p:spPr>
          <a:xfrm rot="10800000" flipH="1" flipV="1">
            <a:off x="9322052" y="2697183"/>
            <a:ext cx="1210895" cy="297109"/>
          </a:xfrm>
          <a:prstGeom prst="roundRect">
            <a:avLst/>
          </a:prstGeom>
          <a:solidFill>
            <a:srgbClr val="E4DFFD"/>
          </a:solidFill>
          <a:ln w="25400" cap="flat" cmpd="sng" algn="ctr">
            <a:solidFill>
              <a:srgbClr val="795CF1"/>
            </a:solidFill>
            <a:prstDash val="sysDot"/>
            <a:miter lim="800000"/>
          </a:ln>
          <a:effectLst>
            <a:glow rad="25400">
              <a:schemeClr val="bg1"/>
            </a:glow>
          </a:effectLst>
        </p:spPr>
        <p:txBody>
          <a:bodyPr rtlCol="0" anchor="ctr">
            <a:normAutofit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795CF1"/>
                </a:solidFill>
                <a:latin typeface="Calibri" panose="020F0502020204030204"/>
              </a:rPr>
              <a:t>status == true</a:t>
            </a:r>
            <a:endParaRPr kumimoji="0" lang="en-US" sz="1200" b="1" i="0" u="none" strike="noStrike" kern="0" cap="none" spc="0" normalizeH="0" baseline="0" noProof="0" dirty="0">
              <a:ln>
                <a:noFill/>
              </a:ln>
              <a:solidFill>
                <a:srgbClr val="795CF1"/>
              </a:solidFill>
              <a:effectLst/>
              <a:uLnTx/>
              <a:uFillTx/>
              <a:latin typeface="Calibri" panose="020F0502020204030204"/>
              <a:ea typeface="+mn-ea"/>
              <a:cs typeface="+mn-cs"/>
            </a:endParaRPr>
          </a:p>
        </p:txBody>
      </p:sp>
      <p:cxnSp>
        <p:nvCxnSpPr>
          <p:cNvPr id="60" name="Elbow Connector 59">
            <a:extLst>
              <a:ext uri="{FF2B5EF4-FFF2-40B4-BE49-F238E27FC236}">
                <a16:creationId xmlns:a16="http://schemas.microsoft.com/office/drawing/2014/main" id="{D90B63EC-5893-83CE-2B1E-A197541F87E7}"/>
              </a:ext>
            </a:extLst>
          </p:cNvPr>
          <p:cNvCxnSpPr>
            <a:cxnSpLocks/>
            <a:stCxn id="77" idx="2"/>
            <a:endCxn id="115" idx="1"/>
          </p:cNvCxnSpPr>
          <p:nvPr/>
        </p:nvCxnSpPr>
        <p:spPr>
          <a:xfrm rot="16200000" flipH="1">
            <a:off x="10254246" y="4854153"/>
            <a:ext cx="462722" cy="19004"/>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79" name="Rounded Rectangle 78">
            <a:extLst>
              <a:ext uri="{FF2B5EF4-FFF2-40B4-BE49-F238E27FC236}">
                <a16:creationId xmlns:a16="http://schemas.microsoft.com/office/drawing/2014/main" id="{F433DF07-D359-EAAC-2605-2EA598EEAA8A}"/>
              </a:ext>
            </a:extLst>
          </p:cNvPr>
          <p:cNvSpPr/>
          <p:nvPr/>
        </p:nvSpPr>
        <p:spPr>
          <a:xfrm>
            <a:off x="3215037" y="4002728"/>
            <a:ext cx="1296637" cy="491379"/>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tIns="0" bIns="0" rtlCol="0" anchor="ctr">
            <a:normAutofit fontScale="550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Loop again</a:t>
            </a:r>
          </a:p>
        </p:txBody>
      </p:sp>
      <p:sp>
        <p:nvSpPr>
          <p:cNvPr id="92" name="Parallelogram 91">
            <a:extLst>
              <a:ext uri="{FF2B5EF4-FFF2-40B4-BE49-F238E27FC236}">
                <a16:creationId xmlns:a16="http://schemas.microsoft.com/office/drawing/2014/main" id="{DE353916-9801-CA27-1CB4-F1BF29A7CECB}"/>
              </a:ext>
            </a:extLst>
          </p:cNvPr>
          <p:cNvSpPr/>
          <p:nvPr/>
        </p:nvSpPr>
        <p:spPr>
          <a:xfrm>
            <a:off x="9068853" y="1015372"/>
            <a:ext cx="1633252" cy="614336"/>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Display error on User Interface</a:t>
            </a:r>
            <a:endParaRPr kumimoji="0" lang="en-US" sz="1200"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endParaRPr>
          </a:p>
        </p:txBody>
      </p:sp>
      <p:cxnSp>
        <p:nvCxnSpPr>
          <p:cNvPr id="94" name="Elbow Connector 93">
            <a:extLst>
              <a:ext uri="{FF2B5EF4-FFF2-40B4-BE49-F238E27FC236}">
                <a16:creationId xmlns:a16="http://schemas.microsoft.com/office/drawing/2014/main" id="{6E1E5AA6-F905-00FA-D921-DB668065AC98}"/>
              </a:ext>
            </a:extLst>
          </p:cNvPr>
          <p:cNvCxnSpPr>
            <a:cxnSpLocks/>
            <a:stCxn id="59" idx="0"/>
            <a:endCxn id="92" idx="2"/>
          </p:cNvCxnSpPr>
          <p:nvPr/>
        </p:nvCxnSpPr>
        <p:spPr>
          <a:xfrm flipH="1" flipV="1">
            <a:off x="10559287" y="1322540"/>
            <a:ext cx="222830" cy="916810"/>
          </a:xfrm>
          <a:prstGeom prst="bentConnector3">
            <a:avLst>
              <a:gd name="adj1" fmla="val -102589"/>
            </a:avLst>
          </a:prstGeom>
          <a:noFill/>
          <a:ln w="66675" cap="flat" cmpd="sng" algn="ctr">
            <a:solidFill>
              <a:srgbClr val="FFB100"/>
            </a:solidFill>
            <a:prstDash val="solid"/>
            <a:miter lim="800000"/>
            <a:tailEnd type="triangle"/>
          </a:ln>
          <a:effectLst>
            <a:glow rad="12700">
              <a:srgbClr val="FFFFFF"/>
            </a:glow>
          </a:effectLst>
        </p:spPr>
      </p:cxnSp>
      <p:cxnSp>
        <p:nvCxnSpPr>
          <p:cNvPr id="103" name="Elbow Connector 102">
            <a:extLst>
              <a:ext uri="{FF2B5EF4-FFF2-40B4-BE49-F238E27FC236}">
                <a16:creationId xmlns:a16="http://schemas.microsoft.com/office/drawing/2014/main" id="{CDA1FB5C-2EDB-8A79-D8CA-15DEB016488E}"/>
              </a:ext>
            </a:extLst>
          </p:cNvPr>
          <p:cNvCxnSpPr>
            <a:cxnSpLocks/>
            <a:stCxn id="82" idx="1"/>
            <a:endCxn id="110" idx="2"/>
          </p:cNvCxnSpPr>
          <p:nvPr/>
        </p:nvCxnSpPr>
        <p:spPr>
          <a:xfrm rot="10800000" flipV="1">
            <a:off x="4958030" y="5501916"/>
            <a:ext cx="632566" cy="14068"/>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110" name="Parallelogram 109">
            <a:extLst>
              <a:ext uri="{FF2B5EF4-FFF2-40B4-BE49-F238E27FC236}">
                <a16:creationId xmlns:a16="http://schemas.microsoft.com/office/drawing/2014/main" id="{17060F27-4189-4CD4-D3BA-CF72DB90C96D}"/>
              </a:ext>
            </a:extLst>
          </p:cNvPr>
          <p:cNvSpPr/>
          <p:nvPr/>
        </p:nvSpPr>
        <p:spPr>
          <a:xfrm>
            <a:off x="2576135" y="5111579"/>
            <a:ext cx="2569923" cy="808809"/>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Update servo position to the left or right towards user</a:t>
            </a:r>
          </a:p>
        </p:txBody>
      </p:sp>
      <p:sp>
        <p:nvSpPr>
          <p:cNvPr id="115" name="Parallelogram 114">
            <a:extLst>
              <a:ext uri="{FF2B5EF4-FFF2-40B4-BE49-F238E27FC236}">
                <a16:creationId xmlns:a16="http://schemas.microsoft.com/office/drawing/2014/main" id="{E43682C7-4FCA-3430-058A-35F13A8E4CDF}"/>
              </a:ext>
            </a:extLst>
          </p:cNvPr>
          <p:cNvSpPr/>
          <p:nvPr/>
        </p:nvSpPr>
        <p:spPr>
          <a:xfrm>
            <a:off x="9022120" y="5095016"/>
            <a:ext cx="2569923" cy="808809"/>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Update screen with grid of temperature-based colors</a:t>
            </a:r>
          </a:p>
        </p:txBody>
      </p:sp>
      <p:cxnSp>
        <p:nvCxnSpPr>
          <p:cNvPr id="125" name="Elbow Connector 124">
            <a:extLst>
              <a:ext uri="{FF2B5EF4-FFF2-40B4-BE49-F238E27FC236}">
                <a16:creationId xmlns:a16="http://schemas.microsoft.com/office/drawing/2014/main" id="{BBB76262-B27C-F7B7-6C56-78C39E2CC9E8}"/>
              </a:ext>
            </a:extLst>
          </p:cNvPr>
          <p:cNvCxnSpPr>
            <a:cxnSpLocks/>
            <a:stCxn id="115" idx="5"/>
            <a:endCxn id="82" idx="3"/>
          </p:cNvCxnSpPr>
          <p:nvPr/>
        </p:nvCxnSpPr>
        <p:spPr>
          <a:xfrm rot="10800000" flipV="1">
            <a:off x="8075306" y="5499420"/>
            <a:ext cx="1134843" cy="2495"/>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137" name="Oval 136">
            <a:extLst>
              <a:ext uri="{FF2B5EF4-FFF2-40B4-BE49-F238E27FC236}">
                <a16:creationId xmlns:a16="http://schemas.microsoft.com/office/drawing/2014/main" id="{10784CBC-D456-DD49-A999-D9F06099C25F}"/>
              </a:ext>
            </a:extLst>
          </p:cNvPr>
          <p:cNvSpPr/>
          <p:nvPr/>
        </p:nvSpPr>
        <p:spPr>
          <a:xfrm flipH="1">
            <a:off x="10367517" y="3144294"/>
            <a:ext cx="191770" cy="191374"/>
          </a:xfrm>
          <a:prstGeom prst="ellipse">
            <a:avLst/>
          </a:prstGeom>
          <a:solidFill>
            <a:srgbClr val="E4DFFD"/>
          </a:solidFill>
          <a:ln w="38100" cap="flat" cmpd="sng" algn="ctr">
            <a:solidFill>
              <a:srgbClr val="795CF1"/>
            </a:solidFill>
            <a:prstDash val="solid"/>
            <a:miter lim="800000"/>
          </a:ln>
          <a:effectLst>
            <a:glow rad="25400">
              <a:schemeClr val="bg1"/>
            </a:glow>
          </a:effectLst>
        </p:spPr>
        <p:txBody>
          <a:bodyPr lIns="0" tIns="0" rIns="0" bIns="0" rtlCol="0" anchor="ctr">
            <a:normAutofit fontScale="625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1435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Rounded Rectangle 207">
            <a:extLst>
              <a:ext uri="{FF2B5EF4-FFF2-40B4-BE49-F238E27FC236}">
                <a16:creationId xmlns:a16="http://schemas.microsoft.com/office/drawing/2014/main" id="{BF798216-DF03-4B22-7C8B-A6DDB2057180}"/>
              </a:ext>
            </a:extLst>
          </p:cNvPr>
          <p:cNvSpPr/>
          <p:nvPr/>
        </p:nvSpPr>
        <p:spPr>
          <a:xfrm>
            <a:off x="2106301" y="3165076"/>
            <a:ext cx="9974919" cy="3353324"/>
          </a:xfrm>
          <a:prstGeom prst="roundRect">
            <a:avLst>
              <a:gd name="adj" fmla="val 12187"/>
            </a:avLst>
          </a:prstGeom>
          <a:solidFill>
            <a:schemeClr val="accent5">
              <a:lumMod val="20000"/>
              <a:lumOff val="80000"/>
              <a:alpha val="43000"/>
            </a:schemeClr>
          </a:solidFill>
          <a:ln w="31750" cap="flat" cmpd="sng" algn="ctr">
            <a:solidFill>
              <a:schemeClr val="accent1"/>
            </a:solidFill>
            <a:prstDash val="sysDot"/>
            <a:miter lim="800000"/>
          </a:ln>
          <a:effectLst/>
        </p:spPr>
        <p:txBody>
          <a:bodyPr lIns="91440" tIns="91440" rIns="91440" bIns="9144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schemeClr val="accent1">
                    <a:lumMod val="75000"/>
                  </a:schemeClr>
                </a:solidFill>
                <a:latin typeface="Calibri" panose="020F0502020204030204"/>
              </a:rPr>
              <a:t>loop() code</a:t>
            </a:r>
            <a:endParaRPr kumimoji="0" lang="en-US" sz="1200" b="1" i="0" u="none" strike="noStrike" kern="0" cap="none" spc="0" normalizeH="0" baseline="0" noProof="0" dirty="0">
              <a:ln>
                <a:noFill/>
              </a:ln>
              <a:solidFill>
                <a:schemeClr val="accent1">
                  <a:lumMod val="75000"/>
                </a:schemeClr>
              </a:solidFill>
              <a:effectLst/>
              <a:uLnTx/>
              <a:uFillTx/>
              <a:latin typeface="Calibri" panose="020F0502020204030204"/>
              <a:ea typeface="+mn-ea"/>
              <a:cs typeface="+mn-cs"/>
            </a:endParaRPr>
          </a:p>
        </p:txBody>
      </p:sp>
      <p:sp>
        <p:nvSpPr>
          <p:cNvPr id="116" name="Rounded Rectangle 115">
            <a:extLst>
              <a:ext uri="{FF2B5EF4-FFF2-40B4-BE49-F238E27FC236}">
                <a16:creationId xmlns:a16="http://schemas.microsoft.com/office/drawing/2014/main" id="{88607CDC-0089-9406-ACCD-245862233D22}"/>
              </a:ext>
            </a:extLst>
          </p:cNvPr>
          <p:cNvSpPr/>
          <p:nvPr/>
        </p:nvSpPr>
        <p:spPr>
          <a:xfrm>
            <a:off x="7773780" y="160766"/>
            <a:ext cx="4307441" cy="2895649"/>
          </a:xfrm>
          <a:prstGeom prst="roundRect">
            <a:avLst>
              <a:gd name="adj" fmla="val 4067"/>
            </a:avLst>
          </a:prstGeom>
          <a:solidFill>
            <a:schemeClr val="accent5">
              <a:lumMod val="20000"/>
              <a:lumOff val="80000"/>
              <a:alpha val="43000"/>
            </a:schemeClr>
          </a:solidFill>
          <a:ln w="31750" cap="flat" cmpd="sng" algn="ctr">
            <a:solidFill>
              <a:schemeClr val="accent1"/>
            </a:solidFill>
            <a:prstDash val="sysDot"/>
            <a:miter lim="800000"/>
          </a:ln>
          <a:effectLst/>
        </p:spPr>
        <p:txBody>
          <a:bodyPr lIns="91440" tIns="91440" rIns="91440" bIns="9144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schemeClr val="accent1">
                    <a:lumMod val="75000"/>
                  </a:schemeClr>
                </a:solidFill>
                <a:latin typeface="Calibri" panose="020F0502020204030204"/>
              </a:rPr>
              <a:t>setup() code</a:t>
            </a:r>
            <a:endParaRPr kumimoji="0" lang="en-US" sz="1200" b="1" i="0" u="none" strike="noStrike" kern="0" cap="none" spc="0" normalizeH="0" baseline="0" noProof="0" dirty="0">
              <a:ln>
                <a:noFill/>
              </a:ln>
              <a:solidFill>
                <a:schemeClr val="accent1">
                  <a:lumMod val="75000"/>
                </a:schemeClr>
              </a:solidFill>
              <a:effectLst/>
              <a:uLnTx/>
              <a:uFillTx/>
              <a:latin typeface="Calibri" panose="020F0502020204030204"/>
              <a:ea typeface="+mn-ea"/>
              <a:cs typeface="+mn-cs"/>
            </a:endParaRPr>
          </a:p>
        </p:txBody>
      </p:sp>
      <p:sp>
        <p:nvSpPr>
          <p:cNvPr id="7" name="Rounded Rectangle 6">
            <a:extLst>
              <a:ext uri="{FF2B5EF4-FFF2-40B4-BE49-F238E27FC236}">
                <a16:creationId xmlns:a16="http://schemas.microsoft.com/office/drawing/2014/main" id="{71F92639-9B30-16D3-6889-975A83D8573B}"/>
              </a:ext>
            </a:extLst>
          </p:cNvPr>
          <p:cNvSpPr/>
          <p:nvPr/>
        </p:nvSpPr>
        <p:spPr>
          <a:xfrm>
            <a:off x="389745" y="1358579"/>
            <a:ext cx="7348032" cy="1636287"/>
          </a:xfrm>
          <a:prstGeom prst="roundRect">
            <a:avLst>
              <a:gd name="adj" fmla="val 12187"/>
            </a:avLst>
          </a:prstGeom>
          <a:solidFill>
            <a:schemeClr val="accent5">
              <a:lumMod val="20000"/>
              <a:lumOff val="80000"/>
              <a:alpha val="43000"/>
            </a:schemeClr>
          </a:solidFill>
          <a:ln w="31750" cap="flat" cmpd="sng" algn="ctr">
            <a:solidFill>
              <a:schemeClr val="accent1"/>
            </a:solidFill>
            <a:prstDash val="sysDot"/>
            <a:miter lim="800000"/>
          </a:ln>
          <a:effectLst/>
        </p:spPr>
        <p:txBody>
          <a:bodyPr lIns="91440" tIns="91440" rIns="91440" bIns="91440" rtlCol="0" anchor="t"/>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kern="0" dirty="0">
                <a:solidFill>
                  <a:schemeClr val="accent1">
                    <a:lumMod val="75000"/>
                  </a:schemeClr>
                </a:solidFill>
                <a:latin typeface="Calibri" panose="020F0502020204030204"/>
              </a:rPr>
              <a:t>global code</a:t>
            </a:r>
            <a:endParaRPr kumimoji="0" lang="en-US" sz="1200" b="1" i="0" u="none" strike="noStrike" kern="0" cap="none" spc="0" normalizeH="0" baseline="0" noProof="0" dirty="0">
              <a:ln>
                <a:noFill/>
              </a:ln>
              <a:solidFill>
                <a:schemeClr val="accent1">
                  <a:lumMod val="75000"/>
                </a:schemeClr>
              </a:solidFill>
              <a:effectLst/>
              <a:uLnTx/>
              <a:uFillTx/>
              <a:latin typeface="Calibri" panose="020F0502020204030204"/>
              <a:ea typeface="+mn-ea"/>
              <a:cs typeface="+mn-cs"/>
            </a:endParaRPr>
          </a:p>
        </p:txBody>
      </p:sp>
      <p:sp>
        <p:nvSpPr>
          <p:cNvPr id="71" name="Rounded Rectangle 70">
            <a:extLst>
              <a:ext uri="{FF2B5EF4-FFF2-40B4-BE49-F238E27FC236}">
                <a16:creationId xmlns:a16="http://schemas.microsoft.com/office/drawing/2014/main" id="{EE22782B-8CE7-074C-124B-4D8E7EDB3A57}"/>
              </a:ext>
            </a:extLst>
          </p:cNvPr>
          <p:cNvSpPr/>
          <p:nvPr/>
        </p:nvSpPr>
        <p:spPr>
          <a:xfrm>
            <a:off x="727273" y="1993662"/>
            <a:ext cx="1296637" cy="491379"/>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tIns="0" bIns="0" rtlCol="0" anchor="ctr">
            <a:normAutofit fontScale="925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Start</a:t>
            </a:r>
          </a:p>
        </p:txBody>
      </p:sp>
      <p:cxnSp>
        <p:nvCxnSpPr>
          <p:cNvPr id="72" name="Elbow Connector 71">
            <a:extLst>
              <a:ext uri="{FF2B5EF4-FFF2-40B4-BE49-F238E27FC236}">
                <a16:creationId xmlns:a16="http://schemas.microsoft.com/office/drawing/2014/main" id="{A3A826E8-08BA-6CB7-8E12-AEF9A1E75BBB}"/>
              </a:ext>
            </a:extLst>
          </p:cNvPr>
          <p:cNvCxnSpPr>
            <a:cxnSpLocks/>
            <a:stCxn id="71" idx="3"/>
            <a:endCxn id="19" idx="5"/>
          </p:cNvCxnSpPr>
          <p:nvPr/>
        </p:nvCxnSpPr>
        <p:spPr>
          <a:xfrm>
            <a:off x="2023910" y="2239352"/>
            <a:ext cx="645614" cy="6012"/>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73" name="Rectangle 72">
            <a:extLst>
              <a:ext uri="{FF2B5EF4-FFF2-40B4-BE49-F238E27FC236}">
                <a16:creationId xmlns:a16="http://schemas.microsoft.com/office/drawing/2014/main" id="{44DE6462-C60A-FAEB-43F8-3DCAB550634C}"/>
              </a:ext>
            </a:extLst>
          </p:cNvPr>
          <p:cNvSpPr/>
          <p:nvPr/>
        </p:nvSpPr>
        <p:spPr>
          <a:xfrm>
            <a:off x="5110663" y="1756313"/>
            <a:ext cx="2350615" cy="966075"/>
          </a:xfrm>
          <a:prstGeom prst="rect">
            <a:avLst/>
          </a:prstGeom>
          <a:solidFill>
            <a:srgbClr val="FFE0D3"/>
          </a:solidFill>
          <a:ln w="38100" cap="flat" cmpd="sng" algn="ctr">
            <a:solidFill>
              <a:srgbClr val="FF6100"/>
            </a:solidFill>
            <a:prstDash val="solid"/>
            <a:miter lim="800000"/>
          </a:ln>
          <a:effectLst/>
        </p:spPr>
        <p:txBody>
          <a:bodyPr rtlCol="0" anchor="ctr">
            <a:normAutofit/>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Create sensor object</a:t>
            </a:r>
          </a:p>
          <a:p>
            <a:pPr marL="114300" marR="0" lvl="0" indent="-11430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schemeClr val="accent2">
                    <a:lumMod val="75000"/>
                  </a:schemeClr>
                </a:solidFill>
                <a:effectLst/>
                <a:uLnTx/>
                <a:uFillTx/>
                <a:latin typeface="Calibri" panose="020F0502020204030204"/>
                <a:ea typeface="+mn-ea"/>
                <a:cs typeface="+mn-cs"/>
              </a:rPr>
              <a:t>• Set delay </a:t>
            </a:r>
            <a:r>
              <a:rPr lang="en-US" sz="1600" b="1" kern="0" dirty="0">
                <a:solidFill>
                  <a:schemeClr val="accent2">
                    <a:lumMod val="75000"/>
                  </a:schemeClr>
                </a:solidFill>
                <a:latin typeface="Calibri" panose="020F0502020204030204"/>
              </a:rPr>
              <a:t>interval</a:t>
            </a:r>
          </a:p>
          <a:p>
            <a:pPr marL="114300" marR="0" lvl="0" indent="-114300" algn="ctr" defTabSz="91440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schemeClr val="accent2">
                    <a:lumMod val="75000"/>
                  </a:schemeClr>
                </a:solidFill>
                <a:effectLst/>
                <a:uLnTx/>
                <a:uFillTx/>
                <a:latin typeface="Calibri" panose="020F0502020204030204"/>
                <a:ea typeface="+mn-ea"/>
                <a:cs typeface="+mn-cs"/>
              </a:rPr>
              <a:t>• Set pixel array size</a:t>
            </a:r>
          </a:p>
        </p:txBody>
      </p:sp>
      <p:sp>
        <p:nvSpPr>
          <p:cNvPr id="77" name="Rectangle 76">
            <a:extLst>
              <a:ext uri="{FF2B5EF4-FFF2-40B4-BE49-F238E27FC236}">
                <a16:creationId xmlns:a16="http://schemas.microsoft.com/office/drawing/2014/main" id="{D4FEC316-17B0-EEB5-551A-5AC8D7A8BAB5}"/>
              </a:ext>
            </a:extLst>
          </p:cNvPr>
          <p:cNvSpPr/>
          <p:nvPr/>
        </p:nvSpPr>
        <p:spPr>
          <a:xfrm>
            <a:off x="8610400" y="3908634"/>
            <a:ext cx="2950598" cy="461240"/>
          </a:xfrm>
          <a:prstGeom prst="rect">
            <a:avLst/>
          </a:prstGeom>
          <a:solidFill>
            <a:srgbClr val="FFE0D3"/>
          </a:solidFill>
          <a:ln w="38100" cap="flat" cmpd="sng" algn="ctr">
            <a:solidFill>
              <a:srgbClr val="FF6100"/>
            </a:solidFill>
            <a:prstDash val="solid"/>
            <a:miter lim="800000"/>
          </a:ln>
          <a:effectLst/>
        </p:spPr>
        <p:txBody>
          <a:bodyPr rtlCol="0" anchor="ctr">
            <a:normAutofit/>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Read sensor, store in vector</a:t>
            </a:r>
          </a:p>
        </p:txBody>
      </p:sp>
      <p:cxnSp>
        <p:nvCxnSpPr>
          <p:cNvPr id="78" name="Elbow Connector 77">
            <a:extLst>
              <a:ext uri="{FF2B5EF4-FFF2-40B4-BE49-F238E27FC236}">
                <a16:creationId xmlns:a16="http://schemas.microsoft.com/office/drawing/2014/main" id="{1F837BC3-31EE-2F62-F290-30B18EAA2F19}"/>
              </a:ext>
            </a:extLst>
          </p:cNvPr>
          <p:cNvCxnSpPr>
            <a:cxnSpLocks/>
            <a:stCxn id="59" idx="0"/>
            <a:endCxn id="96" idx="2"/>
          </p:cNvCxnSpPr>
          <p:nvPr/>
        </p:nvCxnSpPr>
        <p:spPr>
          <a:xfrm flipV="1">
            <a:off x="10782117" y="1352478"/>
            <a:ext cx="169013" cy="886872"/>
          </a:xfrm>
          <a:prstGeom prst="bentConnector3">
            <a:avLst>
              <a:gd name="adj1" fmla="val 332250"/>
            </a:avLst>
          </a:prstGeom>
          <a:noFill/>
          <a:ln w="66675" cap="flat" cmpd="sng" algn="ctr">
            <a:solidFill>
              <a:srgbClr val="FFB100"/>
            </a:solidFill>
            <a:prstDash val="solid"/>
            <a:miter lim="800000"/>
            <a:tailEnd type="triangle"/>
          </a:ln>
          <a:effectLst>
            <a:glow rad="12700">
              <a:srgbClr val="FFFFFF"/>
            </a:glow>
          </a:effectLst>
        </p:spPr>
      </p:cxnSp>
      <p:cxnSp>
        <p:nvCxnSpPr>
          <p:cNvPr id="80" name="Elbow Connector 79">
            <a:extLst>
              <a:ext uri="{FF2B5EF4-FFF2-40B4-BE49-F238E27FC236}">
                <a16:creationId xmlns:a16="http://schemas.microsoft.com/office/drawing/2014/main" id="{4BD7E702-D001-9CC9-3644-ADC3ACF36336}"/>
              </a:ext>
            </a:extLst>
          </p:cNvPr>
          <p:cNvCxnSpPr>
            <a:cxnSpLocks/>
            <a:stCxn id="73" idx="3"/>
            <a:endCxn id="59" idx="3"/>
          </p:cNvCxnSpPr>
          <p:nvPr/>
        </p:nvCxnSpPr>
        <p:spPr>
          <a:xfrm flipV="1">
            <a:off x="7461278" y="2239350"/>
            <a:ext cx="614027" cy="1"/>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cxnSp>
        <p:nvCxnSpPr>
          <p:cNvPr id="81" name="Elbow Connector 80">
            <a:extLst>
              <a:ext uri="{FF2B5EF4-FFF2-40B4-BE49-F238E27FC236}">
                <a16:creationId xmlns:a16="http://schemas.microsoft.com/office/drawing/2014/main" id="{348D5A49-AC3B-F753-1397-0661355A1DD7}"/>
              </a:ext>
            </a:extLst>
          </p:cNvPr>
          <p:cNvCxnSpPr>
            <a:cxnSpLocks/>
            <a:stCxn id="59" idx="1"/>
            <a:endCxn id="77" idx="0"/>
          </p:cNvCxnSpPr>
          <p:nvPr/>
        </p:nvCxnSpPr>
        <p:spPr>
          <a:xfrm rot="5400000">
            <a:off x="9681805" y="2973398"/>
            <a:ext cx="1339131" cy="531341"/>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82" name="Rectangle 81">
            <a:extLst>
              <a:ext uri="{FF2B5EF4-FFF2-40B4-BE49-F238E27FC236}">
                <a16:creationId xmlns:a16="http://schemas.microsoft.com/office/drawing/2014/main" id="{88BA2C49-B74A-B071-8242-BE01FD910F04}"/>
              </a:ext>
            </a:extLst>
          </p:cNvPr>
          <p:cNvSpPr/>
          <p:nvPr/>
        </p:nvSpPr>
        <p:spPr>
          <a:xfrm>
            <a:off x="2629403" y="4742688"/>
            <a:ext cx="2484709" cy="539244"/>
          </a:xfrm>
          <a:prstGeom prst="rect">
            <a:avLst/>
          </a:prstGeom>
          <a:solidFill>
            <a:srgbClr val="FFE0D3"/>
          </a:solidFill>
          <a:ln w="38100" cap="flat" cmpd="sng" algn="ctr">
            <a:solidFill>
              <a:srgbClr val="FF6100"/>
            </a:solidFill>
            <a:prstDash val="solid"/>
            <a:miter lim="800000"/>
          </a:ln>
          <a:effectLst/>
        </p:spPr>
        <p:txBody>
          <a:bodyPr rtlCol="0" anchor="ctr">
            <a:normAutofit/>
          </a:bodyPr>
          <a:lstStyle/>
          <a:p>
            <a:pPr marL="12700" marR="0" lvl="0" indent="-127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Get rotation direction</a:t>
            </a:r>
          </a:p>
        </p:txBody>
      </p:sp>
      <p:cxnSp>
        <p:nvCxnSpPr>
          <p:cNvPr id="83" name="Elbow Connector 82">
            <a:extLst>
              <a:ext uri="{FF2B5EF4-FFF2-40B4-BE49-F238E27FC236}">
                <a16:creationId xmlns:a16="http://schemas.microsoft.com/office/drawing/2014/main" id="{2E00A007-73E8-3CF8-C002-163F239EE2C4}"/>
              </a:ext>
            </a:extLst>
          </p:cNvPr>
          <p:cNvCxnSpPr>
            <a:cxnSpLocks/>
            <a:stCxn id="9" idx="1"/>
            <a:endCxn id="45" idx="3"/>
          </p:cNvCxnSpPr>
          <p:nvPr/>
        </p:nvCxnSpPr>
        <p:spPr>
          <a:xfrm rot="5400000">
            <a:off x="10671314" y="5440250"/>
            <a:ext cx="838744" cy="513611"/>
          </a:xfrm>
          <a:prstGeom prst="bentConnector2">
            <a:avLst/>
          </a:prstGeom>
          <a:noFill/>
          <a:ln w="66675" cap="flat" cmpd="sng" algn="ctr">
            <a:solidFill>
              <a:srgbClr val="FFB100"/>
            </a:solidFill>
            <a:prstDash val="solid"/>
            <a:miter lim="800000"/>
            <a:tailEnd type="triangle"/>
          </a:ln>
          <a:effectLst>
            <a:glow rad="12700">
              <a:srgbClr val="FFFFFF"/>
            </a:glow>
          </a:effectLst>
        </p:spPr>
      </p:cxnSp>
      <p:sp>
        <p:nvSpPr>
          <p:cNvPr id="87" name="Rounded Rectangle 86">
            <a:extLst>
              <a:ext uri="{FF2B5EF4-FFF2-40B4-BE49-F238E27FC236}">
                <a16:creationId xmlns:a16="http://schemas.microsoft.com/office/drawing/2014/main" id="{9378CDCF-01A9-A6F2-07E0-1CDAB0FB3DEF}"/>
              </a:ext>
            </a:extLst>
          </p:cNvPr>
          <p:cNvSpPr/>
          <p:nvPr/>
        </p:nvSpPr>
        <p:spPr>
          <a:xfrm>
            <a:off x="3223438" y="3467660"/>
            <a:ext cx="1296637" cy="491379"/>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tIns="0" bIns="0" rtlCol="0" anchor="ctr">
            <a:normAutofit fontScale="550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Loop again</a:t>
            </a:r>
          </a:p>
        </p:txBody>
      </p:sp>
      <p:cxnSp>
        <p:nvCxnSpPr>
          <p:cNvPr id="89" name="Elbow Connector 88">
            <a:extLst>
              <a:ext uri="{FF2B5EF4-FFF2-40B4-BE49-F238E27FC236}">
                <a16:creationId xmlns:a16="http://schemas.microsoft.com/office/drawing/2014/main" id="{3A3527F2-6E2C-092F-5716-093497A6456F}"/>
              </a:ext>
            </a:extLst>
          </p:cNvPr>
          <p:cNvCxnSpPr>
            <a:cxnSpLocks/>
            <a:stCxn id="82" idx="0"/>
            <a:endCxn id="87" idx="2"/>
          </p:cNvCxnSpPr>
          <p:nvPr/>
        </p:nvCxnSpPr>
        <p:spPr>
          <a:xfrm rot="16200000" flipV="1">
            <a:off x="3479934" y="4350863"/>
            <a:ext cx="783649" cy="1"/>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6" name="TextBox 5">
            <a:extLst>
              <a:ext uri="{FF2B5EF4-FFF2-40B4-BE49-F238E27FC236}">
                <a16:creationId xmlns:a16="http://schemas.microsoft.com/office/drawing/2014/main" id="{2F41E9F1-357A-A9E1-C6AD-C58BF335BFD3}"/>
              </a:ext>
            </a:extLst>
          </p:cNvPr>
          <p:cNvSpPr txBox="1"/>
          <p:nvPr/>
        </p:nvSpPr>
        <p:spPr>
          <a:xfrm>
            <a:off x="67786" y="52266"/>
            <a:ext cx="6374918" cy="984885"/>
          </a:xfrm>
          <a:prstGeom prst="rect">
            <a:avLst/>
          </a:prstGeom>
          <a:noFill/>
          <a:effectLst/>
        </p:spPr>
        <p:txBody>
          <a:bodyPr wrap="square" rtlCol="0" anchor="ctr">
            <a:spAutoFit/>
          </a:bodyPr>
          <a:lstStyle/>
          <a:p>
            <a:r>
              <a:rPr lang="en-US" sz="4000" b="1" dirty="0">
                <a:solidFill>
                  <a:srgbClr val="4472C4">
                    <a:lumMod val="75000"/>
                  </a:srgbClr>
                </a:solidFill>
                <a:effectLst>
                  <a:glow rad="25400">
                    <a:srgbClr val="FFFFFF">
                      <a:alpha val="80000"/>
                    </a:srgbClr>
                  </a:glow>
                </a:effectLst>
                <a:latin typeface="Calibri" panose="020F0502020204030204"/>
              </a:rPr>
              <a:t>Position-Tracking Subsystem</a:t>
            </a:r>
          </a:p>
          <a:p>
            <a:r>
              <a:rPr lang="en-US" b="1" dirty="0">
                <a:solidFill>
                  <a:srgbClr val="4472C4">
                    <a:lumMod val="75000"/>
                  </a:srgbClr>
                </a:solidFill>
                <a:effectLst>
                  <a:glow rad="25400">
                    <a:srgbClr val="FFFFFF">
                      <a:alpha val="80000"/>
                    </a:srgbClr>
                  </a:glow>
                </a:effectLst>
                <a:latin typeface="Calibri" panose="020F0502020204030204"/>
              </a:rPr>
              <a:t>Pseudocode Flowchart (LEVEL 1)</a:t>
            </a:r>
          </a:p>
        </p:txBody>
      </p:sp>
      <p:sp>
        <p:nvSpPr>
          <p:cNvPr id="19" name="Parallelogram 18">
            <a:extLst>
              <a:ext uri="{FF2B5EF4-FFF2-40B4-BE49-F238E27FC236}">
                <a16:creationId xmlns:a16="http://schemas.microsoft.com/office/drawing/2014/main" id="{C42EA842-3CF1-C521-8980-839D056B1729}"/>
              </a:ext>
            </a:extLst>
          </p:cNvPr>
          <p:cNvSpPr/>
          <p:nvPr/>
        </p:nvSpPr>
        <p:spPr>
          <a:xfrm>
            <a:off x="2447731" y="1768339"/>
            <a:ext cx="2350429" cy="954050"/>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fontScale="92500"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sng"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Include libraries</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a:solidFill>
                  <a:schemeClr val="tx1">
                    <a:lumMod val="65000"/>
                    <a:lumOff val="35000"/>
                  </a:schemeClr>
                </a:solidFill>
                <a:latin typeface="Calibri" panose="020F0502020204030204"/>
              </a:rPr>
              <a:t>&lt;</a:t>
            </a:r>
            <a:r>
              <a:rPr lang="en-US" sz="1200" kern="0" dirty="0" err="1">
                <a:solidFill>
                  <a:schemeClr val="tx1">
                    <a:lumMod val="65000"/>
                    <a:lumOff val="35000"/>
                  </a:schemeClr>
                </a:solidFill>
                <a:latin typeface="Calibri" panose="020F0502020204030204"/>
              </a:rPr>
              <a:t>Wire.h</a:t>
            </a:r>
            <a:r>
              <a:rPr lang="en-US" sz="1200" kern="0" dirty="0">
                <a:solidFill>
                  <a:schemeClr val="tx1">
                    <a:lumMod val="65000"/>
                    <a:lumOff val="35000"/>
                  </a:schemeClr>
                </a:solidFill>
                <a:latin typeface="Calibri" panose="020F0502020204030204"/>
              </a:rPr>
              <a:t>&gt;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&lt;Adafruit_AMG88xx.h&gt;</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a:solidFill>
                  <a:schemeClr val="tx1">
                    <a:lumMod val="65000"/>
                    <a:lumOff val="35000"/>
                  </a:schemeClr>
                </a:solidFill>
                <a:latin typeface="Calibri" panose="020F0502020204030204"/>
              </a:rPr>
              <a:t>&lt;</a:t>
            </a:r>
            <a:r>
              <a:rPr lang="en-US" sz="1200" kern="0" dirty="0" err="1">
                <a:solidFill>
                  <a:schemeClr val="tx1">
                    <a:lumMod val="65000"/>
                    <a:lumOff val="35000"/>
                  </a:schemeClr>
                </a:solidFill>
                <a:latin typeface="Calibri" panose="020F0502020204030204"/>
              </a:rPr>
              <a:t>Filter.h</a:t>
            </a:r>
            <a:r>
              <a:rPr lang="en-US" sz="1200" kern="0" dirty="0">
                <a:solidFill>
                  <a:schemeClr val="tx1">
                    <a:lumMod val="65000"/>
                    <a:lumOff val="35000"/>
                  </a:schemeClr>
                </a:solidFill>
                <a:latin typeface="Calibri" panose="020F0502020204030204"/>
              </a:rPr>
              <a:t>&gt;</a:t>
            </a:r>
            <a:endParaRPr kumimoji="0" lang="en-US" sz="1200"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endParaRPr>
          </a:p>
        </p:txBody>
      </p:sp>
      <p:cxnSp>
        <p:nvCxnSpPr>
          <p:cNvPr id="44" name="Elbow Connector 43">
            <a:extLst>
              <a:ext uri="{FF2B5EF4-FFF2-40B4-BE49-F238E27FC236}">
                <a16:creationId xmlns:a16="http://schemas.microsoft.com/office/drawing/2014/main" id="{E79D08B3-2012-1F6E-3B8A-CC99FCC1D087}"/>
              </a:ext>
            </a:extLst>
          </p:cNvPr>
          <p:cNvCxnSpPr>
            <a:cxnSpLocks/>
            <a:stCxn id="19" idx="2"/>
            <a:endCxn id="73" idx="1"/>
          </p:cNvCxnSpPr>
          <p:nvPr/>
        </p:nvCxnSpPr>
        <p:spPr>
          <a:xfrm flipV="1">
            <a:off x="4576367" y="2239351"/>
            <a:ext cx="534296" cy="6013"/>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59" name="Hexagon 58">
            <a:extLst>
              <a:ext uri="{FF2B5EF4-FFF2-40B4-BE49-F238E27FC236}">
                <a16:creationId xmlns:a16="http://schemas.microsoft.com/office/drawing/2014/main" id="{E36DD138-5F57-5F21-79CB-7FCA22A944A8}"/>
              </a:ext>
            </a:extLst>
          </p:cNvPr>
          <p:cNvSpPr/>
          <p:nvPr/>
        </p:nvSpPr>
        <p:spPr>
          <a:xfrm>
            <a:off x="8075305" y="1909196"/>
            <a:ext cx="2706812" cy="660307"/>
          </a:xfrm>
          <a:prstGeom prst="hexagon">
            <a:avLst/>
          </a:prstGeom>
          <a:solidFill>
            <a:srgbClr val="FFF0D5"/>
          </a:solidFill>
          <a:ln w="38100" cap="flat" cmpd="sng" algn="ctr">
            <a:solidFill>
              <a:srgbClr val="FFB100"/>
            </a:solidFill>
            <a:prstDash val="solid"/>
            <a:miter lim="800000"/>
          </a:ln>
          <a:effectLst>
            <a:glow rad="25400">
              <a:schemeClr val="bg1"/>
            </a:glow>
          </a:effectLst>
        </p:spPr>
        <p:txBody>
          <a:bodyPr lIns="0" tIns="0" rIns="0" bIns="0" rtlCol="0" anchor="ctr">
            <a:normAutofit/>
          </a:bodyPr>
          <a:lstStyle/>
          <a:p>
            <a:pPr algn="ctr">
              <a:defRPr/>
            </a:pPr>
            <a:r>
              <a:rPr lang="en-US" sz="2000" b="1" kern="0" dirty="0">
                <a:solidFill>
                  <a:schemeClr val="accent4">
                    <a:lumMod val="50000"/>
                  </a:schemeClr>
                </a:solidFill>
                <a:latin typeface="Calibri" panose="020F0502020204030204"/>
              </a:rPr>
              <a:t>Check sensor status</a:t>
            </a:r>
            <a:endParaRPr kumimoji="0" lang="en-US" sz="2000" b="1" i="0" u="none" strike="noStrike" kern="0" cap="none" spc="0" normalizeH="0" baseline="0" noProof="0" dirty="0">
              <a:ln>
                <a:noFill/>
              </a:ln>
              <a:solidFill>
                <a:schemeClr val="accent4">
                  <a:lumMod val="50000"/>
                </a:schemeClr>
              </a:solidFill>
              <a:effectLst/>
              <a:uLnTx/>
              <a:uFillTx/>
              <a:latin typeface="Calibri" panose="020F0502020204030204"/>
              <a:ea typeface="+mn-ea"/>
              <a:cs typeface="+mn-cs"/>
            </a:endParaRPr>
          </a:p>
        </p:txBody>
      </p:sp>
      <p:sp>
        <p:nvSpPr>
          <p:cNvPr id="62" name="Rounded Rectangle 61">
            <a:extLst>
              <a:ext uri="{FF2B5EF4-FFF2-40B4-BE49-F238E27FC236}">
                <a16:creationId xmlns:a16="http://schemas.microsoft.com/office/drawing/2014/main" id="{3F652557-DE68-5E1A-1648-70B00B60E436}"/>
              </a:ext>
            </a:extLst>
          </p:cNvPr>
          <p:cNvSpPr/>
          <p:nvPr/>
        </p:nvSpPr>
        <p:spPr>
          <a:xfrm rot="10800000" flipH="1" flipV="1">
            <a:off x="11063793" y="1679503"/>
            <a:ext cx="650752" cy="748201"/>
          </a:xfrm>
          <a:prstGeom prst="roundRect">
            <a:avLst/>
          </a:prstGeom>
          <a:solidFill>
            <a:srgbClr val="E4DFFD"/>
          </a:solidFill>
          <a:ln w="25400" cap="flat" cmpd="sng" algn="ctr">
            <a:solidFill>
              <a:srgbClr val="795CF1"/>
            </a:solidFill>
            <a:prstDash val="sysDot"/>
            <a:miter lim="800000"/>
          </a:ln>
          <a:effectLst>
            <a:glow rad="25400">
              <a:schemeClr val="bg1"/>
            </a:glow>
          </a:effectLst>
        </p:spPr>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795CF1"/>
                </a:solidFill>
                <a:latin typeface="Calibri" panose="020F0502020204030204"/>
              </a:rPr>
              <a:t>status == false</a:t>
            </a:r>
            <a:endParaRPr kumimoji="0" lang="en-US" sz="1200" b="1" i="0" u="none" strike="noStrike" kern="0" cap="none" spc="0" normalizeH="0" baseline="0" noProof="0" dirty="0">
              <a:ln>
                <a:noFill/>
              </a:ln>
              <a:solidFill>
                <a:srgbClr val="795CF1"/>
              </a:solidFill>
              <a:effectLst/>
              <a:uLnTx/>
              <a:uFillTx/>
              <a:latin typeface="Calibri" panose="020F0502020204030204"/>
              <a:ea typeface="+mn-ea"/>
              <a:cs typeface="+mn-cs"/>
            </a:endParaRPr>
          </a:p>
        </p:txBody>
      </p:sp>
      <p:cxnSp>
        <p:nvCxnSpPr>
          <p:cNvPr id="69" name="Elbow Connector 68">
            <a:extLst>
              <a:ext uri="{FF2B5EF4-FFF2-40B4-BE49-F238E27FC236}">
                <a16:creationId xmlns:a16="http://schemas.microsoft.com/office/drawing/2014/main" id="{F543090F-F338-94DB-3837-C258A7CEBF8D}"/>
              </a:ext>
            </a:extLst>
          </p:cNvPr>
          <p:cNvCxnSpPr>
            <a:cxnSpLocks/>
            <a:stCxn id="96" idx="5"/>
            <a:endCxn id="59" idx="4"/>
          </p:cNvCxnSpPr>
          <p:nvPr/>
        </p:nvCxnSpPr>
        <p:spPr>
          <a:xfrm rot="10800000" flipV="1">
            <a:off x="8240383" y="1352478"/>
            <a:ext cx="688183" cy="556718"/>
          </a:xfrm>
          <a:prstGeom prst="bentConnector2">
            <a:avLst/>
          </a:prstGeom>
          <a:noFill/>
          <a:ln w="66675" cap="flat" cmpd="sng" algn="ctr">
            <a:solidFill>
              <a:srgbClr val="FFB100"/>
            </a:solidFill>
            <a:prstDash val="solid"/>
            <a:miter lim="800000"/>
            <a:tailEnd type="triangle"/>
          </a:ln>
          <a:effectLst>
            <a:glow rad="12700">
              <a:srgbClr val="FFFFFF"/>
            </a:glow>
          </a:effectLst>
        </p:spPr>
      </p:cxnSp>
      <p:sp>
        <p:nvSpPr>
          <p:cNvPr id="96" name="Parallelogram 95">
            <a:extLst>
              <a:ext uri="{FF2B5EF4-FFF2-40B4-BE49-F238E27FC236}">
                <a16:creationId xmlns:a16="http://schemas.microsoft.com/office/drawing/2014/main" id="{4B959982-8635-8971-2939-4FD6301442B6}"/>
              </a:ext>
            </a:extLst>
          </p:cNvPr>
          <p:cNvSpPr/>
          <p:nvPr/>
        </p:nvSpPr>
        <p:spPr>
          <a:xfrm>
            <a:off x="8764633" y="999897"/>
            <a:ext cx="2350429" cy="705161"/>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sng"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Print to Screen:</a:t>
            </a:r>
          </a:p>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a:solidFill>
                  <a:schemeClr val="tx1">
                    <a:lumMod val="65000"/>
                    <a:lumOff val="35000"/>
                  </a:schemeClr>
                </a:solidFill>
                <a:latin typeface="Calibri" panose="020F0502020204030204"/>
              </a:rPr>
              <a:t>“Sensor not working; check wiring!”</a:t>
            </a:r>
            <a:endParaRPr kumimoji="0" lang="en-US" sz="1200"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endParaRPr>
          </a:p>
        </p:txBody>
      </p:sp>
      <p:sp>
        <p:nvSpPr>
          <p:cNvPr id="98" name="Pentagon 97">
            <a:extLst>
              <a:ext uri="{FF2B5EF4-FFF2-40B4-BE49-F238E27FC236}">
                <a16:creationId xmlns:a16="http://schemas.microsoft.com/office/drawing/2014/main" id="{3C004608-4492-684E-B2E4-8D84A9D88C1B}"/>
              </a:ext>
            </a:extLst>
          </p:cNvPr>
          <p:cNvSpPr/>
          <p:nvPr/>
        </p:nvSpPr>
        <p:spPr>
          <a:xfrm rot="5400000">
            <a:off x="10859441" y="-80354"/>
            <a:ext cx="520604" cy="1360498"/>
          </a:xfrm>
          <a:prstGeom prst="homePlate">
            <a:avLst>
              <a:gd name="adj" fmla="val 43656"/>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dirty="0">
                <a:solidFill>
                  <a:srgbClr val="DC267E"/>
                </a:solidFill>
                <a:latin typeface="Calibri" panose="020F0502020204030204"/>
              </a:rPr>
              <a:t>( to user I/O )</a:t>
            </a:r>
            <a:endParaRPr kumimoji="0" lang="en-US" sz="14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cxnSp>
        <p:nvCxnSpPr>
          <p:cNvPr id="101" name="Elbow Connector 100">
            <a:extLst>
              <a:ext uri="{FF2B5EF4-FFF2-40B4-BE49-F238E27FC236}">
                <a16:creationId xmlns:a16="http://schemas.microsoft.com/office/drawing/2014/main" id="{7EEB985A-A167-60D2-58F7-1FB05002792E}"/>
              </a:ext>
            </a:extLst>
          </p:cNvPr>
          <p:cNvCxnSpPr>
            <a:cxnSpLocks/>
            <a:stCxn id="96" idx="1"/>
            <a:endCxn id="98" idx="2"/>
          </p:cNvCxnSpPr>
          <p:nvPr/>
        </p:nvCxnSpPr>
        <p:spPr>
          <a:xfrm rot="5400000" flipH="1" flipV="1">
            <a:off x="10014818" y="575221"/>
            <a:ext cx="513639" cy="335714"/>
          </a:xfrm>
          <a:prstGeom prst="bentConnector2">
            <a:avLst/>
          </a:prstGeom>
          <a:noFill/>
          <a:ln w="66675" cap="flat" cmpd="sng" algn="ctr">
            <a:solidFill>
              <a:srgbClr val="DC267E"/>
            </a:solidFill>
            <a:prstDash val="solid"/>
            <a:miter lim="800000"/>
            <a:tailEnd type="triangle"/>
          </a:ln>
          <a:effectLst>
            <a:glow rad="12700">
              <a:srgbClr val="FFFFFF"/>
            </a:glow>
          </a:effectLst>
        </p:spPr>
      </p:cxnSp>
      <p:sp>
        <p:nvSpPr>
          <p:cNvPr id="122" name="Pentagon 121">
            <a:extLst>
              <a:ext uri="{FF2B5EF4-FFF2-40B4-BE49-F238E27FC236}">
                <a16:creationId xmlns:a16="http://schemas.microsoft.com/office/drawing/2014/main" id="{4AAB8920-0F30-BE90-BE0B-0C9BAA013487}"/>
              </a:ext>
            </a:extLst>
          </p:cNvPr>
          <p:cNvSpPr/>
          <p:nvPr/>
        </p:nvSpPr>
        <p:spPr>
          <a:xfrm rot="5400000">
            <a:off x="6655569" y="4100830"/>
            <a:ext cx="748201" cy="2153522"/>
          </a:xfrm>
          <a:prstGeom prst="homePlate">
            <a:avLst>
              <a:gd name="adj" fmla="val 44083"/>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000" b="1" kern="0" dirty="0" err="1">
                <a:solidFill>
                  <a:srgbClr val="DC267E"/>
                </a:solidFill>
                <a:latin typeface="Calibri" panose="020F0502020204030204"/>
              </a:rPr>
              <a:t>fxn</a:t>
            </a:r>
            <a:r>
              <a:rPr lang="en-US" sz="2000" b="1" kern="0" dirty="0">
                <a:solidFill>
                  <a:srgbClr val="DC267E"/>
                </a:solidFill>
                <a:latin typeface="Calibri" panose="020F0502020204030204"/>
              </a:rPr>
              <a:t>: </a:t>
            </a:r>
            <a:r>
              <a:rPr lang="en-US" sz="2000" b="1" kern="0" dirty="0" err="1">
                <a:solidFill>
                  <a:srgbClr val="DC267E"/>
                </a:solidFill>
                <a:latin typeface="Calibri" panose="020F0502020204030204"/>
              </a:rPr>
              <a:t>getPosition</a:t>
            </a:r>
            <a:r>
              <a:rPr lang="en-US" sz="2000" b="1" kern="0" dirty="0">
                <a:solidFill>
                  <a:srgbClr val="DC267E"/>
                </a:solidFill>
                <a:latin typeface="Calibri" panose="020F0502020204030204"/>
              </a:rPr>
              <a:t>()</a:t>
            </a:r>
            <a:endParaRPr kumimoji="0" lang="en-US" sz="20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cxnSp>
        <p:nvCxnSpPr>
          <p:cNvPr id="127" name="Elbow Connector 126">
            <a:extLst>
              <a:ext uri="{FF2B5EF4-FFF2-40B4-BE49-F238E27FC236}">
                <a16:creationId xmlns:a16="http://schemas.microsoft.com/office/drawing/2014/main" id="{7F0DADE5-BEFD-AD2F-D258-6C3976D19730}"/>
              </a:ext>
            </a:extLst>
          </p:cNvPr>
          <p:cNvCxnSpPr>
            <a:cxnSpLocks/>
            <a:stCxn id="9" idx="3"/>
            <a:endCxn id="122" idx="0"/>
          </p:cNvCxnSpPr>
          <p:nvPr/>
        </p:nvCxnSpPr>
        <p:spPr>
          <a:xfrm rot="10800000" flipV="1">
            <a:off x="8106431" y="5012309"/>
            <a:ext cx="1116132" cy="367"/>
          </a:xfrm>
          <a:prstGeom prst="bentConnector3">
            <a:avLst>
              <a:gd name="adj1" fmla="val 50000"/>
            </a:avLst>
          </a:prstGeom>
          <a:noFill/>
          <a:ln w="66675" cap="flat" cmpd="sng" algn="ctr">
            <a:solidFill>
              <a:srgbClr val="DC267E"/>
            </a:solidFill>
            <a:prstDash val="solid"/>
            <a:miter lim="800000"/>
            <a:tailEnd type="triangle"/>
          </a:ln>
          <a:effectLst>
            <a:glow rad="12700">
              <a:srgbClr val="FFFFFF"/>
            </a:glow>
          </a:effectLst>
        </p:spPr>
      </p:cxnSp>
      <p:cxnSp>
        <p:nvCxnSpPr>
          <p:cNvPr id="139" name="Elbow Connector 138">
            <a:extLst>
              <a:ext uri="{FF2B5EF4-FFF2-40B4-BE49-F238E27FC236}">
                <a16:creationId xmlns:a16="http://schemas.microsoft.com/office/drawing/2014/main" id="{44BFDED6-FD53-F159-9A5E-BFA596F76F03}"/>
              </a:ext>
            </a:extLst>
          </p:cNvPr>
          <p:cNvCxnSpPr>
            <a:cxnSpLocks/>
            <a:stCxn id="122" idx="2"/>
            <a:endCxn id="82" idx="3"/>
          </p:cNvCxnSpPr>
          <p:nvPr/>
        </p:nvCxnSpPr>
        <p:spPr>
          <a:xfrm rot="10800000">
            <a:off x="5114113" y="5012311"/>
            <a:ext cx="838797" cy="367"/>
          </a:xfrm>
          <a:prstGeom prst="bentConnector3">
            <a:avLst>
              <a:gd name="adj1" fmla="val 50000"/>
            </a:avLst>
          </a:prstGeom>
          <a:noFill/>
          <a:ln w="66675" cap="flat" cmpd="sng" algn="ctr">
            <a:solidFill>
              <a:srgbClr val="DC267E"/>
            </a:solidFill>
            <a:prstDash val="solid"/>
            <a:miter lim="800000"/>
            <a:tailEnd type="triangle"/>
          </a:ln>
          <a:effectLst>
            <a:glow rad="12700">
              <a:srgbClr val="FFFFFF"/>
            </a:glow>
          </a:effectLst>
        </p:spPr>
      </p:cxnSp>
      <p:cxnSp>
        <p:nvCxnSpPr>
          <p:cNvPr id="170" name="Elbow Connector 169">
            <a:extLst>
              <a:ext uri="{FF2B5EF4-FFF2-40B4-BE49-F238E27FC236}">
                <a16:creationId xmlns:a16="http://schemas.microsoft.com/office/drawing/2014/main" id="{634B65D9-04D4-C6C6-C8CD-DAE71D5200EC}"/>
              </a:ext>
            </a:extLst>
          </p:cNvPr>
          <p:cNvCxnSpPr>
            <a:cxnSpLocks/>
            <a:stCxn id="87" idx="0"/>
            <a:endCxn id="77" idx="0"/>
          </p:cNvCxnSpPr>
          <p:nvPr/>
        </p:nvCxnSpPr>
        <p:spPr>
          <a:xfrm rot="16200000" flipH="1">
            <a:off x="6758241" y="581176"/>
            <a:ext cx="440974" cy="6213942"/>
          </a:xfrm>
          <a:prstGeom prst="bentConnector3">
            <a:avLst>
              <a:gd name="adj1" fmla="val -51840"/>
            </a:avLst>
          </a:prstGeom>
          <a:noFill/>
          <a:ln w="66675" cap="flat" cmpd="sng" algn="ctr">
            <a:solidFill>
              <a:srgbClr val="795CF1"/>
            </a:solidFill>
            <a:prstDash val="solid"/>
            <a:miter lim="800000"/>
            <a:tailEnd type="triangle"/>
          </a:ln>
          <a:effectLst>
            <a:glow rad="12700">
              <a:srgbClr val="FFFFFF"/>
            </a:glow>
          </a:effectLst>
        </p:spPr>
      </p:cxnSp>
      <p:sp>
        <p:nvSpPr>
          <p:cNvPr id="2" name="Oval 1">
            <a:extLst>
              <a:ext uri="{FF2B5EF4-FFF2-40B4-BE49-F238E27FC236}">
                <a16:creationId xmlns:a16="http://schemas.microsoft.com/office/drawing/2014/main" id="{0F4781C8-474E-7160-C632-97AFBE9EF841}"/>
              </a:ext>
            </a:extLst>
          </p:cNvPr>
          <p:cNvSpPr/>
          <p:nvPr/>
        </p:nvSpPr>
        <p:spPr>
          <a:xfrm flipH="1">
            <a:off x="9989814" y="3158711"/>
            <a:ext cx="191770" cy="191374"/>
          </a:xfrm>
          <a:prstGeom prst="ellipse">
            <a:avLst/>
          </a:prstGeom>
          <a:solidFill>
            <a:srgbClr val="E4DFFD"/>
          </a:solidFill>
          <a:ln w="38100" cap="flat" cmpd="sng" algn="ctr">
            <a:solidFill>
              <a:srgbClr val="795CF1"/>
            </a:solidFill>
            <a:prstDash val="solid"/>
            <a:miter lim="800000"/>
          </a:ln>
          <a:effectLst>
            <a:glow rad="25400">
              <a:schemeClr val="bg1"/>
            </a:glow>
          </a:effectLst>
        </p:spPr>
        <p:txBody>
          <a:bodyPr lIns="0" tIns="0" rIns="0" bIns="0" rtlCol="0" anchor="ctr">
            <a:normAutofit fontScale="625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3" name="Rounded Rectangle 2">
            <a:extLst>
              <a:ext uri="{FF2B5EF4-FFF2-40B4-BE49-F238E27FC236}">
                <a16:creationId xmlns:a16="http://schemas.microsoft.com/office/drawing/2014/main" id="{767ECE16-49A3-D9ED-6294-4E2A66359C61}"/>
              </a:ext>
            </a:extLst>
          </p:cNvPr>
          <p:cNvSpPr/>
          <p:nvPr/>
        </p:nvSpPr>
        <p:spPr>
          <a:xfrm rot="10800000" flipH="1" flipV="1">
            <a:off x="10698785" y="2660569"/>
            <a:ext cx="1210895" cy="297109"/>
          </a:xfrm>
          <a:prstGeom prst="roundRect">
            <a:avLst/>
          </a:prstGeom>
          <a:solidFill>
            <a:srgbClr val="E4DFFD"/>
          </a:solidFill>
          <a:ln w="25400" cap="flat" cmpd="sng" algn="ctr">
            <a:solidFill>
              <a:srgbClr val="795CF1"/>
            </a:solidFill>
            <a:prstDash val="sysDot"/>
            <a:miter lim="800000"/>
          </a:ln>
          <a:effectLst>
            <a:glow rad="25400">
              <a:schemeClr val="bg1"/>
            </a:glow>
          </a:effectLst>
        </p:spPr>
        <p:txBody>
          <a:bodyPr rtlCol="0" anchor="ctr">
            <a:normAutofit lnSpcReduction="1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795CF1"/>
                </a:solidFill>
                <a:latin typeface="Calibri" panose="020F0502020204030204"/>
              </a:rPr>
              <a:t>status == true</a:t>
            </a:r>
            <a:endParaRPr kumimoji="0" lang="en-US" sz="1200" b="1" i="0" u="none" strike="noStrike" kern="0" cap="none" spc="0" normalizeH="0" baseline="0" noProof="0" dirty="0">
              <a:ln>
                <a:noFill/>
              </a:ln>
              <a:solidFill>
                <a:srgbClr val="795CF1"/>
              </a:solidFill>
              <a:effectLst/>
              <a:uLnTx/>
              <a:uFillTx/>
              <a:latin typeface="Calibri" panose="020F0502020204030204"/>
              <a:ea typeface="+mn-ea"/>
              <a:cs typeface="+mn-cs"/>
            </a:endParaRPr>
          </a:p>
        </p:txBody>
      </p:sp>
      <p:sp>
        <p:nvSpPr>
          <p:cNvPr id="9" name="Hexagon 8">
            <a:extLst>
              <a:ext uri="{FF2B5EF4-FFF2-40B4-BE49-F238E27FC236}">
                <a16:creationId xmlns:a16="http://schemas.microsoft.com/office/drawing/2014/main" id="{4F9072BC-33C2-8C7A-9CC9-FB1DD281BB77}"/>
              </a:ext>
            </a:extLst>
          </p:cNvPr>
          <p:cNvSpPr/>
          <p:nvPr/>
        </p:nvSpPr>
        <p:spPr>
          <a:xfrm>
            <a:off x="9222563" y="4746937"/>
            <a:ext cx="2257614" cy="530746"/>
          </a:xfrm>
          <a:prstGeom prst="hexagon">
            <a:avLst/>
          </a:prstGeom>
          <a:solidFill>
            <a:srgbClr val="FFF0D5"/>
          </a:solidFill>
          <a:ln w="38100" cap="flat" cmpd="sng" algn="ctr">
            <a:solidFill>
              <a:srgbClr val="FFB100"/>
            </a:solidFill>
            <a:prstDash val="solid"/>
            <a:miter lim="800000"/>
          </a:ln>
          <a:effectLst>
            <a:glow rad="25400">
              <a:schemeClr val="bg1"/>
            </a:glow>
          </a:effectLst>
        </p:spPr>
        <p:txBody>
          <a:bodyPr lIns="0" tIns="0" rIns="0" bIns="0" rtlCol="0" anchor="ctr">
            <a:normAutofit/>
          </a:bodyPr>
          <a:lstStyle/>
          <a:p>
            <a:pPr algn="ctr">
              <a:defRPr/>
            </a:pPr>
            <a:r>
              <a:rPr lang="en-US" sz="1600" b="1" kern="0" dirty="0">
                <a:solidFill>
                  <a:schemeClr val="accent4">
                    <a:lumMod val="50000"/>
                  </a:schemeClr>
                </a:solidFill>
                <a:latin typeface="Calibri" panose="020F0502020204030204"/>
              </a:rPr>
              <a:t>For each data point,</a:t>
            </a:r>
            <a:endParaRPr kumimoji="0" lang="en-US" sz="1600" b="1" i="0" u="none" strike="noStrike" kern="0" cap="none" spc="0" normalizeH="0" baseline="0" noProof="0" dirty="0">
              <a:ln>
                <a:noFill/>
              </a:ln>
              <a:solidFill>
                <a:schemeClr val="accent4">
                  <a:lumMod val="50000"/>
                </a:schemeClr>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BC11A911-636B-6B44-6B5E-1E6A1AE9034D}"/>
              </a:ext>
            </a:extLst>
          </p:cNvPr>
          <p:cNvSpPr/>
          <p:nvPr/>
        </p:nvSpPr>
        <p:spPr>
          <a:xfrm>
            <a:off x="8771621" y="5885807"/>
            <a:ext cx="2062259" cy="461240"/>
          </a:xfrm>
          <a:prstGeom prst="rect">
            <a:avLst/>
          </a:prstGeom>
          <a:solidFill>
            <a:srgbClr val="FFE0D3"/>
          </a:solidFill>
          <a:ln w="38100" cap="flat" cmpd="sng" algn="ctr">
            <a:solidFill>
              <a:srgbClr val="FF6100"/>
            </a:solidFill>
            <a:prstDash val="solid"/>
            <a:miter lim="800000"/>
          </a:ln>
          <a:effectLst/>
        </p:spPr>
        <p:txBody>
          <a:bodyPr rtlCol="0" anchor="ctr">
            <a:normAutofit fontScale="85000" lnSpcReduction="20000"/>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apply exponential filter</a:t>
            </a:r>
          </a:p>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 save new value</a:t>
            </a:r>
          </a:p>
        </p:txBody>
      </p:sp>
      <p:cxnSp>
        <p:nvCxnSpPr>
          <p:cNvPr id="49" name="Elbow Connector 48">
            <a:extLst>
              <a:ext uri="{FF2B5EF4-FFF2-40B4-BE49-F238E27FC236}">
                <a16:creationId xmlns:a16="http://schemas.microsoft.com/office/drawing/2014/main" id="{2579BF68-2ECE-1B60-764B-B1756DC10908}"/>
              </a:ext>
            </a:extLst>
          </p:cNvPr>
          <p:cNvCxnSpPr>
            <a:cxnSpLocks/>
            <a:stCxn id="45" idx="0"/>
            <a:endCxn id="9" idx="2"/>
          </p:cNvCxnSpPr>
          <p:nvPr/>
        </p:nvCxnSpPr>
        <p:spPr>
          <a:xfrm rot="16200000" flipV="1">
            <a:off x="9274939" y="5357994"/>
            <a:ext cx="608124" cy="447501"/>
          </a:xfrm>
          <a:prstGeom prst="bentConnector3">
            <a:avLst>
              <a:gd name="adj1" fmla="val 50000"/>
            </a:avLst>
          </a:prstGeom>
          <a:noFill/>
          <a:ln w="66675" cap="flat" cmpd="sng" algn="ctr">
            <a:solidFill>
              <a:srgbClr val="FFB100"/>
            </a:solidFill>
            <a:prstDash val="solid"/>
            <a:miter lim="800000"/>
            <a:tailEnd type="triangle"/>
          </a:ln>
          <a:effectLst>
            <a:glow rad="12700">
              <a:srgbClr val="FFFFFF"/>
            </a:glow>
          </a:effectLst>
        </p:spPr>
      </p:cxnSp>
      <p:cxnSp>
        <p:nvCxnSpPr>
          <p:cNvPr id="56" name="Elbow Connector 55">
            <a:extLst>
              <a:ext uri="{FF2B5EF4-FFF2-40B4-BE49-F238E27FC236}">
                <a16:creationId xmlns:a16="http://schemas.microsoft.com/office/drawing/2014/main" id="{D75BF08B-2BBF-32C0-BA33-18B3E6CCB6D8}"/>
              </a:ext>
            </a:extLst>
          </p:cNvPr>
          <p:cNvCxnSpPr>
            <a:cxnSpLocks/>
            <a:stCxn id="77" idx="3"/>
            <a:endCxn id="9" idx="0"/>
          </p:cNvCxnSpPr>
          <p:nvPr/>
        </p:nvCxnSpPr>
        <p:spPr>
          <a:xfrm flipH="1">
            <a:off x="11480177" y="4139254"/>
            <a:ext cx="80821" cy="873056"/>
          </a:xfrm>
          <a:prstGeom prst="bentConnector3">
            <a:avLst>
              <a:gd name="adj1" fmla="val -282847"/>
            </a:avLst>
          </a:prstGeom>
          <a:noFill/>
          <a:ln w="66675" cap="flat" cmpd="sng" algn="ctr">
            <a:solidFill>
              <a:srgbClr val="795CF1"/>
            </a:solidFill>
            <a:prstDash val="solid"/>
            <a:miter lim="800000"/>
            <a:tailEnd type="triangle"/>
          </a:ln>
          <a:effectLst>
            <a:glow rad="12700">
              <a:srgbClr val="FFFFFF"/>
            </a:glow>
          </a:effectLst>
        </p:spPr>
      </p:cxnSp>
    </p:spTree>
    <p:extLst>
      <p:ext uri="{BB962C8B-B14F-4D97-AF65-F5344CB8AC3E}">
        <p14:creationId xmlns:p14="http://schemas.microsoft.com/office/powerpoint/2010/main" val="2625019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ounded Rectangle 70">
            <a:extLst>
              <a:ext uri="{FF2B5EF4-FFF2-40B4-BE49-F238E27FC236}">
                <a16:creationId xmlns:a16="http://schemas.microsoft.com/office/drawing/2014/main" id="{EE22782B-8CE7-074C-124B-4D8E7EDB3A57}"/>
              </a:ext>
            </a:extLst>
          </p:cNvPr>
          <p:cNvSpPr/>
          <p:nvPr/>
        </p:nvSpPr>
        <p:spPr>
          <a:xfrm>
            <a:off x="2539579" y="3034906"/>
            <a:ext cx="1296637" cy="491379"/>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tIns="0" bIns="0" rtlCol="0" anchor="ctr">
            <a:normAutofit fontScale="925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Start</a:t>
            </a:r>
          </a:p>
        </p:txBody>
      </p:sp>
      <p:cxnSp>
        <p:nvCxnSpPr>
          <p:cNvPr id="72" name="Elbow Connector 71">
            <a:extLst>
              <a:ext uri="{FF2B5EF4-FFF2-40B4-BE49-F238E27FC236}">
                <a16:creationId xmlns:a16="http://schemas.microsoft.com/office/drawing/2014/main" id="{A3A826E8-08BA-6CB7-8E12-AEF9A1E75BBB}"/>
              </a:ext>
            </a:extLst>
          </p:cNvPr>
          <p:cNvCxnSpPr>
            <a:cxnSpLocks/>
            <a:stCxn id="19" idx="2"/>
            <a:endCxn id="71" idx="1"/>
          </p:cNvCxnSpPr>
          <p:nvPr/>
        </p:nvCxnSpPr>
        <p:spPr>
          <a:xfrm>
            <a:off x="2042779" y="3275326"/>
            <a:ext cx="496800" cy="5270"/>
          </a:xfrm>
          <a:prstGeom prst="bentConnector3">
            <a:avLst>
              <a:gd name="adj1" fmla="val 50000"/>
            </a:avLst>
          </a:prstGeom>
          <a:noFill/>
          <a:ln w="66675" cap="flat" cmpd="sng" algn="ctr">
            <a:solidFill>
              <a:schemeClr val="tx1">
                <a:lumMod val="75000"/>
                <a:lumOff val="25000"/>
              </a:schemeClr>
            </a:solidFill>
            <a:prstDash val="solid"/>
            <a:miter lim="800000"/>
            <a:tailEnd type="triangle"/>
          </a:ln>
          <a:effectLst>
            <a:glow rad="12700">
              <a:srgbClr val="FFFFFF"/>
            </a:glow>
          </a:effectLst>
        </p:spPr>
      </p:cxnSp>
      <p:cxnSp>
        <p:nvCxnSpPr>
          <p:cNvPr id="78" name="Elbow Connector 77">
            <a:extLst>
              <a:ext uri="{FF2B5EF4-FFF2-40B4-BE49-F238E27FC236}">
                <a16:creationId xmlns:a16="http://schemas.microsoft.com/office/drawing/2014/main" id="{1F837BC3-31EE-2F62-F290-30B18EAA2F19}"/>
              </a:ext>
            </a:extLst>
          </p:cNvPr>
          <p:cNvCxnSpPr>
            <a:cxnSpLocks/>
            <a:stCxn id="59" idx="0"/>
            <a:endCxn id="38" idx="1"/>
          </p:cNvCxnSpPr>
          <p:nvPr/>
        </p:nvCxnSpPr>
        <p:spPr>
          <a:xfrm>
            <a:off x="6695234" y="3281364"/>
            <a:ext cx="406000" cy="4249"/>
          </a:xfrm>
          <a:prstGeom prst="bentConnector3">
            <a:avLst>
              <a:gd name="adj1" fmla="val 50000"/>
            </a:avLst>
          </a:prstGeom>
          <a:noFill/>
          <a:ln w="66675" cap="flat" cmpd="sng" algn="ctr">
            <a:solidFill>
              <a:srgbClr val="FFB100"/>
            </a:solidFill>
            <a:prstDash val="solid"/>
            <a:miter lim="800000"/>
            <a:tailEnd type="triangle"/>
          </a:ln>
          <a:effectLst>
            <a:glow rad="12700">
              <a:srgbClr val="FFFFFF"/>
            </a:glow>
          </a:effectLst>
        </p:spPr>
      </p:cxnSp>
      <p:cxnSp>
        <p:nvCxnSpPr>
          <p:cNvPr id="80" name="Elbow Connector 79">
            <a:extLst>
              <a:ext uri="{FF2B5EF4-FFF2-40B4-BE49-F238E27FC236}">
                <a16:creationId xmlns:a16="http://schemas.microsoft.com/office/drawing/2014/main" id="{4BD7E702-D001-9CC9-3644-ADC3ACF36336}"/>
              </a:ext>
            </a:extLst>
          </p:cNvPr>
          <p:cNvCxnSpPr>
            <a:cxnSpLocks/>
            <a:stCxn id="71" idx="3"/>
            <a:endCxn id="59" idx="3"/>
          </p:cNvCxnSpPr>
          <p:nvPr/>
        </p:nvCxnSpPr>
        <p:spPr>
          <a:xfrm>
            <a:off x="3836216" y="3280596"/>
            <a:ext cx="732386" cy="768"/>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87" name="Rounded Rectangle 86">
            <a:extLst>
              <a:ext uri="{FF2B5EF4-FFF2-40B4-BE49-F238E27FC236}">
                <a16:creationId xmlns:a16="http://schemas.microsoft.com/office/drawing/2014/main" id="{9378CDCF-01A9-A6F2-07E0-1CDAB0FB3DEF}"/>
              </a:ext>
            </a:extLst>
          </p:cNvPr>
          <p:cNvSpPr/>
          <p:nvPr/>
        </p:nvSpPr>
        <p:spPr>
          <a:xfrm>
            <a:off x="3090285" y="4587045"/>
            <a:ext cx="1296637" cy="491379"/>
          </a:xfrm>
          <a:prstGeom prst="roundRect">
            <a:avLst>
              <a:gd name="adj" fmla="val 50000"/>
            </a:avLst>
          </a:prstGeom>
          <a:solidFill>
            <a:srgbClr val="E3F0D9"/>
          </a:solidFill>
          <a:ln w="38100" cap="flat" cmpd="sng" algn="ctr">
            <a:solidFill>
              <a:srgbClr val="648E48"/>
            </a:solidFill>
            <a:prstDash val="solid"/>
            <a:miter lim="800000"/>
          </a:ln>
          <a:effectLst>
            <a:glow rad="25400">
              <a:srgbClr val="70AD47">
                <a:lumMod val="20000"/>
                <a:lumOff val="80000"/>
              </a:srgbClr>
            </a:glow>
          </a:effectLst>
        </p:spPr>
        <p:txBody>
          <a:bodyPr tIns="0" bIns="0" rtlCol="0" anchor="ctr">
            <a:normAutofit fontScale="92500" lnSpcReduction="20000"/>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End</a:t>
            </a:r>
          </a:p>
        </p:txBody>
      </p:sp>
      <p:sp>
        <p:nvSpPr>
          <p:cNvPr id="88" name="Pentagon 87">
            <a:extLst>
              <a:ext uri="{FF2B5EF4-FFF2-40B4-BE49-F238E27FC236}">
                <a16:creationId xmlns:a16="http://schemas.microsoft.com/office/drawing/2014/main" id="{396F7161-6D9D-5A44-166B-B30D37F29CEE}"/>
              </a:ext>
            </a:extLst>
          </p:cNvPr>
          <p:cNvSpPr/>
          <p:nvPr/>
        </p:nvSpPr>
        <p:spPr>
          <a:xfrm rot="5400000">
            <a:off x="1476262" y="1498443"/>
            <a:ext cx="511531" cy="1624225"/>
          </a:xfrm>
          <a:prstGeom prst="homePlate">
            <a:avLst>
              <a:gd name="adj" fmla="val 39060"/>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kern="0" dirty="0">
                <a:solidFill>
                  <a:srgbClr val="DC267E"/>
                </a:solidFill>
                <a:latin typeface="Calibri" panose="020F0502020204030204"/>
              </a:rPr>
              <a:t>from loop()</a:t>
            </a:r>
            <a:endParaRPr kumimoji="0" lang="en-US" sz="16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cxnSp>
        <p:nvCxnSpPr>
          <p:cNvPr id="89" name="Elbow Connector 88">
            <a:extLst>
              <a:ext uri="{FF2B5EF4-FFF2-40B4-BE49-F238E27FC236}">
                <a16:creationId xmlns:a16="http://schemas.microsoft.com/office/drawing/2014/main" id="{3A3527F2-6E2C-092F-5716-093497A6456F}"/>
              </a:ext>
            </a:extLst>
          </p:cNvPr>
          <p:cNvCxnSpPr>
            <a:cxnSpLocks/>
            <a:stCxn id="70" idx="3"/>
            <a:endCxn id="130" idx="2"/>
          </p:cNvCxnSpPr>
          <p:nvPr/>
        </p:nvCxnSpPr>
        <p:spPr>
          <a:xfrm>
            <a:off x="7746698" y="4833785"/>
            <a:ext cx="537035" cy="162"/>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6" name="TextBox 5">
            <a:extLst>
              <a:ext uri="{FF2B5EF4-FFF2-40B4-BE49-F238E27FC236}">
                <a16:creationId xmlns:a16="http://schemas.microsoft.com/office/drawing/2014/main" id="{2F41E9F1-357A-A9E1-C6AD-C58BF335BFD3}"/>
              </a:ext>
            </a:extLst>
          </p:cNvPr>
          <p:cNvSpPr txBox="1"/>
          <p:nvPr/>
        </p:nvSpPr>
        <p:spPr>
          <a:xfrm>
            <a:off x="137787" y="95493"/>
            <a:ext cx="6374918" cy="984885"/>
          </a:xfrm>
          <a:prstGeom prst="rect">
            <a:avLst/>
          </a:prstGeom>
          <a:noFill/>
          <a:effectLst/>
        </p:spPr>
        <p:txBody>
          <a:bodyPr wrap="square" rtlCol="0" anchor="ctr">
            <a:spAutoFit/>
          </a:bodyPr>
          <a:lstStyle/>
          <a:p>
            <a:r>
              <a:rPr lang="en-US" sz="4000" b="1" dirty="0" err="1">
                <a:solidFill>
                  <a:srgbClr val="4472C4">
                    <a:lumMod val="75000"/>
                  </a:srgbClr>
                </a:solidFill>
                <a:effectLst>
                  <a:glow rad="25400">
                    <a:srgbClr val="FFFFFF">
                      <a:alpha val="80000"/>
                    </a:srgbClr>
                  </a:glow>
                </a:effectLst>
                <a:latin typeface="Calibri" panose="020F0502020204030204"/>
              </a:rPr>
              <a:t>getPosition</a:t>
            </a:r>
            <a:r>
              <a:rPr lang="en-US" sz="4000" b="1" dirty="0">
                <a:solidFill>
                  <a:srgbClr val="4472C4">
                    <a:lumMod val="75000"/>
                  </a:srgbClr>
                </a:solidFill>
                <a:effectLst>
                  <a:glow rad="25400">
                    <a:srgbClr val="FFFFFF">
                      <a:alpha val="80000"/>
                    </a:srgbClr>
                  </a:glow>
                </a:effectLst>
                <a:latin typeface="Calibri" panose="020F0502020204030204"/>
              </a:rPr>
              <a:t>() function</a:t>
            </a:r>
          </a:p>
          <a:p>
            <a:r>
              <a:rPr lang="en-US" b="1" dirty="0">
                <a:solidFill>
                  <a:srgbClr val="4472C4">
                    <a:lumMod val="75000"/>
                  </a:srgbClr>
                </a:solidFill>
                <a:effectLst>
                  <a:glow rad="25400">
                    <a:srgbClr val="FFFFFF">
                      <a:alpha val="80000"/>
                    </a:srgbClr>
                  </a:glow>
                </a:effectLst>
                <a:latin typeface="Calibri" panose="020F0502020204030204"/>
              </a:rPr>
              <a:t>Position-Tracking Subsystem (part of </a:t>
            </a:r>
            <a:r>
              <a:rPr lang="en-US" b="1" u="sng" dirty="0">
                <a:solidFill>
                  <a:srgbClr val="4472C4">
                    <a:lumMod val="75000"/>
                  </a:srgbClr>
                </a:solidFill>
                <a:effectLst>
                  <a:glow rad="25400">
                    <a:srgbClr val="FFFFFF">
                      <a:alpha val="80000"/>
                    </a:srgbClr>
                  </a:glow>
                </a:effectLst>
                <a:latin typeface="Calibri" panose="020F0502020204030204"/>
              </a:rPr>
              <a:t>LEVEL 2</a:t>
            </a:r>
            <a:r>
              <a:rPr lang="en-US" b="1" dirty="0">
                <a:solidFill>
                  <a:srgbClr val="4472C4">
                    <a:lumMod val="75000"/>
                  </a:srgbClr>
                </a:solidFill>
                <a:effectLst>
                  <a:glow rad="25400">
                    <a:srgbClr val="FFFFFF">
                      <a:alpha val="80000"/>
                    </a:srgbClr>
                  </a:glow>
                </a:effectLst>
                <a:latin typeface="Calibri" panose="020F0502020204030204"/>
              </a:rPr>
              <a:t> diagram)</a:t>
            </a:r>
          </a:p>
        </p:txBody>
      </p:sp>
      <p:sp>
        <p:nvSpPr>
          <p:cNvPr id="19" name="Parallelogram 18">
            <a:extLst>
              <a:ext uri="{FF2B5EF4-FFF2-40B4-BE49-F238E27FC236}">
                <a16:creationId xmlns:a16="http://schemas.microsoft.com/office/drawing/2014/main" id="{C42EA842-3CF1-C521-8980-839D056B1729}"/>
              </a:ext>
            </a:extLst>
          </p:cNvPr>
          <p:cNvSpPr/>
          <p:nvPr/>
        </p:nvSpPr>
        <p:spPr>
          <a:xfrm>
            <a:off x="394196" y="3019560"/>
            <a:ext cx="1767501" cy="511531"/>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rPr>
              <a:t>Array of pixel data</a:t>
            </a:r>
          </a:p>
        </p:txBody>
      </p:sp>
      <p:sp>
        <p:nvSpPr>
          <p:cNvPr id="59" name="Hexagon 58">
            <a:extLst>
              <a:ext uri="{FF2B5EF4-FFF2-40B4-BE49-F238E27FC236}">
                <a16:creationId xmlns:a16="http://schemas.microsoft.com/office/drawing/2014/main" id="{E36DD138-5F57-5F21-79CB-7FCA22A944A8}"/>
              </a:ext>
            </a:extLst>
          </p:cNvPr>
          <p:cNvSpPr/>
          <p:nvPr/>
        </p:nvSpPr>
        <p:spPr>
          <a:xfrm>
            <a:off x="4568602" y="2951210"/>
            <a:ext cx="2126632" cy="660307"/>
          </a:xfrm>
          <a:prstGeom prst="hexagon">
            <a:avLst/>
          </a:prstGeom>
          <a:solidFill>
            <a:srgbClr val="FFF0D5"/>
          </a:solidFill>
          <a:ln w="38100" cap="flat" cmpd="sng" algn="ctr">
            <a:solidFill>
              <a:srgbClr val="FFB100"/>
            </a:solidFill>
            <a:prstDash val="solid"/>
            <a:miter lim="800000"/>
          </a:ln>
          <a:effectLst>
            <a:glow rad="25400">
              <a:schemeClr val="bg1"/>
            </a:glow>
          </a:effectLst>
        </p:spPr>
        <p:txBody>
          <a:bodyPr lIns="0" tIns="0" rIns="0" bIns="0" rtlCol="0" anchor="ctr">
            <a:normAutofit fontScale="92500" lnSpcReduction="20000"/>
          </a:bodyPr>
          <a:lstStyle/>
          <a:p>
            <a:pPr algn="ctr">
              <a:defRPr/>
            </a:pPr>
            <a:r>
              <a:rPr lang="en-US" sz="2000" b="1" kern="0" dirty="0">
                <a:solidFill>
                  <a:schemeClr val="accent4">
                    <a:lumMod val="50000"/>
                  </a:schemeClr>
                </a:solidFill>
                <a:latin typeface="Calibri" panose="020F0502020204030204"/>
              </a:rPr>
              <a:t>For each column in array</a:t>
            </a:r>
            <a:endParaRPr kumimoji="0" lang="en-US" sz="2000" b="1" i="0" u="none" strike="noStrike" kern="0" cap="none" spc="0" normalizeH="0" baseline="0" noProof="0" dirty="0">
              <a:ln>
                <a:noFill/>
              </a:ln>
              <a:solidFill>
                <a:schemeClr val="accent4">
                  <a:lumMod val="50000"/>
                </a:schemeClr>
              </a:solidFill>
              <a:effectLst/>
              <a:uLnTx/>
              <a:uFillTx/>
              <a:latin typeface="Calibri" panose="020F0502020204030204"/>
              <a:ea typeface="+mn-ea"/>
              <a:cs typeface="+mn-cs"/>
            </a:endParaRPr>
          </a:p>
        </p:txBody>
      </p:sp>
      <p:sp>
        <p:nvSpPr>
          <p:cNvPr id="98" name="Pentagon 97">
            <a:extLst>
              <a:ext uri="{FF2B5EF4-FFF2-40B4-BE49-F238E27FC236}">
                <a16:creationId xmlns:a16="http://schemas.microsoft.com/office/drawing/2014/main" id="{3C004608-4492-684E-B2E4-8D84A9D88C1B}"/>
              </a:ext>
            </a:extLst>
          </p:cNvPr>
          <p:cNvSpPr/>
          <p:nvPr/>
        </p:nvSpPr>
        <p:spPr>
          <a:xfrm rot="5400000">
            <a:off x="10933710" y="3096735"/>
            <a:ext cx="520604" cy="1360498"/>
          </a:xfrm>
          <a:prstGeom prst="homePlate">
            <a:avLst>
              <a:gd name="adj" fmla="val 43656"/>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dirty="0">
                <a:solidFill>
                  <a:srgbClr val="DC267E"/>
                </a:solidFill>
                <a:latin typeface="Calibri" panose="020F0502020204030204"/>
              </a:rPr>
              <a:t>( to servo )</a:t>
            </a:r>
            <a:endParaRPr kumimoji="0" lang="en-US" sz="14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cxnSp>
        <p:nvCxnSpPr>
          <p:cNvPr id="101" name="Elbow Connector 100">
            <a:extLst>
              <a:ext uri="{FF2B5EF4-FFF2-40B4-BE49-F238E27FC236}">
                <a16:creationId xmlns:a16="http://schemas.microsoft.com/office/drawing/2014/main" id="{7EEB985A-A167-60D2-58F7-1FB05002792E}"/>
              </a:ext>
            </a:extLst>
          </p:cNvPr>
          <p:cNvCxnSpPr>
            <a:cxnSpLocks/>
            <a:stCxn id="107" idx="1"/>
            <a:endCxn id="98" idx="3"/>
          </p:cNvCxnSpPr>
          <p:nvPr/>
        </p:nvCxnSpPr>
        <p:spPr>
          <a:xfrm rot="5400000" flipH="1" flipV="1">
            <a:off x="10920642" y="4308563"/>
            <a:ext cx="544646" cy="2093"/>
          </a:xfrm>
          <a:prstGeom prst="bentConnector3">
            <a:avLst>
              <a:gd name="adj1" fmla="val 50000"/>
            </a:avLst>
          </a:prstGeom>
          <a:noFill/>
          <a:ln w="66675" cap="flat" cmpd="sng" algn="ctr">
            <a:solidFill>
              <a:srgbClr val="DC267E"/>
            </a:solidFill>
            <a:prstDash val="solid"/>
            <a:miter lim="800000"/>
            <a:tailEnd type="triangle"/>
          </a:ln>
          <a:effectLst>
            <a:glow rad="12700">
              <a:srgbClr val="FFFFFF"/>
            </a:glow>
          </a:effectLst>
        </p:spPr>
      </p:cxnSp>
      <p:cxnSp>
        <p:nvCxnSpPr>
          <p:cNvPr id="2" name="Elbow Connector 1">
            <a:extLst>
              <a:ext uri="{FF2B5EF4-FFF2-40B4-BE49-F238E27FC236}">
                <a16:creationId xmlns:a16="http://schemas.microsoft.com/office/drawing/2014/main" id="{9136E365-E3BA-83D0-E845-FA96C440F9AF}"/>
              </a:ext>
            </a:extLst>
          </p:cNvPr>
          <p:cNvCxnSpPr>
            <a:cxnSpLocks/>
            <a:stCxn id="88" idx="0"/>
            <a:endCxn id="71" idx="0"/>
          </p:cNvCxnSpPr>
          <p:nvPr/>
        </p:nvCxnSpPr>
        <p:spPr>
          <a:xfrm>
            <a:off x="2544140" y="2210653"/>
            <a:ext cx="643758" cy="824253"/>
          </a:xfrm>
          <a:prstGeom prst="bentConnector2">
            <a:avLst/>
          </a:prstGeom>
          <a:noFill/>
          <a:ln w="66675" cap="flat" cmpd="sng" algn="ctr">
            <a:solidFill>
              <a:srgbClr val="DC267E"/>
            </a:solidFill>
            <a:prstDash val="solid"/>
            <a:miter lim="800000"/>
            <a:tailEnd type="triangle"/>
          </a:ln>
          <a:effectLst>
            <a:glow rad="12700">
              <a:srgbClr val="FFFFFF"/>
            </a:glow>
          </a:effectLst>
        </p:spPr>
      </p:cxnSp>
      <p:sp>
        <p:nvSpPr>
          <p:cNvPr id="38" name="Rectangle 37">
            <a:extLst>
              <a:ext uri="{FF2B5EF4-FFF2-40B4-BE49-F238E27FC236}">
                <a16:creationId xmlns:a16="http://schemas.microsoft.com/office/drawing/2014/main" id="{A153B5CD-601E-6D30-892A-40457088E01C}"/>
              </a:ext>
            </a:extLst>
          </p:cNvPr>
          <p:cNvSpPr/>
          <p:nvPr/>
        </p:nvSpPr>
        <p:spPr>
          <a:xfrm>
            <a:off x="7101234" y="3002898"/>
            <a:ext cx="2428874" cy="565429"/>
          </a:xfrm>
          <a:prstGeom prst="rect">
            <a:avLst/>
          </a:prstGeom>
          <a:solidFill>
            <a:srgbClr val="FFE0D3"/>
          </a:solidFill>
          <a:ln w="38100" cap="flat" cmpd="sng" algn="ctr">
            <a:solidFill>
              <a:srgbClr val="FF6100"/>
            </a:solidFill>
            <a:prstDash val="solid"/>
            <a:miter lim="800000"/>
          </a:ln>
          <a:effectLst/>
        </p:spPr>
        <p:txBody>
          <a:bodyPr rtlCol="0" anchor="ctr">
            <a:normAutofit/>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Check avg value of column</a:t>
            </a:r>
          </a:p>
        </p:txBody>
      </p:sp>
      <p:sp>
        <p:nvSpPr>
          <p:cNvPr id="41" name="Hexagon 40">
            <a:extLst>
              <a:ext uri="{FF2B5EF4-FFF2-40B4-BE49-F238E27FC236}">
                <a16:creationId xmlns:a16="http://schemas.microsoft.com/office/drawing/2014/main" id="{01066EBB-26C4-9D4D-C8B0-DA4BC0F3DF34}"/>
              </a:ext>
            </a:extLst>
          </p:cNvPr>
          <p:cNvSpPr/>
          <p:nvPr/>
        </p:nvSpPr>
        <p:spPr>
          <a:xfrm>
            <a:off x="7796802" y="2026200"/>
            <a:ext cx="2126632" cy="660307"/>
          </a:xfrm>
          <a:prstGeom prst="hexagon">
            <a:avLst/>
          </a:prstGeom>
          <a:solidFill>
            <a:srgbClr val="FFF0D5"/>
          </a:solidFill>
          <a:ln w="38100" cap="flat" cmpd="sng" algn="ctr">
            <a:solidFill>
              <a:srgbClr val="FFB100"/>
            </a:solidFill>
            <a:prstDash val="solid"/>
            <a:miter lim="800000"/>
          </a:ln>
          <a:effectLst>
            <a:glow rad="25400">
              <a:schemeClr val="bg1"/>
            </a:glow>
          </a:effectLst>
        </p:spPr>
        <p:txBody>
          <a:bodyPr lIns="0" tIns="0" rIns="0" bIns="0" rtlCol="0" anchor="ctr">
            <a:normAutofit fontScale="77500" lnSpcReduction="20000"/>
          </a:bodyPr>
          <a:lstStyle/>
          <a:p>
            <a:pPr algn="ctr">
              <a:defRPr/>
            </a:pPr>
            <a:r>
              <a:rPr lang="en-US" sz="2000" b="1" kern="0" dirty="0">
                <a:solidFill>
                  <a:schemeClr val="accent4">
                    <a:lumMod val="50000"/>
                  </a:schemeClr>
                </a:solidFill>
                <a:latin typeface="Calibri" panose="020F0502020204030204"/>
              </a:rPr>
              <a:t>If avg is higher than previous column</a:t>
            </a:r>
            <a:endParaRPr kumimoji="0" lang="en-US" sz="2000" b="1" i="0" u="none" strike="noStrike" kern="0" cap="none" spc="0" normalizeH="0" baseline="0" noProof="0" dirty="0">
              <a:ln>
                <a:noFill/>
              </a:ln>
              <a:solidFill>
                <a:schemeClr val="accent4">
                  <a:lumMod val="50000"/>
                </a:schemeClr>
              </a:solidFill>
              <a:effectLst/>
              <a:uLnTx/>
              <a:uFillTx/>
              <a:latin typeface="Calibri" panose="020F0502020204030204"/>
              <a:ea typeface="+mn-ea"/>
              <a:cs typeface="+mn-cs"/>
            </a:endParaRPr>
          </a:p>
        </p:txBody>
      </p:sp>
      <p:cxnSp>
        <p:nvCxnSpPr>
          <p:cNvPr id="42" name="Elbow Connector 41">
            <a:extLst>
              <a:ext uri="{FF2B5EF4-FFF2-40B4-BE49-F238E27FC236}">
                <a16:creationId xmlns:a16="http://schemas.microsoft.com/office/drawing/2014/main" id="{007AB8B3-7E7F-9EA1-1A1E-EE388439A943}"/>
              </a:ext>
            </a:extLst>
          </p:cNvPr>
          <p:cNvCxnSpPr>
            <a:cxnSpLocks/>
            <a:stCxn id="38" idx="3"/>
            <a:endCxn id="41" idx="1"/>
          </p:cNvCxnSpPr>
          <p:nvPr/>
        </p:nvCxnSpPr>
        <p:spPr>
          <a:xfrm flipV="1">
            <a:off x="9530108" y="2686507"/>
            <a:ext cx="228249" cy="599106"/>
          </a:xfrm>
          <a:prstGeom prst="bentConnector2">
            <a:avLst/>
          </a:prstGeom>
          <a:noFill/>
          <a:ln w="66675" cap="flat" cmpd="sng" algn="ctr">
            <a:solidFill>
              <a:srgbClr val="FFB100"/>
            </a:solidFill>
            <a:prstDash val="solid"/>
            <a:miter lim="800000"/>
            <a:tailEnd type="triangle"/>
          </a:ln>
          <a:effectLst>
            <a:glow rad="12700">
              <a:srgbClr val="FFFFFF"/>
            </a:glow>
          </a:effectLst>
        </p:spPr>
      </p:cxnSp>
      <p:sp>
        <p:nvSpPr>
          <p:cNvPr id="47" name="Rectangle 46">
            <a:extLst>
              <a:ext uri="{FF2B5EF4-FFF2-40B4-BE49-F238E27FC236}">
                <a16:creationId xmlns:a16="http://schemas.microsoft.com/office/drawing/2014/main" id="{4F6DC156-9E35-8BAD-4276-87330925C770}"/>
              </a:ext>
            </a:extLst>
          </p:cNvPr>
          <p:cNvSpPr/>
          <p:nvPr/>
        </p:nvSpPr>
        <p:spPr>
          <a:xfrm>
            <a:off x="5012070" y="2087064"/>
            <a:ext cx="1500635" cy="538580"/>
          </a:xfrm>
          <a:prstGeom prst="rect">
            <a:avLst/>
          </a:prstGeom>
          <a:solidFill>
            <a:srgbClr val="FFE0D3"/>
          </a:solidFill>
          <a:ln w="38100" cap="flat" cmpd="sng" algn="ctr">
            <a:solidFill>
              <a:srgbClr val="FF6100"/>
            </a:solidFill>
            <a:prstDash val="solid"/>
            <a:miter lim="800000"/>
          </a:ln>
          <a:effectLst/>
        </p:spPr>
        <p:txBody>
          <a:bodyPr rtlCol="0" anchor="ctr">
            <a:normAutofit/>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200" b="1" kern="0" dirty="0">
                <a:solidFill>
                  <a:schemeClr val="accent2">
                    <a:lumMod val="75000"/>
                  </a:schemeClr>
                </a:solidFill>
                <a:latin typeface="Calibri" panose="020F0502020204030204"/>
              </a:rPr>
              <a:t>Mark current column as highest</a:t>
            </a:r>
            <a:endParaRPr kumimoji="0" lang="en-US" sz="1200" b="1" i="0" u="none" strike="noStrike" kern="0" cap="none" spc="0" normalizeH="0" baseline="0" noProof="0" dirty="0">
              <a:ln>
                <a:noFill/>
              </a:ln>
              <a:solidFill>
                <a:schemeClr val="accent2">
                  <a:lumMod val="75000"/>
                </a:schemeClr>
              </a:solidFill>
              <a:effectLst/>
              <a:uLnTx/>
              <a:uFillTx/>
              <a:latin typeface="Calibri" panose="020F0502020204030204"/>
              <a:ea typeface="+mn-ea"/>
              <a:cs typeface="+mn-cs"/>
            </a:endParaRPr>
          </a:p>
        </p:txBody>
      </p:sp>
      <p:cxnSp>
        <p:nvCxnSpPr>
          <p:cNvPr id="48" name="Elbow Connector 47">
            <a:extLst>
              <a:ext uri="{FF2B5EF4-FFF2-40B4-BE49-F238E27FC236}">
                <a16:creationId xmlns:a16="http://schemas.microsoft.com/office/drawing/2014/main" id="{6F93CFA4-FDD1-3123-89E5-304676CFDD7C}"/>
              </a:ext>
            </a:extLst>
          </p:cNvPr>
          <p:cNvCxnSpPr>
            <a:cxnSpLocks/>
            <a:stCxn id="41" idx="3"/>
            <a:endCxn id="47" idx="3"/>
          </p:cNvCxnSpPr>
          <p:nvPr/>
        </p:nvCxnSpPr>
        <p:spPr>
          <a:xfrm rot="10800000">
            <a:off x="6512706" y="2356354"/>
            <a:ext cx="1284097" cy="12700"/>
          </a:xfrm>
          <a:prstGeom prst="bentConnector3">
            <a:avLst>
              <a:gd name="adj1" fmla="val 50000"/>
            </a:avLst>
          </a:prstGeom>
          <a:noFill/>
          <a:ln w="66675" cap="flat" cmpd="sng" algn="ctr">
            <a:solidFill>
              <a:srgbClr val="FFB100"/>
            </a:solidFill>
            <a:prstDash val="solid"/>
            <a:miter lim="800000"/>
            <a:tailEnd type="triangle"/>
          </a:ln>
          <a:effectLst>
            <a:glow rad="12700">
              <a:srgbClr val="FFFFFF"/>
            </a:glow>
          </a:effectLst>
        </p:spPr>
      </p:cxnSp>
      <p:cxnSp>
        <p:nvCxnSpPr>
          <p:cNvPr id="51" name="Elbow Connector 50">
            <a:extLst>
              <a:ext uri="{FF2B5EF4-FFF2-40B4-BE49-F238E27FC236}">
                <a16:creationId xmlns:a16="http://schemas.microsoft.com/office/drawing/2014/main" id="{64837FD5-DC60-9055-3F56-A81C4435F9B1}"/>
              </a:ext>
            </a:extLst>
          </p:cNvPr>
          <p:cNvCxnSpPr>
            <a:cxnSpLocks/>
            <a:stCxn id="47" idx="1"/>
            <a:endCxn id="59" idx="4"/>
          </p:cNvCxnSpPr>
          <p:nvPr/>
        </p:nvCxnSpPr>
        <p:spPr>
          <a:xfrm rot="10800000" flipV="1">
            <a:off x="4733680" y="2356354"/>
            <a:ext cx="278391" cy="594856"/>
          </a:xfrm>
          <a:prstGeom prst="bentConnector2">
            <a:avLst/>
          </a:prstGeom>
          <a:noFill/>
          <a:ln w="66675" cap="flat" cmpd="sng" algn="ctr">
            <a:solidFill>
              <a:srgbClr val="FFB100"/>
            </a:solidFill>
            <a:prstDash val="solid"/>
            <a:miter lim="800000"/>
            <a:tailEnd type="triangle"/>
          </a:ln>
          <a:effectLst>
            <a:glow rad="12700">
              <a:srgbClr val="FFFFFF"/>
            </a:glow>
          </a:effectLst>
        </p:spPr>
      </p:cxnSp>
      <p:sp>
        <p:nvSpPr>
          <p:cNvPr id="62" name="Rounded Rectangle 61">
            <a:extLst>
              <a:ext uri="{FF2B5EF4-FFF2-40B4-BE49-F238E27FC236}">
                <a16:creationId xmlns:a16="http://schemas.microsoft.com/office/drawing/2014/main" id="{3F652557-DE68-5E1A-1648-70B00B60E436}"/>
              </a:ext>
            </a:extLst>
          </p:cNvPr>
          <p:cNvSpPr/>
          <p:nvPr/>
        </p:nvSpPr>
        <p:spPr>
          <a:xfrm rot="10800000" flipH="1" flipV="1">
            <a:off x="6901045" y="2168637"/>
            <a:ext cx="539990" cy="373436"/>
          </a:xfrm>
          <a:prstGeom prst="roundRect">
            <a:avLst/>
          </a:prstGeom>
          <a:solidFill>
            <a:srgbClr val="E4DFFD"/>
          </a:solidFill>
          <a:ln w="25400" cap="flat" cmpd="sng" algn="ctr">
            <a:solidFill>
              <a:srgbClr val="795CF1"/>
            </a:solidFill>
            <a:prstDash val="sysDot"/>
            <a:miter lim="800000"/>
          </a:ln>
          <a:effectLst>
            <a:glow rad="25400">
              <a:schemeClr val="bg1"/>
            </a:glow>
          </a:effectLst>
        </p:spPr>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795CF1"/>
                </a:solidFill>
                <a:latin typeface="Calibri" panose="020F0502020204030204"/>
              </a:rPr>
              <a:t>true</a:t>
            </a:r>
            <a:endParaRPr kumimoji="0" lang="en-US" sz="1200" b="1" i="0" u="none" strike="noStrike" kern="0" cap="none" spc="0" normalizeH="0" baseline="0" noProof="0" dirty="0">
              <a:ln>
                <a:noFill/>
              </a:ln>
              <a:solidFill>
                <a:srgbClr val="795CF1"/>
              </a:solidFill>
              <a:effectLst/>
              <a:uLnTx/>
              <a:uFillTx/>
              <a:latin typeface="Calibri" panose="020F0502020204030204"/>
              <a:ea typeface="+mn-ea"/>
              <a:cs typeface="+mn-cs"/>
            </a:endParaRPr>
          </a:p>
        </p:txBody>
      </p:sp>
      <p:cxnSp>
        <p:nvCxnSpPr>
          <p:cNvPr id="63" name="Elbow Connector 62">
            <a:extLst>
              <a:ext uri="{FF2B5EF4-FFF2-40B4-BE49-F238E27FC236}">
                <a16:creationId xmlns:a16="http://schemas.microsoft.com/office/drawing/2014/main" id="{31D27896-F842-61F5-E9EF-2CDBD65EE812}"/>
              </a:ext>
            </a:extLst>
          </p:cNvPr>
          <p:cNvCxnSpPr>
            <a:cxnSpLocks/>
            <a:stCxn id="41" idx="4"/>
            <a:endCxn id="59" idx="4"/>
          </p:cNvCxnSpPr>
          <p:nvPr/>
        </p:nvCxnSpPr>
        <p:spPr>
          <a:xfrm rot="16200000" flipH="1" flipV="1">
            <a:off x="5885274" y="874605"/>
            <a:ext cx="925010" cy="3228200"/>
          </a:xfrm>
          <a:prstGeom prst="bentConnector3">
            <a:avLst>
              <a:gd name="adj1" fmla="val -24713"/>
            </a:avLst>
          </a:prstGeom>
          <a:noFill/>
          <a:ln w="66675" cap="flat" cmpd="sng" algn="ctr">
            <a:solidFill>
              <a:srgbClr val="FFB100"/>
            </a:solidFill>
            <a:prstDash val="solid"/>
            <a:miter lim="800000"/>
            <a:tailEnd type="triangle"/>
          </a:ln>
          <a:effectLst>
            <a:glow rad="12700">
              <a:srgbClr val="FFFFFF"/>
            </a:glow>
          </a:effectLst>
        </p:spPr>
      </p:cxnSp>
      <p:sp>
        <p:nvSpPr>
          <p:cNvPr id="61" name="Rounded Rectangle 60">
            <a:extLst>
              <a:ext uri="{FF2B5EF4-FFF2-40B4-BE49-F238E27FC236}">
                <a16:creationId xmlns:a16="http://schemas.microsoft.com/office/drawing/2014/main" id="{9B0CFF82-9F52-08C8-FA15-E578852566EC}"/>
              </a:ext>
            </a:extLst>
          </p:cNvPr>
          <p:cNvSpPr/>
          <p:nvPr/>
        </p:nvSpPr>
        <p:spPr>
          <a:xfrm rot="10800000" flipH="1" flipV="1">
            <a:off x="6748217" y="1601075"/>
            <a:ext cx="539990" cy="373436"/>
          </a:xfrm>
          <a:prstGeom prst="roundRect">
            <a:avLst/>
          </a:prstGeom>
          <a:solidFill>
            <a:srgbClr val="E4DFFD"/>
          </a:solidFill>
          <a:ln w="25400" cap="flat" cmpd="sng" algn="ctr">
            <a:solidFill>
              <a:srgbClr val="795CF1"/>
            </a:solidFill>
            <a:prstDash val="sysDot"/>
            <a:miter lim="800000"/>
          </a:ln>
          <a:effectLst>
            <a:glow rad="25400">
              <a:schemeClr val="bg1"/>
            </a:glow>
          </a:effectLst>
        </p:spPr>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dirty="0">
                <a:solidFill>
                  <a:srgbClr val="795CF1"/>
                </a:solidFill>
                <a:latin typeface="Calibri" panose="020F0502020204030204"/>
              </a:rPr>
              <a:t>false</a:t>
            </a:r>
            <a:endParaRPr kumimoji="0" lang="en-US" sz="1200" b="1" i="0" u="none" strike="noStrike" kern="0" cap="none" spc="0" normalizeH="0" baseline="0" noProof="0" dirty="0">
              <a:ln>
                <a:noFill/>
              </a:ln>
              <a:solidFill>
                <a:srgbClr val="795CF1"/>
              </a:solidFill>
              <a:effectLst/>
              <a:uLnTx/>
              <a:uFillTx/>
              <a:latin typeface="Calibri" panose="020F0502020204030204"/>
              <a:ea typeface="+mn-ea"/>
              <a:cs typeface="+mn-cs"/>
            </a:endParaRPr>
          </a:p>
        </p:txBody>
      </p:sp>
      <p:cxnSp>
        <p:nvCxnSpPr>
          <p:cNvPr id="66" name="Elbow Connector 65">
            <a:extLst>
              <a:ext uri="{FF2B5EF4-FFF2-40B4-BE49-F238E27FC236}">
                <a16:creationId xmlns:a16="http://schemas.microsoft.com/office/drawing/2014/main" id="{078AB734-DD01-39F2-F616-1E252A5217CE}"/>
              </a:ext>
            </a:extLst>
          </p:cNvPr>
          <p:cNvCxnSpPr>
            <a:cxnSpLocks/>
            <a:stCxn id="59" idx="1"/>
            <a:endCxn id="70" idx="0"/>
          </p:cNvCxnSpPr>
          <p:nvPr/>
        </p:nvCxnSpPr>
        <p:spPr>
          <a:xfrm rot="16200000" flipH="1">
            <a:off x="6107126" y="4034548"/>
            <a:ext cx="848167" cy="2104"/>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70" name="Rectangle 69">
            <a:extLst>
              <a:ext uri="{FF2B5EF4-FFF2-40B4-BE49-F238E27FC236}">
                <a16:creationId xmlns:a16="http://schemas.microsoft.com/office/drawing/2014/main" id="{26974A8B-C18D-7AF3-CF15-10379D0076DD}"/>
              </a:ext>
            </a:extLst>
          </p:cNvPr>
          <p:cNvSpPr/>
          <p:nvPr/>
        </p:nvSpPr>
        <p:spPr>
          <a:xfrm>
            <a:off x="5317824" y="4459684"/>
            <a:ext cx="2428874" cy="748202"/>
          </a:xfrm>
          <a:prstGeom prst="rect">
            <a:avLst/>
          </a:prstGeom>
          <a:solidFill>
            <a:srgbClr val="FFE0D3"/>
          </a:solidFill>
          <a:ln w="38100" cap="flat" cmpd="sng" algn="ctr">
            <a:solidFill>
              <a:srgbClr val="FF6100"/>
            </a:solidFill>
            <a:prstDash val="solid"/>
            <a:miter lim="800000"/>
          </a:ln>
          <a:effectLst/>
        </p:spPr>
        <p:txBody>
          <a:bodyPr rtlCol="0" anchor="ctr">
            <a:normAutofit fontScale="92500"/>
          </a:bodyPr>
          <a:lstStyle/>
          <a:p>
            <a:pPr marL="114300" marR="0" lvl="0" indent="-114300" algn="ctr" defTabSz="914400" eaLnBrk="1" fontAlgn="auto" latinLnBrk="0" hangingPunct="1">
              <a:lnSpc>
                <a:spcPct val="100000"/>
              </a:lnSpc>
              <a:spcBef>
                <a:spcPts val="0"/>
              </a:spcBef>
              <a:spcAft>
                <a:spcPts val="0"/>
              </a:spcAft>
              <a:buClrTx/>
              <a:buSzTx/>
              <a:buFontTx/>
              <a:buNone/>
              <a:defRPr/>
            </a:pPr>
            <a:r>
              <a:rPr lang="en-US" sz="1600" b="1" kern="0" dirty="0">
                <a:solidFill>
                  <a:schemeClr val="accent2">
                    <a:lumMod val="75000"/>
                  </a:schemeClr>
                </a:solidFill>
                <a:latin typeface="Calibri" panose="020F0502020204030204"/>
              </a:rPr>
              <a:t>Set rotation direction based column with highest avg</a:t>
            </a:r>
            <a:endParaRPr kumimoji="0" lang="en-US" sz="1600" b="1" i="0" u="none" strike="noStrike" kern="0" cap="none" spc="0" normalizeH="0" baseline="0" noProof="0" dirty="0">
              <a:ln>
                <a:noFill/>
              </a:ln>
              <a:solidFill>
                <a:schemeClr val="accent2">
                  <a:lumMod val="75000"/>
                </a:schemeClr>
              </a:solidFill>
              <a:effectLst/>
              <a:uLnTx/>
              <a:uFillTx/>
              <a:latin typeface="Calibri" panose="020F0502020204030204"/>
              <a:ea typeface="+mn-ea"/>
              <a:cs typeface="+mn-cs"/>
            </a:endParaRPr>
          </a:p>
        </p:txBody>
      </p:sp>
      <p:sp>
        <p:nvSpPr>
          <p:cNvPr id="107" name="Parallelogram 106">
            <a:extLst>
              <a:ext uri="{FF2B5EF4-FFF2-40B4-BE49-F238E27FC236}">
                <a16:creationId xmlns:a16="http://schemas.microsoft.com/office/drawing/2014/main" id="{E8AAF228-010F-45AB-84C4-704AA10446D3}"/>
              </a:ext>
            </a:extLst>
          </p:cNvPr>
          <p:cNvSpPr/>
          <p:nvPr/>
        </p:nvSpPr>
        <p:spPr>
          <a:xfrm>
            <a:off x="10189250" y="4581932"/>
            <a:ext cx="1767501" cy="511531"/>
          </a:xfrm>
          <a:prstGeom prst="parallelogram">
            <a:avLst>
              <a:gd name="adj" fmla="val 46495"/>
            </a:avLst>
          </a:prstGeom>
          <a:solidFill>
            <a:srgbClr val="E7E6E6">
              <a:lumMod val="90000"/>
            </a:srgbClr>
          </a:solidFill>
          <a:ln w="38100" cap="flat" cmpd="sng" algn="ctr">
            <a:solidFill>
              <a:srgbClr val="000000">
                <a:lumMod val="65000"/>
                <a:lumOff val="35000"/>
              </a:srgbClr>
            </a:solidFill>
            <a:prstDash val="solid"/>
            <a:miter lim="800000"/>
          </a:ln>
          <a:effectLst>
            <a:glow rad="25400">
              <a:srgbClr val="FFFFFF"/>
            </a:glow>
          </a:effectLst>
        </p:spPr>
        <p:txBody>
          <a:bodyPr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a:solidFill>
                  <a:schemeClr val="tx1">
                    <a:lumMod val="65000"/>
                    <a:lumOff val="35000"/>
                  </a:schemeClr>
                </a:solidFill>
                <a:latin typeface="Calibri" panose="020F0502020204030204"/>
              </a:rPr>
              <a:t>New servo position</a:t>
            </a:r>
            <a:endParaRPr kumimoji="0" lang="en-US" sz="1200" i="0" strike="noStrike" kern="0" cap="none" spc="0" normalizeH="0" baseline="0" noProof="0" dirty="0">
              <a:ln>
                <a:noFill/>
              </a:ln>
              <a:solidFill>
                <a:schemeClr val="tx1">
                  <a:lumMod val="65000"/>
                  <a:lumOff val="35000"/>
                </a:schemeClr>
              </a:solidFill>
              <a:effectLst/>
              <a:uLnTx/>
              <a:uFillTx/>
              <a:latin typeface="Calibri" panose="020F0502020204030204"/>
              <a:ea typeface="+mn-ea"/>
              <a:cs typeface="+mn-cs"/>
            </a:endParaRPr>
          </a:p>
        </p:txBody>
      </p:sp>
      <p:cxnSp>
        <p:nvCxnSpPr>
          <p:cNvPr id="121" name="Elbow Connector 120">
            <a:extLst>
              <a:ext uri="{FF2B5EF4-FFF2-40B4-BE49-F238E27FC236}">
                <a16:creationId xmlns:a16="http://schemas.microsoft.com/office/drawing/2014/main" id="{05ABA4DB-4344-A63D-1596-EBFAF717890C}"/>
              </a:ext>
            </a:extLst>
          </p:cNvPr>
          <p:cNvCxnSpPr>
            <a:cxnSpLocks/>
            <a:stCxn id="70" idx="1"/>
            <a:endCxn id="87" idx="3"/>
          </p:cNvCxnSpPr>
          <p:nvPr/>
        </p:nvCxnSpPr>
        <p:spPr>
          <a:xfrm rot="10800000">
            <a:off x="4386922" y="4832735"/>
            <a:ext cx="930902" cy="1050"/>
          </a:xfrm>
          <a:prstGeom prst="bentConnector3">
            <a:avLst>
              <a:gd name="adj1" fmla="val 50000"/>
            </a:avLst>
          </a:prstGeom>
          <a:noFill/>
          <a:ln w="66675" cap="flat" cmpd="sng" algn="ctr">
            <a:solidFill>
              <a:srgbClr val="795CF1"/>
            </a:solidFill>
            <a:prstDash val="solid"/>
            <a:miter lim="800000"/>
            <a:tailEnd type="triangle"/>
          </a:ln>
          <a:effectLst>
            <a:glow rad="12700">
              <a:srgbClr val="FFFFFF"/>
            </a:glow>
          </a:effectLst>
        </p:spPr>
      </p:cxnSp>
      <p:sp>
        <p:nvSpPr>
          <p:cNvPr id="130" name="Pentagon 129">
            <a:extLst>
              <a:ext uri="{FF2B5EF4-FFF2-40B4-BE49-F238E27FC236}">
                <a16:creationId xmlns:a16="http://schemas.microsoft.com/office/drawing/2014/main" id="{A9804B1F-0846-1416-8FDB-FE575E2CA334}"/>
              </a:ext>
            </a:extLst>
          </p:cNvPr>
          <p:cNvSpPr/>
          <p:nvPr/>
        </p:nvSpPr>
        <p:spPr>
          <a:xfrm rot="5400000">
            <a:off x="8756452" y="4214563"/>
            <a:ext cx="520604" cy="1466042"/>
          </a:xfrm>
          <a:prstGeom prst="homePlate">
            <a:avLst>
              <a:gd name="adj" fmla="val 43656"/>
            </a:avLst>
          </a:prstGeom>
          <a:solidFill>
            <a:srgbClr val="FAD7E6"/>
          </a:solidFill>
          <a:ln w="38100" cap="flat" cmpd="sng" algn="ctr">
            <a:solidFill>
              <a:srgbClr val="DC267E"/>
            </a:solidFill>
            <a:prstDash val="solid"/>
            <a:miter lim="800000"/>
          </a:ln>
          <a:effectLst>
            <a:glow rad="25400">
              <a:schemeClr val="bg1"/>
            </a:glow>
          </a:effectLst>
        </p:spPr>
        <p:txBody>
          <a:bodyPr vert="vert270" lIns="0" tIns="0" rIns="0" bIns="0"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kern="0" dirty="0" err="1">
                <a:solidFill>
                  <a:srgbClr val="DC267E"/>
                </a:solidFill>
                <a:latin typeface="Calibri" panose="020F0502020204030204"/>
              </a:rPr>
              <a:t>fxn</a:t>
            </a:r>
            <a:r>
              <a:rPr lang="en-US" sz="1400" b="1" kern="0" dirty="0">
                <a:solidFill>
                  <a:srgbClr val="DC267E"/>
                </a:solidFill>
                <a:latin typeface="Calibri" panose="020F0502020204030204"/>
              </a:rPr>
              <a:t>: </a:t>
            </a:r>
            <a:r>
              <a:rPr lang="en-US" sz="1400" b="1" kern="0" dirty="0" err="1">
                <a:solidFill>
                  <a:srgbClr val="DC267E"/>
                </a:solidFill>
                <a:latin typeface="Calibri" panose="020F0502020204030204"/>
              </a:rPr>
              <a:t>setServo</a:t>
            </a:r>
            <a:r>
              <a:rPr lang="en-US" sz="1400" b="1" kern="0" dirty="0">
                <a:solidFill>
                  <a:srgbClr val="DC267E"/>
                </a:solidFill>
                <a:latin typeface="Calibri" panose="020F0502020204030204"/>
              </a:rPr>
              <a:t>()</a:t>
            </a:r>
            <a:endParaRPr kumimoji="0" lang="en-US" sz="1400" b="1" i="0" u="none" strike="noStrike" kern="0" cap="none" spc="0" normalizeH="0" baseline="0" noProof="0" dirty="0">
              <a:ln>
                <a:noFill/>
              </a:ln>
              <a:solidFill>
                <a:srgbClr val="DC267E"/>
              </a:solidFill>
              <a:effectLst/>
              <a:uLnTx/>
              <a:uFillTx/>
              <a:latin typeface="Calibri" panose="020F0502020204030204"/>
              <a:ea typeface="+mn-ea"/>
              <a:cs typeface="+mn-cs"/>
            </a:endParaRPr>
          </a:p>
        </p:txBody>
      </p:sp>
      <p:cxnSp>
        <p:nvCxnSpPr>
          <p:cNvPr id="136" name="Elbow Connector 135">
            <a:extLst>
              <a:ext uri="{FF2B5EF4-FFF2-40B4-BE49-F238E27FC236}">
                <a16:creationId xmlns:a16="http://schemas.microsoft.com/office/drawing/2014/main" id="{A0512373-D5E8-0A94-31CB-DA673A4BD6E5}"/>
              </a:ext>
            </a:extLst>
          </p:cNvPr>
          <p:cNvCxnSpPr>
            <a:cxnSpLocks/>
            <a:stCxn id="130" idx="0"/>
            <a:endCxn id="107" idx="5"/>
          </p:cNvCxnSpPr>
          <p:nvPr/>
        </p:nvCxnSpPr>
        <p:spPr>
          <a:xfrm>
            <a:off x="9749775" y="4833947"/>
            <a:ext cx="558393" cy="3751"/>
          </a:xfrm>
          <a:prstGeom prst="bentConnector3">
            <a:avLst>
              <a:gd name="adj1" fmla="val 50000"/>
            </a:avLst>
          </a:prstGeom>
          <a:noFill/>
          <a:ln w="66675" cap="flat" cmpd="sng" algn="ctr">
            <a:solidFill>
              <a:srgbClr val="DC267E"/>
            </a:solidFill>
            <a:prstDash val="solid"/>
            <a:miter lim="800000"/>
            <a:tailEnd type="triangle"/>
          </a:ln>
          <a:effectLst>
            <a:glow rad="12700">
              <a:srgbClr val="FFFFFF"/>
            </a:glow>
          </a:effectLst>
        </p:spPr>
      </p:cxnSp>
    </p:spTree>
    <p:extLst>
      <p:ext uri="{BB962C8B-B14F-4D97-AF65-F5344CB8AC3E}">
        <p14:creationId xmlns:p14="http://schemas.microsoft.com/office/powerpoint/2010/main" val="2273519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D13305133B5F4BB25855B878F58709" ma:contentTypeVersion="11" ma:contentTypeDescription="Create a new document." ma:contentTypeScope="" ma:versionID="8b47e7a12bce5d468ccb9c675bf5ffc3">
  <xsd:schema xmlns:xsd="http://www.w3.org/2001/XMLSchema" xmlns:xs="http://www.w3.org/2001/XMLSchema" xmlns:p="http://schemas.microsoft.com/office/2006/metadata/properties" xmlns:ns2="fe88535b-02ea-43df-8ca0-7b88ecb9d964" targetNamespace="http://schemas.microsoft.com/office/2006/metadata/properties" ma:root="true" ma:fieldsID="abee3744c08ca8f2ab659ba83b99e9ca" ns2:_="">
    <xsd:import namespace="fe88535b-02ea-43df-8ca0-7b88ecb9d96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88535b-02ea-43df-8ca0-7b88ecb9d9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2011f1f-c1f6-43e5-98b2-4e6fd79a0b5c"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dexed="true"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e88535b-02ea-43df-8ca0-7b88ecb9d96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6F1B27A-8F57-4CD7-808D-FAA43E079FCF}"/>
</file>

<file path=customXml/itemProps2.xml><?xml version="1.0" encoding="utf-8"?>
<ds:datastoreItem xmlns:ds="http://schemas.openxmlformats.org/officeDocument/2006/customXml" ds:itemID="{768C4D4E-23E6-4F6D-994C-DE52F6782B61}"/>
</file>

<file path=customXml/itemProps3.xml><?xml version="1.0" encoding="utf-8"?>
<ds:datastoreItem xmlns:ds="http://schemas.openxmlformats.org/officeDocument/2006/customXml" ds:itemID="{E44A7B37-6914-4FAD-9B04-FE58AC6F42C0}"/>
</file>

<file path=docProps/app.xml><?xml version="1.0" encoding="utf-8"?>
<Properties xmlns="http://schemas.openxmlformats.org/officeDocument/2006/extended-properties" xmlns:vt="http://schemas.openxmlformats.org/officeDocument/2006/docPropsVTypes">
  <Template/>
  <TotalTime>48608</TotalTime>
  <Words>1090</Words>
  <Application>Microsoft Macintosh PowerPoint</Application>
  <PresentationFormat>Widescreen</PresentationFormat>
  <Paragraphs>213</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vt:lpstr>
      <vt:lpstr>Office Theme</vt:lpstr>
      <vt:lpstr>Flowchart Template </vt:lpstr>
      <vt:lpstr>Copy and Past these symbols for your Flowcharts</vt:lpstr>
      <vt:lpstr>PowerPoint Presentation</vt:lpstr>
      <vt:lpstr>PowerPoint Presentation</vt:lpstr>
      <vt:lpstr>Examples for reference are included on the remaining slides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Inputs, Outputs, Tradeoffs, &amp; Documentation</dc:title>
  <dc:creator>Chase Robinson</dc:creator>
  <cp:lastModifiedBy>Chase Robinson</cp:lastModifiedBy>
  <cp:revision>27</cp:revision>
  <cp:lastPrinted>2025-02-26T22:03:45Z</cp:lastPrinted>
  <dcterms:created xsi:type="dcterms:W3CDTF">2023-12-21T12:31:29Z</dcterms:created>
  <dcterms:modified xsi:type="dcterms:W3CDTF">2026-02-23T22:38:40Z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0x01010076D13305133B5F4BB25855B878F58709</vt:lpwstr>
  </property>
</Properties>
</file>